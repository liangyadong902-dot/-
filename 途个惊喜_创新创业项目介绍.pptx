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E7DC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601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途个惊喜  /  随盒出发，途个好心情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869680" y="66019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20" kern="0" dirty="0">
                <a:solidFill>
                  <a:srgbClr val="8F83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 &amp; ENTREPRENEURSHIP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 w="12700">
            <a:solidFill>
              <a:srgbClr val="F6F1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7114032" y="-530352"/>
            <a:ext cx="5394960" cy="5394960"/>
          </a:xfrm>
          <a:prstGeom prst="arc">
            <a:avLst/>
          </a:prstGeom>
          <a:solidFill>
            <a:srgbClr val="F6F1E6">
              <a:alpha val="0"/>
            </a:srgbClr>
          </a:solidFill>
          <a:ln w="30480">
            <a:solidFill>
              <a:srgbClr val="8EA47C">
                <a:alpha val="85000"/>
              </a:srgbClr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7880" y="2240280"/>
            <a:ext cx="5852160" cy="2468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91272" y="987552"/>
            <a:ext cx="2359152" cy="3035808"/>
          </a:xfrm>
          <a:prstGeom prst="roundRect">
            <a:avLst>
              <a:gd name="adj" fmla="val 9302"/>
            </a:avLst>
          </a:prstGeom>
          <a:solidFill>
            <a:srgbClr val="FFFDF8"/>
          </a:solidFill>
          <a:ln w="10160">
            <a:solidFill>
              <a:srgbClr val="FFFDF8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01584" y="1225296"/>
            <a:ext cx="1938528" cy="2304288"/>
          </a:xfrm>
          <a:prstGeom prst="roundRect">
            <a:avLst>
              <a:gd name="adj" fmla="val 8491"/>
            </a:avLst>
          </a:prstGeom>
          <a:solidFill>
            <a:srgbClr val="E4EDD8"/>
          </a:solidFill>
          <a:ln w="1016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75320" y="162763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惊喜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2148840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盒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8266176" y="2999232"/>
            <a:ext cx="1609344" cy="274320"/>
          </a:xfrm>
          <a:prstGeom prst="roundRect">
            <a:avLst>
              <a:gd name="adj" fmla="val 50000"/>
            </a:avLst>
          </a:prstGeom>
          <a:solidFill>
            <a:srgbClr val="3C342C"/>
          </a:solidFill>
          <a:ln w="12700">
            <a:solidFill>
              <a:srgbClr val="3C34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66176" y="300380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OPEN A NEW ROUTE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26680" y="3529584"/>
            <a:ext cx="310896" cy="310896"/>
          </a:xfrm>
          <a:prstGeom prst="ellipse">
            <a:avLst/>
          </a:prstGeom>
          <a:solidFill>
            <a:srgbClr val="E8B4A2"/>
          </a:solidFill>
          <a:ln w="12700">
            <a:solidFill>
              <a:srgbClr val="E8B4A2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113264" y="1517904"/>
            <a:ext cx="237744" cy="237744"/>
          </a:xfrm>
          <a:prstGeom prst="ellipse">
            <a:avLst/>
          </a:prstGeom>
          <a:solidFill>
            <a:srgbClr val="D9B560"/>
          </a:solidFill>
          <a:ln w="12700">
            <a:solidFill>
              <a:srgbClr val="D9B560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93268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途个惊喜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18105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随盒出发，途个好心情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23591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面向 Z 世代的惊喜旅游盲盒攻略平台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49808" y="2999232"/>
            <a:ext cx="914400" cy="0"/>
          </a:xfrm>
          <a:prstGeom prst="line">
            <a:avLst/>
          </a:prstGeom>
          <a:noFill/>
          <a:ln w="38100">
            <a:solidFill>
              <a:srgbClr val="8EA47C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749808" y="3273552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把“想出发”变成一次轻松、有趣、可被记住的旅程。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" y="619963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INNOVATION &amp; ENTREPRENEURSHIP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01  项目契机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年轻人不是不想旅行，只是不想先做一份项目管理。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52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当出行从“观光打卡”转向“轻量、情绪、兴趣体验”，传统攻略的入口正在失效。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83664"/>
            <a:ext cx="2450592" cy="2057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83664"/>
            <a:ext cx="73152" cy="2057400"/>
          </a:xfrm>
          <a:prstGeom prst="rect">
            <a:avLst/>
          </a:prstGeom>
          <a:solidFill>
            <a:srgbClr val="8EA47C"/>
          </a:solidFill>
          <a:ln w="12700">
            <a:solidFill>
              <a:srgbClr val="8EA47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39696"/>
            <a:ext cx="402336" cy="402336"/>
          </a:xfrm>
          <a:prstGeom prst="ellipse">
            <a:avLst/>
          </a:prstGeom>
          <a:solidFill>
            <a:srgbClr val="8EA47C"/>
          </a:solidFill>
          <a:ln w="12700">
            <a:solidFill>
              <a:srgbClr val="8EA47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854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轻量出行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12724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周末微度假、城市周边游成为更高频的出行选择。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47288" y="1883664"/>
            <a:ext cx="2450592" cy="2057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1883664"/>
            <a:ext cx="73152" cy="2057400"/>
          </a:xfrm>
          <a:prstGeom prst="rect">
            <a:avLst/>
          </a:prstGeom>
          <a:solidFill>
            <a:srgbClr val="E8B4A2"/>
          </a:solidFill>
          <a:ln w="12700">
            <a:solidFill>
              <a:srgbClr val="E8B4A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2139696"/>
            <a:ext cx="402336" cy="402336"/>
          </a:xfrm>
          <a:prstGeom prst="ellipse">
            <a:avLst/>
          </a:prstGeom>
          <a:solidFill>
            <a:srgbClr val="E8B4A2"/>
          </a:solidFill>
          <a:ln w="12700">
            <a:solidFill>
              <a:srgbClr val="E8B4A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03320" y="21854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情绪价值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12724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年轻用户希望被治愈、被点亮，而不是被信息淹没。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6208" y="1883664"/>
            <a:ext cx="2450592" cy="2057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883664"/>
            <a:ext cx="73152" cy="2057400"/>
          </a:xfrm>
          <a:prstGeom prst="rect">
            <a:avLst/>
          </a:prstGeom>
          <a:solidFill>
            <a:srgbClr val="D9B560"/>
          </a:solidFill>
          <a:ln w="12700">
            <a:solidFill>
              <a:srgbClr val="D9B56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139696"/>
            <a:ext cx="402336" cy="402336"/>
          </a:xfrm>
          <a:prstGeom prst="ellipse">
            <a:avLst/>
          </a:prstGeom>
          <a:solidFill>
            <a:srgbClr val="D9B560"/>
          </a:solidFill>
          <a:ln w="12700">
            <a:solidFill>
              <a:srgbClr val="D9B56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21854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兴趣匹配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12724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徒步、美食、拍照、放空等圈层需求越来越清晰。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25128" y="1883664"/>
            <a:ext cx="2450592" cy="2057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25128" y="1883664"/>
            <a:ext cx="73152" cy="2057400"/>
          </a:xfrm>
          <a:prstGeom prst="rect">
            <a:avLst/>
          </a:prstGeom>
          <a:solidFill>
            <a:srgbClr val="506A79"/>
          </a:solidFill>
          <a:ln w="12700">
            <a:solidFill>
              <a:srgbClr val="506A79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81160" y="2139696"/>
            <a:ext cx="402336" cy="402336"/>
          </a:xfrm>
          <a:prstGeom prst="ellipse">
            <a:avLst/>
          </a:prstGeom>
          <a:solidFill>
            <a:srgbClr val="506A79"/>
          </a:solidFill>
          <a:ln w="12700">
            <a:solidFill>
              <a:srgbClr val="506A79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1160" y="21854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安全社交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312724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想结伴，但不想交换隐私、不想进入低质量随机撮合。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" y="4407408"/>
            <a:ext cx="10881360" cy="1005840"/>
          </a:xfrm>
          <a:prstGeom prst="roundRect">
            <a:avLst>
              <a:gd name="adj" fmla="val 16364"/>
            </a:avLst>
          </a:prstGeom>
          <a:solidFill>
            <a:srgbClr val="E4EDD8"/>
          </a:solidFill>
          <a:ln w="1016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688" y="46451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行业判断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938528" y="45902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传统文旅是“大市场、高饱和”；青年轻文旅是“需求增长、产品稀缺”。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612648" y="619963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依据：项目组提供的市场调研与项目契机材料；正式申报时可补充官方统计口径。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02  市场空间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四股力量，把轻量化文旅推到新的入口。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52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市场容量来自高频年轻用户，政策环境来自文旅数字化与青年创新创业。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2450592" cy="2651760"/>
          </a:xfrm>
          <a:prstGeom prst="roundRect">
            <a:avLst>
              <a:gd name="adj" fmla="val 6716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20240"/>
            <a:ext cx="2450592" cy="109728"/>
          </a:xfrm>
          <a:prstGeom prst="rect">
            <a:avLst/>
          </a:prstGeom>
          <a:solidFill>
            <a:srgbClr val="8EA47C"/>
          </a:solidFill>
          <a:ln w="12700">
            <a:solidFill>
              <a:srgbClr val="8EA47C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249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用户基数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2491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18–32 岁年轻群体是短途文旅的重要消费人群。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8679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EA47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亿级年轻用户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19856" y="1920240"/>
            <a:ext cx="2450592" cy="2651760"/>
          </a:xfrm>
          <a:prstGeom prst="roundRect">
            <a:avLst>
              <a:gd name="adj" fmla="val 6716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9856" y="1920240"/>
            <a:ext cx="2450592" cy="109728"/>
          </a:xfrm>
          <a:prstGeom prst="rect">
            <a:avLst/>
          </a:prstGeom>
          <a:solidFill>
            <a:srgbClr val="E8B4A2"/>
          </a:solidFill>
          <a:ln w="12700">
            <a:solidFill>
              <a:srgbClr val="E8B4A2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75888" y="2249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需求增量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72491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“想出游、怕做攻略、怕踩雷、怕纠结”正在成为共性。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38679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B4A2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省心 + 惊喜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81344" y="1920240"/>
            <a:ext cx="2450592" cy="2651760"/>
          </a:xfrm>
          <a:prstGeom prst="roundRect">
            <a:avLst>
              <a:gd name="adj" fmla="val 6716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1344" y="1920240"/>
            <a:ext cx="2450592" cy="109728"/>
          </a:xfrm>
          <a:prstGeom prst="rect">
            <a:avLst/>
          </a:prstGeom>
          <a:solidFill>
            <a:srgbClr val="D9B560"/>
          </a:solidFill>
          <a:ln w="12700">
            <a:solidFill>
              <a:srgbClr val="D9B56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7376" y="2249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复制空间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272491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纯线上内容产品，不受地域、季节和线下场地强约束。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38679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9B560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轻资产可扩张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942832" y="1920240"/>
            <a:ext cx="2450592" cy="2651760"/>
          </a:xfrm>
          <a:prstGeom prst="roundRect">
            <a:avLst>
              <a:gd name="adj" fmla="val 6716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42832" y="1920240"/>
            <a:ext cx="2450592" cy="109728"/>
          </a:xfrm>
          <a:prstGeom prst="rect">
            <a:avLst/>
          </a:prstGeom>
          <a:solidFill>
            <a:srgbClr val="506A79"/>
          </a:solidFill>
          <a:ln w="12700">
            <a:solidFill>
              <a:srgbClr val="506A7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98864" y="2249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政策方向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198864" y="272491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智慧文旅、数字文创、青年双创、网络合规共同形成支持面。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98864" y="38679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06A79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文旅 × 数字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68680" y="5148072"/>
            <a:ext cx="10287000" cy="0"/>
          </a:xfrm>
          <a:prstGeom prst="line">
            <a:avLst/>
          </a:prstGeom>
          <a:noFill/>
          <a:ln w="12700">
            <a:solidFill>
              <a:srgbClr val="E7DCCE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 txBox="1"/>
          <p:nvPr/>
        </p:nvSpPr>
        <p:spPr>
          <a:xfrm>
            <a:off x="868680" y="5340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切入口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865376" y="528523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用一款低决策成本的内容产品，先占住“周末去哪儿”的情绪入口。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" y="619963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市场容量与政策支持依据用户提供材料整理，未额外虚构市场规模数字。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03  目标用户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四类人，背后是同一个愿望：少一点纠结，多一点出发。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52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他们并不缺旅行信息，缺的是能替自己完成第一步的产品。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2450592" cy="2944368"/>
          </a:xfrm>
          <a:prstGeom prst="roundRect">
            <a:avLst>
              <a:gd name="adj" fmla="val 6716"/>
            </a:avLst>
          </a:prstGeom>
          <a:solidFill>
            <a:srgbClr val="E4EDD8"/>
          </a:solidFill>
          <a:ln w="1016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67712"/>
            <a:ext cx="658368" cy="658368"/>
          </a:xfrm>
          <a:prstGeom prst="ellipse">
            <a:avLst/>
          </a:prstGeom>
          <a:solidFill>
            <a:srgbClr val="8EA47C"/>
          </a:solidFill>
          <a:ln w="12700">
            <a:solidFill>
              <a:srgbClr val="8EA47C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140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懒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出行懒人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75888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想旅行，但不想花两小时做攻略。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608576"/>
            <a:ext cx="694944" cy="27432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61314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省心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19856" y="1993392"/>
            <a:ext cx="2450592" cy="2944368"/>
          </a:xfrm>
          <a:prstGeom prst="roundRect">
            <a:avLst>
              <a:gd name="adj" fmla="val 6716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5888" y="2267712"/>
            <a:ext cx="658368" cy="658368"/>
          </a:xfrm>
          <a:prstGeom prst="ellipse">
            <a:avLst/>
          </a:prstGeom>
          <a:solidFill>
            <a:srgbClr val="E8B4A2"/>
          </a:solidFill>
          <a:ln w="12700">
            <a:solidFill>
              <a:srgbClr val="E8B4A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24140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奇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潮流猎奇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3675888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拒绝千篇一律，期待未知与仪式感。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75888" y="4608576"/>
            <a:ext cx="694944" cy="27432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75888" y="461314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新鲜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1344" y="1993392"/>
            <a:ext cx="2450592" cy="2944368"/>
          </a:xfrm>
          <a:prstGeom prst="roundRect">
            <a:avLst>
              <a:gd name="adj" fmla="val 6716"/>
            </a:avLst>
          </a:prstGeom>
          <a:solidFill>
            <a:srgbClr val="E4EDD8"/>
          </a:solidFill>
          <a:ln w="1016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37376" y="2267712"/>
            <a:ext cx="658368" cy="658368"/>
          </a:xfrm>
          <a:prstGeom prst="ellipse">
            <a:avLst/>
          </a:prstGeom>
          <a:solidFill>
            <a:srgbClr val="D9B560"/>
          </a:solidFill>
          <a:ln w="12700">
            <a:solidFill>
              <a:srgbClr val="D9B56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37376" y="24140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趣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37376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垂直兴趣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37376" y="3675888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徒步、美食、治愈、拍照，各有自己的路线。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37376" y="4608576"/>
            <a:ext cx="694944" cy="27432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37376" y="461314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匹配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42832" y="1993392"/>
            <a:ext cx="2450592" cy="2944368"/>
          </a:xfrm>
          <a:prstGeom prst="roundRect">
            <a:avLst>
              <a:gd name="adj" fmla="val 6716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98864" y="2267712"/>
            <a:ext cx="658368" cy="658368"/>
          </a:xfrm>
          <a:prstGeom prst="ellipse">
            <a:avLst/>
          </a:prstGeom>
          <a:solidFill>
            <a:srgbClr val="506A79"/>
          </a:solidFill>
          <a:ln w="12700">
            <a:solidFill>
              <a:srgbClr val="506A7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98864" y="24140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伴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198864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温和轻社交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198864" y="3675888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想认识同频的人，但拒绝隐私交换与随机撮合。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98864" y="4608576"/>
            <a:ext cx="694944" cy="27432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98864" y="461314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安全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5394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共同特征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691640" y="5340096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年轻、移动端、高频周末决策、重视情绪价值、愿意为“省心”付费。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04  用户痛点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出发前的疲惫，正在吞掉旅行本该有的期待。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52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项目调研把问题拆成五个具体摩擦点，并追溯到供给侧的四个成因。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2450592" cy="1115568"/>
          </a:xfrm>
          <a:prstGeom prst="roundRect">
            <a:avLst>
              <a:gd name="adj" fmla="val 14754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20240"/>
            <a:ext cx="73152" cy="1115568"/>
          </a:xfrm>
          <a:prstGeom prst="rect">
            <a:avLst/>
          </a:prstGeom>
          <a:solidFill>
            <a:srgbClr val="C97A59"/>
          </a:solidFill>
          <a:ln w="12700">
            <a:solidFill>
              <a:srgbClr val="C97A5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03120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规划成本高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3230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查资料、比路线、做预算，出发前先累一遍。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9856" y="1920240"/>
            <a:ext cx="2450592" cy="1115568"/>
          </a:xfrm>
          <a:prstGeom prst="roundRect">
            <a:avLst>
              <a:gd name="adj" fmla="val 14754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9856" y="1920240"/>
            <a:ext cx="73152" cy="1115568"/>
          </a:xfrm>
          <a:prstGeom prst="rect">
            <a:avLst/>
          </a:prstGeom>
          <a:solidFill>
            <a:srgbClr val="8EA47C"/>
          </a:solidFill>
          <a:ln w="12700">
            <a:solidFill>
              <a:srgbClr val="8EA47C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2103120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体验过于固化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43230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模板化攻略让每次旅行都像复制粘贴。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1344" y="1920240"/>
            <a:ext cx="2450592" cy="1115568"/>
          </a:xfrm>
          <a:prstGeom prst="roundRect">
            <a:avLst>
              <a:gd name="adj" fmla="val 14754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920240"/>
            <a:ext cx="73152" cy="1115568"/>
          </a:xfrm>
          <a:prstGeom prst="rect">
            <a:avLst/>
          </a:prstGeom>
          <a:solidFill>
            <a:srgbClr val="D9B560"/>
          </a:solidFill>
          <a:ln w="12700">
            <a:solidFill>
              <a:srgbClr val="D9B560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37376" y="2103120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匹配度不足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43230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通用内容无法回应真实兴趣与当下心情。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337560"/>
            <a:ext cx="2450592" cy="1115568"/>
          </a:xfrm>
          <a:prstGeom prst="roundRect">
            <a:avLst>
              <a:gd name="adj" fmla="val 14754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337560"/>
            <a:ext cx="73152" cy="1115568"/>
          </a:xfrm>
          <a:prstGeom prst="rect">
            <a:avLst/>
          </a:prstGeom>
          <a:solidFill>
            <a:srgbClr val="506A79"/>
          </a:solidFill>
          <a:ln w="12700">
            <a:solidFill>
              <a:srgbClr val="506A79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520440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社交不安全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84962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想结伴，却担心隐私泄露和低质量撮合。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19856" y="3337560"/>
            <a:ext cx="2450592" cy="1115568"/>
          </a:xfrm>
          <a:prstGeom prst="roundRect">
            <a:avLst>
              <a:gd name="adj" fmla="val 14754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19856" y="3337560"/>
            <a:ext cx="73152" cy="1115568"/>
          </a:xfrm>
          <a:prstGeom prst="rect">
            <a:avLst/>
          </a:prstGeom>
          <a:solidFill>
            <a:srgbClr val="E8B4A2"/>
          </a:solidFill>
          <a:ln w="12700">
            <a:solidFill>
              <a:srgbClr val="E8B4A2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75888" y="3520440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缺少仪式感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675888" y="384962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信息很多，但没有“打开它”的期待。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15984" y="3337560"/>
            <a:ext cx="2450592" cy="2468880"/>
          </a:xfrm>
          <a:prstGeom prst="roundRect">
            <a:avLst>
              <a:gd name="adj" fmla="val 6716"/>
            </a:avLst>
          </a:prstGeom>
          <a:solidFill>
            <a:srgbClr val="3C342C"/>
          </a:solidFill>
          <a:ln w="10160">
            <a:solidFill>
              <a:srgbClr val="3C342C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90304" y="3630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根因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90304" y="4041648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传统模式固化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市场细分空白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轻量创新缺失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社交体系不规范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52669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结果：用户想出发，但第一步总是被推迟。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05  解决方案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把复杂的旅行规划，折叠成一次有回应的开盒。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52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途个惊喜不是再做一个攻略库，而是把“选择”变成“被理解之后的惊喜”。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2212848"/>
            <a:ext cx="585216" cy="585216"/>
          </a:xfrm>
          <a:prstGeom prst="ellipse">
            <a:avLst/>
          </a:prstGeom>
          <a:solidFill>
            <a:srgbClr val="8EA47C"/>
          </a:solidFill>
          <a:ln w="12700">
            <a:solidFill>
              <a:srgbClr val="8EA47C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35000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08176" y="2505456"/>
            <a:ext cx="1536192" cy="0"/>
          </a:xfrm>
          <a:prstGeom prst="line">
            <a:avLst/>
          </a:prstGeom>
          <a:noFill/>
          <a:ln w="25400">
            <a:solidFill>
              <a:srgbClr val="C9D6B8"/>
            </a:solidFill>
            <a:prstDash val="dash"/>
            <a:headEnd type="none"/>
            <a:tailEnd type="none"/>
          </a:ln>
        </p:spPr>
      </p:sp>
      <p:sp>
        <p:nvSpPr>
          <p:cNvPr id="8" name="Text 6"/>
          <p:cNvSpPr txBox="1"/>
          <p:nvPr/>
        </p:nvSpPr>
        <p:spPr>
          <a:xfrm>
            <a:off x="658368" y="306324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选心情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34290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开心 / emo / 无聊 / 迷茫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71800" y="2212848"/>
            <a:ext cx="585216" cy="585216"/>
          </a:xfrm>
          <a:prstGeom prst="ellipse">
            <a:avLst/>
          </a:prstGeom>
          <a:solidFill>
            <a:srgbClr val="E8B4A2"/>
          </a:solidFill>
          <a:ln w="12700">
            <a:solidFill>
              <a:srgbClr val="E8B4A2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235000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30168" y="2505456"/>
            <a:ext cx="1536192" cy="0"/>
          </a:xfrm>
          <a:prstGeom prst="line">
            <a:avLst/>
          </a:prstGeom>
          <a:noFill/>
          <a:ln w="25400">
            <a:solidFill>
              <a:srgbClr val="C9D6B8"/>
            </a:solidFill>
            <a:prstDash val="dash"/>
            <a:headEnd type="none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2880360" y="306324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挑盲盒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496312" y="34290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按分类浏览，低成本决策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93792" y="2212848"/>
            <a:ext cx="585216" cy="585216"/>
          </a:xfrm>
          <a:prstGeom prst="ellipse">
            <a:avLst/>
          </a:prstGeom>
          <a:solidFill>
            <a:srgbClr val="D9B560"/>
          </a:solidFill>
          <a:ln w="12700">
            <a:solidFill>
              <a:srgbClr val="D9B56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93792" y="235000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852160" y="2505456"/>
            <a:ext cx="1536192" cy="0"/>
          </a:xfrm>
          <a:prstGeom prst="line">
            <a:avLst/>
          </a:prstGeom>
          <a:noFill/>
          <a:ln w="25400">
            <a:solidFill>
              <a:srgbClr val="C9D6B8"/>
            </a:solidFill>
            <a:prstDash val="dash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5102352" y="306324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开惊喜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718304" y="34290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随机解锁结构化路线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15784" y="2212848"/>
            <a:ext cx="585216" cy="585216"/>
          </a:xfrm>
          <a:prstGeom prst="ellipse">
            <a:avLst/>
          </a:prstGeom>
          <a:solidFill>
            <a:srgbClr val="506A79"/>
          </a:solidFill>
          <a:ln w="12700">
            <a:solidFill>
              <a:srgbClr val="506A79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15784" y="235000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74152" y="2505456"/>
            <a:ext cx="1536192" cy="0"/>
          </a:xfrm>
          <a:prstGeom prst="line">
            <a:avLst/>
          </a:prstGeom>
          <a:noFill/>
          <a:ln w="25400">
            <a:solidFill>
              <a:srgbClr val="C9D6B8"/>
            </a:solidFill>
            <a:prstDash val="dash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7324344" y="306324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去旅行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940296" y="34290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行程、徽章、日记沉淀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637776" y="2212848"/>
            <a:ext cx="585216" cy="585216"/>
          </a:xfrm>
          <a:prstGeom prst="ellipse">
            <a:avLst/>
          </a:prstGeom>
          <a:solidFill>
            <a:srgbClr val="6C7E58"/>
          </a:solidFill>
          <a:ln w="12700">
            <a:solidFill>
              <a:srgbClr val="6C7E5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37776" y="235000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546336" y="3063240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再回来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162288" y="34290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AI 搭子与兴趣社交留存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9808" y="4736592"/>
            <a:ext cx="10497312" cy="841248"/>
          </a:xfrm>
          <a:prstGeom prst="roundRect">
            <a:avLst>
              <a:gd name="adj" fmla="val 19565"/>
            </a:avLst>
          </a:prstGeom>
          <a:solidFill>
            <a:srgbClr val="E4EDD8"/>
          </a:solidFill>
          <a:ln w="1016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4128" y="50292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四大解决思路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240280" y="4965192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盲盒轻量化  ·  兴趣垂直化  ·  视觉潮玩化  ·  社交合规化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06  产品结构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一个盲盒，背后是一套可复用的内容系统。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52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内容不是随机拼接，而是被结构化、分级、校验后再进入盲盒。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749040" cy="3520440"/>
          </a:xfrm>
          <a:prstGeom prst="roundRect">
            <a:avLst>
              <a:gd name="adj" fmla="val 4675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48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四大主题盲盒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32688" y="2670048"/>
            <a:ext cx="256032" cy="256032"/>
          </a:xfrm>
          <a:prstGeom prst="ellipse">
            <a:avLst/>
          </a:prstGeom>
          <a:solidFill>
            <a:srgbClr val="8EA47C"/>
          </a:solidFill>
          <a:ln w="12700">
            <a:solidFill>
              <a:srgbClr val="8EA47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35024" y="26609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户外徒步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33472" y="2670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自然探索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2688" y="3063240"/>
            <a:ext cx="2971800" cy="0"/>
          </a:xfrm>
          <a:prstGeom prst="line">
            <a:avLst/>
          </a:prstGeom>
          <a:noFill/>
          <a:ln w="10160">
            <a:solidFill>
              <a:srgbClr val="E7DCC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2688" y="3236976"/>
            <a:ext cx="256032" cy="256032"/>
          </a:xfrm>
          <a:prstGeom prst="ellipse">
            <a:avLst/>
          </a:prstGeom>
          <a:solidFill>
            <a:srgbClr val="C97A59"/>
          </a:solidFill>
          <a:ln w="12700">
            <a:solidFill>
              <a:srgbClr val="C97A59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35024" y="3227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美食逛吃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32369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城市烟火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2688" y="3630168"/>
            <a:ext cx="2971800" cy="0"/>
          </a:xfrm>
          <a:prstGeom prst="line">
            <a:avLst/>
          </a:prstGeom>
          <a:noFill/>
          <a:ln w="10160">
            <a:solidFill>
              <a:srgbClr val="E7DCCE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2688" y="3803904"/>
            <a:ext cx="256032" cy="256032"/>
          </a:xfrm>
          <a:prstGeom prst="ellipse">
            <a:avLst/>
          </a:prstGeom>
          <a:solidFill>
            <a:srgbClr val="E8B4A2"/>
          </a:solidFill>
          <a:ln w="12700">
            <a:solidFill>
              <a:srgbClr val="E8B4A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35024" y="3794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休闲治愈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633472" y="38039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放空与恢复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2688" y="4197096"/>
            <a:ext cx="2971800" cy="0"/>
          </a:xfrm>
          <a:prstGeom prst="line">
            <a:avLst/>
          </a:prstGeom>
          <a:noFill/>
          <a:ln w="10160">
            <a:solidFill>
              <a:srgbClr val="E7DCCE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2688" y="4370832"/>
            <a:ext cx="256032" cy="256032"/>
          </a:xfrm>
          <a:prstGeom prst="ellipse">
            <a:avLst/>
          </a:prstGeom>
          <a:solidFill>
            <a:srgbClr val="506A79"/>
          </a:solidFill>
          <a:ln w="12700">
            <a:solidFill>
              <a:srgbClr val="506A7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35024" y="4361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拍照打卡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633472" y="43708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审美与分享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2688" y="4764024"/>
            <a:ext cx="2971800" cy="0"/>
          </a:xfrm>
          <a:prstGeom prst="line">
            <a:avLst/>
          </a:prstGeom>
          <a:noFill/>
          <a:ln w="10160">
            <a:solidFill>
              <a:srgbClr val="E7DCCE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2688" y="475488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E4EDD8"/>
          </a:solidFill>
          <a:ln w="12700">
            <a:solidFill>
              <a:srgbClr val="E4ED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" y="475945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轻量化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783080" y="475488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E4EDD8"/>
          </a:solidFill>
          <a:ln w="12700">
            <a:solidFill>
              <a:srgbClr val="E4ED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783080" y="475945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可复制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33472" y="475488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E4EDD8"/>
          </a:solidFill>
          <a:ln w="12700">
            <a:solidFill>
              <a:srgbClr val="E4ED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33472" y="475945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低决策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874520"/>
            <a:ext cx="6675120" cy="3520440"/>
          </a:xfrm>
          <a:prstGeom prst="roundRect">
            <a:avLst>
              <a:gd name="adj" fmla="val 4675"/>
            </a:avLst>
          </a:prstGeom>
          <a:solidFill>
            <a:srgbClr val="3C342C"/>
          </a:solidFill>
          <a:ln w="10160">
            <a:solidFill>
              <a:srgbClr val="3C342C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38928" y="21579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结构化攻略内容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138928" y="2816352"/>
            <a:ext cx="1572768" cy="667512"/>
          </a:xfrm>
          <a:prstGeom prst="roundRect">
            <a:avLst>
              <a:gd name="adj" fmla="val 20548"/>
            </a:avLst>
          </a:prstGeom>
          <a:solidFill>
            <a:srgbClr val="8EA47C"/>
          </a:solidFill>
          <a:ln w="10160">
            <a:solidFill>
              <a:srgbClr val="8EA47C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85232" y="29352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景点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285232" y="319125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去哪儿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59168" y="2816352"/>
            <a:ext cx="1572768" cy="667512"/>
          </a:xfrm>
          <a:prstGeom prst="roundRect">
            <a:avLst>
              <a:gd name="adj" fmla="val 20548"/>
            </a:avLst>
          </a:prstGeom>
          <a:solidFill>
            <a:srgbClr val="6C7E58"/>
          </a:solidFill>
          <a:ln w="10160">
            <a:solidFill>
              <a:srgbClr val="6C7E5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05472" y="29352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交通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205472" y="319125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怎么到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979408" y="2816352"/>
            <a:ext cx="1572768" cy="667512"/>
          </a:xfrm>
          <a:prstGeom prst="roundRect">
            <a:avLst>
              <a:gd name="adj" fmla="val 20548"/>
            </a:avLst>
          </a:prstGeom>
          <a:solidFill>
            <a:srgbClr val="8EA47C"/>
          </a:solidFill>
          <a:ln w="10160">
            <a:solidFill>
              <a:srgbClr val="8EA47C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25712" y="29352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预算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125712" y="319125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花多少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38928" y="3749040"/>
            <a:ext cx="1572768" cy="667512"/>
          </a:xfrm>
          <a:prstGeom prst="roundRect">
            <a:avLst>
              <a:gd name="adj" fmla="val 20548"/>
            </a:avLst>
          </a:prstGeom>
          <a:solidFill>
            <a:srgbClr val="6C7E58"/>
          </a:solidFill>
          <a:ln w="10160">
            <a:solidFill>
              <a:srgbClr val="6C7E58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285232" y="38679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美食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285232" y="41239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吃什么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059168" y="3749040"/>
            <a:ext cx="1572768" cy="667512"/>
          </a:xfrm>
          <a:prstGeom prst="roundRect">
            <a:avLst>
              <a:gd name="adj" fmla="val 20548"/>
            </a:avLst>
          </a:prstGeom>
          <a:solidFill>
            <a:srgbClr val="8EA47C"/>
          </a:solidFill>
          <a:ln w="10160">
            <a:solidFill>
              <a:srgbClr val="8EA47C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205472" y="38679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避雷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205472" y="41239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少踩坑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979408" y="3749040"/>
            <a:ext cx="1572768" cy="667512"/>
          </a:xfrm>
          <a:prstGeom prst="roundRect">
            <a:avLst>
              <a:gd name="adj" fmla="val 20548"/>
            </a:avLst>
          </a:prstGeom>
          <a:solidFill>
            <a:srgbClr val="6C7E58"/>
          </a:solidFill>
          <a:ln w="10160">
            <a:solidFill>
              <a:srgbClr val="6C7E58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25712" y="38679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穿搭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9125712" y="412394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怎么拍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5138928" y="4882896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内容池 → 盲盒标签 → 情绪匹配 → 路线解锁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07  原型体验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用户看到的不是一张信息表，而是一种“打开它”的期待。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52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原型以奶油白、鼠尾草绿和纸张质感构成产品识别度；界面、文案与动效共同服务于惊喜感。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0664" y="1673352"/>
            <a:ext cx="2505456" cy="5321808"/>
          </a:xfrm>
          <a:prstGeom prst="roundRect">
            <a:avLst>
              <a:gd name="adj" fmla="val 12044"/>
            </a:avLst>
          </a:prstGeom>
          <a:solidFill>
            <a:srgbClr val="3C342C"/>
          </a:solidFill>
          <a:ln w="10160">
            <a:solidFill>
              <a:srgbClr val="3C342C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" y="1719072"/>
            <a:ext cx="2414016" cy="52303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6384" y="705916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首页：选心情 → 浏览盲盒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776472" y="1673352"/>
            <a:ext cx="2505456" cy="5321808"/>
          </a:xfrm>
          <a:prstGeom prst="roundRect">
            <a:avLst>
              <a:gd name="adj" fmla="val 12044"/>
            </a:avLst>
          </a:prstGeom>
          <a:solidFill>
            <a:srgbClr val="3C342C"/>
          </a:solidFill>
          <a:ln w="10160">
            <a:solidFill>
              <a:srgbClr val="3C342C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2192" y="1719072"/>
            <a:ext cx="2414016" cy="52303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822192" y="705916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AI 搭子：把心情交给小途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812280" y="1673352"/>
            <a:ext cx="2505456" cy="5321808"/>
          </a:xfrm>
          <a:prstGeom prst="roundRect">
            <a:avLst>
              <a:gd name="adj" fmla="val 12044"/>
            </a:avLst>
          </a:prstGeom>
          <a:solidFill>
            <a:srgbClr val="3C342C"/>
          </a:solidFill>
          <a:ln w="10160">
            <a:solidFill>
              <a:srgbClr val="3C342C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1719072"/>
            <a:ext cx="2414016" cy="52303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58000" y="705916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图鉴：收集旅途中的印章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9646920" y="2011680"/>
            <a:ext cx="1755648" cy="1965960"/>
          </a:xfrm>
          <a:prstGeom prst="roundRect">
            <a:avLst>
              <a:gd name="adj" fmla="val 9375"/>
            </a:avLst>
          </a:prstGeom>
          <a:solidFill>
            <a:srgbClr val="E4EDD8"/>
          </a:solidFill>
          <a:ln w="1016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930384" y="22860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视觉语言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9930384" y="2688336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奶油白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鼠尾草绿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纸张纹理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杂志式排版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9656064" y="44074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这些不是装饰，而是把“旅行”从工具感拉回到情绪体验。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08  三大创新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创新不只在界面，更在产品逻辑、内容方法和关系边界。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52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三个层次叠加，构成“途个惊喜”的差异化壁垒。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938528"/>
            <a:ext cx="3246120" cy="3401568"/>
          </a:xfrm>
          <a:prstGeom prst="roundRect">
            <a:avLst>
              <a:gd name="adj" fmla="val 5070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240280"/>
            <a:ext cx="347472" cy="347472"/>
          </a:xfrm>
          <a:prstGeom prst="ellipse">
            <a:avLst/>
          </a:prstGeom>
          <a:solidFill>
            <a:srgbClr val="8EA47C"/>
          </a:solidFill>
          <a:ln w="12700">
            <a:solidFill>
              <a:srgbClr val="8EA47C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224942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816352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玩法创新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1455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攻略盲盒化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379476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把被动搜索变成一次开箱；用随机、稀有度、动效和收集制造仪式感。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4846320"/>
            <a:ext cx="2560320" cy="0"/>
          </a:xfrm>
          <a:prstGeom prst="line">
            <a:avLst/>
          </a:prstGeom>
          <a:noFill/>
          <a:ln w="12700">
            <a:solidFill>
              <a:srgbClr val="E7DCCE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1024128" y="49926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惊喜感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98848" y="1938528"/>
            <a:ext cx="3246120" cy="3401568"/>
          </a:xfrm>
          <a:prstGeom prst="roundRect">
            <a:avLst>
              <a:gd name="adj" fmla="val 5070"/>
            </a:avLst>
          </a:prstGeom>
          <a:solidFill>
            <a:srgbClr val="3C342C"/>
          </a:solidFill>
          <a:ln w="10160">
            <a:solidFill>
              <a:srgbClr val="3C342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2240280"/>
            <a:ext cx="347472" cy="347472"/>
          </a:xfrm>
          <a:prstGeom prst="ellipse">
            <a:avLst/>
          </a:prstGeom>
          <a:solidFill>
            <a:srgbClr val="D9B560"/>
          </a:solidFill>
          <a:ln w="12700">
            <a:solidFill>
              <a:srgbClr val="D9B560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3168" y="224942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2816352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内容创新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31455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结构化萃取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4773168" y="379476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把景点、交通、预算、美食、避雷、穿搭拆成可组合的原创内容单元。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73168" y="4846320"/>
            <a:ext cx="2560320" cy="0"/>
          </a:xfrm>
          <a:prstGeom prst="line">
            <a:avLst/>
          </a:prstGeom>
          <a:noFill/>
          <a:ln w="12700">
            <a:solidFill>
              <a:srgbClr val="6C7E58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 txBox="1"/>
          <p:nvPr/>
        </p:nvSpPr>
        <p:spPr>
          <a:xfrm>
            <a:off x="4773168" y="49926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内容壁垒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47888" y="1938528"/>
            <a:ext cx="3246120" cy="3401568"/>
          </a:xfrm>
          <a:prstGeom prst="roundRect">
            <a:avLst>
              <a:gd name="adj" fmla="val 5070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2208" y="2240280"/>
            <a:ext cx="347472" cy="347472"/>
          </a:xfrm>
          <a:prstGeom prst="ellipse">
            <a:avLst/>
          </a:prstGeom>
          <a:solidFill>
            <a:srgbClr val="506A79"/>
          </a:solidFill>
          <a:ln w="12700">
            <a:solidFill>
              <a:srgbClr val="506A79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22208" y="224942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522208" y="2816352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模式创新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522208" y="31455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合规轻社交</a:t>
            </a:r>
            <a:endParaRPr lang="en-US" sz="2300" dirty="0"/>
          </a:p>
        </p:txBody>
      </p:sp>
      <p:sp>
        <p:nvSpPr>
          <p:cNvPr id="26" name="Text 24"/>
          <p:cNvSpPr txBox="1"/>
          <p:nvPr/>
        </p:nvSpPr>
        <p:spPr>
          <a:xfrm>
            <a:off x="8522208" y="379476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以内容付费为核心，以兴趣交流为增值；不做隐私交换和恶意撮合。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22208" y="4846320"/>
            <a:ext cx="2560320" cy="0"/>
          </a:xfrm>
          <a:prstGeom prst="line">
            <a:avLst/>
          </a:prstGeom>
          <a:noFill/>
          <a:ln w="12700">
            <a:solidFill>
              <a:srgbClr val="E7DCCE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8522208" y="49926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信任感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09  竞品差异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我们不和所有旅游平台拼信息量，而是重新定义“怎么开始一趟旅行”。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52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避开传统攻略红海，切入攻略盲盒、兴趣匹配与合规轻社交的交叉空白。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83664"/>
            <a:ext cx="1828800" cy="548640"/>
          </a:xfrm>
          <a:prstGeom prst="roundRect">
            <a:avLst>
              <a:gd name="adj" fmla="val 6667"/>
            </a:avLst>
          </a:prstGeom>
          <a:solidFill>
            <a:srgbClr val="E4EDD8"/>
          </a:solidFill>
          <a:ln w="1016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99339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对比维度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87168" y="1883664"/>
            <a:ext cx="2240280" cy="548640"/>
          </a:xfrm>
          <a:prstGeom prst="roundRect">
            <a:avLst>
              <a:gd name="adj" fmla="val 6667"/>
            </a:avLst>
          </a:prstGeom>
          <a:solidFill>
            <a:srgbClr val="E4EDD8"/>
          </a:solidFill>
          <a:ln w="1016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96896" y="1993392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传统攻略平台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27448" y="1883664"/>
            <a:ext cx="2240280" cy="548640"/>
          </a:xfrm>
          <a:prstGeom prst="roundRect">
            <a:avLst>
              <a:gd name="adj" fmla="val 6667"/>
            </a:avLst>
          </a:prstGeom>
          <a:solidFill>
            <a:srgbClr val="E4EDD8"/>
          </a:solidFill>
          <a:ln w="1016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7176" y="1993392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线下实体旅游盲盒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67728" y="1883664"/>
            <a:ext cx="2240280" cy="548640"/>
          </a:xfrm>
          <a:prstGeom prst="roundRect">
            <a:avLst>
              <a:gd name="adj" fmla="val 6667"/>
            </a:avLst>
          </a:prstGeom>
          <a:solidFill>
            <a:srgbClr val="E4EDD8"/>
          </a:solidFill>
          <a:ln w="1016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77456" y="1993392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旅行社交平台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08008" y="1883664"/>
            <a:ext cx="2240280" cy="548640"/>
          </a:xfrm>
          <a:prstGeom prst="roundRect">
            <a:avLst>
              <a:gd name="adj" fmla="val 6667"/>
            </a:avLst>
          </a:prstGeom>
          <a:solidFill>
            <a:srgbClr val="3C342C"/>
          </a:solidFill>
          <a:ln w="10160">
            <a:solidFill>
              <a:srgbClr val="3C342C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17736" y="1993392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途个惊喜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2432304"/>
            <a:ext cx="1828800" cy="621792"/>
          </a:xfrm>
          <a:prstGeom prst="roundRect">
            <a:avLst>
              <a:gd name="adj" fmla="val 1471"/>
            </a:avLst>
          </a:prstGeom>
          <a:solidFill>
            <a:srgbClr val="EFE6D6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" y="256946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产品属性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487168" y="2432304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EFE6D6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96896" y="2569464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信息资讯工具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27448" y="2432304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EFE6D6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37176" y="2569464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线下套餐，重资产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67728" y="2432304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EFE6D6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77456" y="2569464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社交撮合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208008" y="2432304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E4EDD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17736" y="2569464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轻量化内容产品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" y="3054096"/>
            <a:ext cx="1828800" cy="621792"/>
          </a:xfrm>
          <a:prstGeom prst="roundRect">
            <a:avLst>
              <a:gd name="adj" fmla="val 1471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319125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玩法创意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487168" y="3054096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96896" y="3191256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被动搜索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27448" y="3054096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37176" y="3191256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有惊喜但玩法固化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967728" y="3054096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77456" y="3191256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无开箱体验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208008" y="3054096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E4EDD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17736" y="3191256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开盒 + 随机 + 收集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8368" y="3675888"/>
            <a:ext cx="1828800" cy="621792"/>
          </a:xfrm>
          <a:prstGeom prst="roundRect">
            <a:avLst>
              <a:gd name="adj" fmla="val 1471"/>
            </a:avLst>
          </a:prstGeom>
          <a:solidFill>
            <a:srgbClr val="EFE6D6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8096" y="381304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内容精准度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487168" y="3675888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EFE6D6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96896" y="3813048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通用内容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27448" y="3675888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EFE6D6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37176" y="3813048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固定套餐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967728" y="3675888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EFE6D6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77456" y="3813048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兴趣标签弱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208008" y="3675888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E4EDD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317736" y="3813048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四大兴趣垂直匹配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58368" y="4297680"/>
            <a:ext cx="1828800" cy="621792"/>
          </a:xfrm>
          <a:prstGeom prst="roundRect">
            <a:avLst>
              <a:gd name="adj" fmla="val 1471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68096" y="443484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安全边界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487168" y="4297680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596896" y="443484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无体系化结伴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727448" y="4297680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837176" y="443484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无社交属性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967728" y="4297680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077456" y="443484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隐私与撮合风险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208008" y="4297680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E4EDD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317736" y="443484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兴趣交流、隐私脱敏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58368" y="4919472"/>
            <a:ext cx="1828800" cy="621792"/>
          </a:xfrm>
          <a:prstGeom prst="roundRect">
            <a:avLst>
              <a:gd name="adj" fmla="val 1471"/>
            </a:avLst>
          </a:prstGeom>
          <a:solidFill>
            <a:srgbClr val="EFE6D6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68096" y="505663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可复制性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2487168" y="4919472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EFE6D6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596896" y="5056632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市场饱和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727448" y="4919472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EFE6D6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837176" y="5056632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成本与地域约束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967728" y="4919472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EFE6D6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077456" y="5056632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内容治理复杂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9208008" y="4919472"/>
            <a:ext cx="2240280" cy="621792"/>
          </a:xfrm>
          <a:prstGeom prst="roundRect">
            <a:avLst>
              <a:gd name="adj" fmla="val 1471"/>
            </a:avLst>
          </a:prstGeom>
          <a:solidFill>
            <a:srgbClr val="E4EDD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317736" y="5056632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线上交付、全国扩展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55229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差异化结论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1828800" y="5458968"/>
            <a:ext cx="9281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不是更大的信息库，而是更低的决策成本、更高的情绪价值和更清晰的安全边界。</a:t>
            </a:r>
            <a:endParaRPr lang="en-US" sz="1800" dirty="0"/>
          </a:p>
        </p:txBody>
      </p:sp>
      <p:sp>
        <p:nvSpPr>
          <p:cNvPr id="67" name="Text 65"/>
          <p:cNvSpPr txBox="1"/>
          <p:nvPr/>
        </p:nvSpPr>
        <p:spPr>
          <a:xfrm>
            <a:off x="612648" y="619963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竞品维度依据用户提供的“产品详情 + 产品亮点 + 竞品分析”材料整理。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10  商业模式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先把一次出行做得值得，再让用户愿意回来。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52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收入来自盲盒销售，留存来自内容、收集和 AI；轻资产让复制速度快于线下扩张。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3767328" cy="3429000"/>
          </a:xfrm>
          <a:prstGeom prst="roundRect">
            <a:avLst>
              <a:gd name="adj" fmla="val 4800"/>
            </a:avLst>
          </a:prstGeom>
          <a:solidFill>
            <a:srgbClr val="3C342C"/>
          </a:solidFill>
          <a:ln w="10160">
            <a:solidFill>
              <a:srgbClr val="3C342C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945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收入引擎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盲盒销售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00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单次开盒 → 复购开盒 → 内容转化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3749040"/>
            <a:ext cx="2788920" cy="0"/>
          </a:xfrm>
          <a:prstGeom prst="line">
            <a:avLst/>
          </a:prstGeom>
          <a:noFill/>
          <a:ln w="12700">
            <a:solidFill>
              <a:srgbClr val="6C7E58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960120" y="4069080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用户买到的是一次结构化的出行决策，平台沉淀的是内容资产与兴趣画像。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74920" y="2084832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23042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内容资产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670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线路池、主题、城市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23760" y="2084832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E4EDD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23042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用户资产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2670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偏好、徽章、日记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72600" y="2084832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55480" y="23042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运营资产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2670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筛选、复购、转化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74920" y="4681728"/>
            <a:ext cx="6400800" cy="658368"/>
          </a:xfrm>
          <a:prstGeom prst="roundRect">
            <a:avLst>
              <a:gd name="adj" fmla="val 22222"/>
            </a:avLst>
          </a:prstGeom>
          <a:solidFill>
            <a:srgbClr val="E4EDD8"/>
          </a:solidFill>
          <a:ln w="1016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9240" y="490118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成本结构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84632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内容研发  ·  技术与模型  ·  渠道获客  ·  线路结算与售后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11  技术与风控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轻量化产品，也可以有完整的工程承重墙。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52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技术架构围绕内容下发、交易闭环、智能推荐与隐私合规展开。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10881360" cy="658368"/>
          </a:xfrm>
          <a:prstGeom prst="roundRect">
            <a:avLst>
              <a:gd name="adj" fmla="val 22222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8483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 w="12700">
            <a:solidFill>
              <a:srgbClr val="8EA47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0894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微信小程序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78608" y="2221992"/>
            <a:ext cx="1417320" cy="0"/>
          </a:xfrm>
          <a:prstGeom prst="line">
            <a:avLst/>
          </a:prstGeom>
          <a:noFill/>
          <a:ln w="25400">
            <a:solidFill>
              <a:srgbClr val="C9D6B8"/>
            </a:solidFill>
            <a:prstDash val="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434840" y="208483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8B4A2"/>
          </a:solidFill>
          <a:ln w="12700">
            <a:solidFill>
              <a:srgbClr val="E8B4A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20894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管理端 Web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07608" y="2221992"/>
            <a:ext cx="1417320" cy="0"/>
          </a:xfrm>
          <a:prstGeom prst="line">
            <a:avLst/>
          </a:prstGeom>
          <a:noFill/>
          <a:ln w="25400">
            <a:solidFill>
              <a:srgbClr val="C9D6B8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863840" y="208483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D9B560"/>
          </a:solidFill>
          <a:ln w="12700">
            <a:solidFill>
              <a:srgbClr val="D9B5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0" y="20894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支付宝沙箱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" y="2852928"/>
            <a:ext cx="10881360" cy="1078992"/>
          </a:xfrm>
          <a:prstGeom prst="roundRect">
            <a:avLst>
              <a:gd name="adj" fmla="val 13559"/>
            </a:avLst>
          </a:prstGeom>
          <a:solidFill>
            <a:srgbClr val="3C342C"/>
          </a:solidFill>
          <a:ln w="10160">
            <a:solidFill>
              <a:srgbClr val="3C342C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1363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Spring Boot 3  ·  MyBatis-Plus  ·  JWT  ·  Spring AI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58368" y="4370832"/>
            <a:ext cx="2450592" cy="1051560"/>
          </a:xfrm>
          <a:prstGeom prst="roundRect">
            <a:avLst>
              <a:gd name="adj" fmla="val 15652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617720"/>
            <a:ext cx="228600" cy="228600"/>
          </a:xfrm>
          <a:prstGeom prst="ellipse">
            <a:avLst/>
          </a:prstGeom>
          <a:solidFill>
            <a:srgbClr val="506A79"/>
          </a:solidFill>
          <a:ln w="12700">
            <a:solidFill>
              <a:srgbClr val="506A7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25296" y="45537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MySQL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882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业务数据 / 内容池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19856" y="4370832"/>
            <a:ext cx="2450592" cy="1051560"/>
          </a:xfrm>
          <a:prstGeom prst="roundRect">
            <a:avLst>
              <a:gd name="adj" fmla="val 15652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30168" y="4617720"/>
            <a:ext cx="228600" cy="228600"/>
          </a:xfrm>
          <a:prstGeom prst="ellipse">
            <a:avLst/>
          </a:prstGeom>
          <a:solidFill>
            <a:srgbClr val="8EA47C"/>
          </a:solidFill>
          <a:ln w="12700">
            <a:solidFill>
              <a:srgbClr val="8EA47C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86784" y="45537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Redis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630168" y="4882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验证码 / 会话 / AI 记忆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4370832"/>
            <a:ext cx="2450592" cy="1051560"/>
          </a:xfrm>
          <a:prstGeom prst="roundRect">
            <a:avLst>
              <a:gd name="adj" fmla="val 15652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1656" y="4617720"/>
            <a:ext cx="228600" cy="228600"/>
          </a:xfrm>
          <a:prstGeom prst="ellipse">
            <a:avLst/>
          </a:prstGeom>
          <a:solidFill>
            <a:srgbClr val="C97A59"/>
          </a:solidFill>
          <a:ln w="12700">
            <a:solidFill>
              <a:srgbClr val="C97A59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48272" y="45537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内容安全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91656" y="4882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权限 / 脱敏 / 审核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42832" y="4370832"/>
            <a:ext cx="2450592" cy="1051560"/>
          </a:xfrm>
          <a:prstGeom prst="roundRect">
            <a:avLst>
              <a:gd name="adj" fmla="val 15652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53144" y="4617720"/>
            <a:ext cx="228600" cy="228600"/>
          </a:xfrm>
          <a:prstGeom prst="ellipse">
            <a:avLst/>
          </a:prstGeom>
          <a:solidFill>
            <a:srgbClr val="E8B4A2"/>
          </a:solidFill>
          <a:ln w="12700">
            <a:solidFill>
              <a:srgbClr val="E8B4A2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09760" y="45537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可演示交易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153144" y="4882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沙箱支付 / 异步通知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12  运营闭环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管理端配置一次，用户端每次都能看到真实、可售、可更新的内容。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52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内容域先跑通，交易、AI、统计和社交才有稳定的地基。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2404872"/>
            <a:ext cx="694944" cy="694944"/>
          </a:xfrm>
          <a:prstGeom prst="ellipse">
            <a:avLst/>
          </a:prstGeom>
          <a:solidFill>
            <a:srgbClr val="3C342C"/>
          </a:solidFill>
          <a:ln w="12700">
            <a:solidFill>
              <a:srgbClr val="3C342C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59689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84632" y="33284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管理端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" y="37124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盲盒 / 线路 / 徽章 / Banner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554480" y="2752344"/>
            <a:ext cx="1243584" cy="0"/>
          </a:xfrm>
          <a:prstGeom prst="line">
            <a:avLst/>
          </a:prstGeom>
          <a:noFill/>
          <a:ln w="25400">
            <a:solidFill>
              <a:srgbClr val="C9D6B8"/>
            </a:solidFill>
            <a:prstDash val="dash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926080" y="2404872"/>
            <a:ext cx="694944" cy="694944"/>
          </a:xfrm>
          <a:prstGeom prst="ellipse">
            <a:avLst/>
          </a:prstGeom>
          <a:solidFill>
            <a:srgbClr val="8EA47C"/>
          </a:solidFill>
          <a:ln w="12700">
            <a:solidFill>
              <a:srgbClr val="8EA47C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259689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3284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内容服务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359152" y="37124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状态 / 标签 / 保底 / 权限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67328" y="2752344"/>
            <a:ext cx="1243584" cy="0"/>
          </a:xfrm>
          <a:prstGeom prst="line">
            <a:avLst/>
          </a:prstGeom>
          <a:noFill/>
          <a:ln w="25400">
            <a:solidFill>
              <a:srgbClr val="C9D6B8"/>
            </a:solidFill>
            <a:prstDash val="dash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138928" y="2404872"/>
            <a:ext cx="694944" cy="694944"/>
          </a:xfrm>
          <a:prstGeom prst="ellipse">
            <a:avLst/>
          </a:prstGeom>
          <a:solidFill>
            <a:srgbClr val="E8B4A2"/>
          </a:solidFill>
          <a:ln w="12700">
            <a:solidFill>
              <a:srgbClr val="E8B4A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38928" y="259689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910328" y="33284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用户端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7124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首页 / 图鉴 / 心情筛选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0176" y="2752344"/>
            <a:ext cx="1243584" cy="0"/>
          </a:xfrm>
          <a:prstGeom prst="line">
            <a:avLst/>
          </a:prstGeom>
          <a:noFill/>
          <a:ln w="25400">
            <a:solidFill>
              <a:srgbClr val="C9D6B8"/>
            </a:solidFill>
            <a:prstDash val="dash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351776" y="2404872"/>
            <a:ext cx="694944" cy="694944"/>
          </a:xfrm>
          <a:prstGeom prst="ellipse">
            <a:avLst/>
          </a:prstGeom>
          <a:solidFill>
            <a:srgbClr val="D9B560"/>
          </a:solidFill>
          <a:ln w="12700">
            <a:solidFill>
              <a:srgbClr val="D9B56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51776" y="259689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23176" y="33284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行为数据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37124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心情 / 浏览 / 开盒 / 收集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93024" y="2752344"/>
            <a:ext cx="1243584" cy="0"/>
          </a:xfrm>
          <a:prstGeom prst="line">
            <a:avLst/>
          </a:prstGeom>
          <a:noFill/>
          <a:ln w="25400">
            <a:solidFill>
              <a:srgbClr val="C9D6B8"/>
            </a:solidFill>
            <a:prstDash val="dash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564624" y="2404872"/>
            <a:ext cx="694944" cy="694944"/>
          </a:xfrm>
          <a:prstGeom prst="ellipse">
            <a:avLst/>
          </a:prstGeom>
          <a:solidFill>
            <a:srgbClr val="506A79"/>
          </a:solidFill>
          <a:ln w="12700">
            <a:solidFill>
              <a:srgbClr val="506A79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64624" y="259689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336024" y="33284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智能留存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997696" y="37124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AI 搭子 / 推荐 / 日记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4400" y="4919472"/>
            <a:ext cx="10332720" cy="676656"/>
          </a:xfrm>
          <a:prstGeom prst="roundRect">
            <a:avLst>
              <a:gd name="adj" fmla="val 21622"/>
            </a:avLst>
          </a:prstGeom>
          <a:solidFill>
            <a:srgbClr val="E4EDD8"/>
          </a:solidFill>
          <a:ln w="1016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34440" y="513892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阶段二的价值：先让“配置下发 → 用户看见”成为稳定可验证的产品能力。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13  实施路线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8580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先跑通闭环，再把留存和生态做厚。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252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六阶段从内容地基走向交易、AI、社交与商家合作；每一阶段都有可演示的交付物。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3291840" cy="123444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157984"/>
            <a:ext cx="457200" cy="457200"/>
          </a:xfrm>
          <a:prstGeom prst="ellipse">
            <a:avLst/>
          </a:prstGeom>
          <a:solidFill>
            <a:srgbClr val="E4EDD8"/>
          </a:solidFill>
          <a:ln w="1270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2768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17904" y="21214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地基与承重墙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17904" y="2514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三端骨架 / 数据库 / 契约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1688" y="1901952"/>
            <a:ext cx="3291840" cy="1234440"/>
          </a:xfrm>
          <a:prstGeom prst="roundRect">
            <a:avLst>
              <a:gd name="adj" fmla="val 13333"/>
            </a:avLst>
          </a:prstGeom>
          <a:solidFill>
            <a:srgbClr val="3C342C"/>
          </a:solidFill>
          <a:ln w="10160">
            <a:solidFill>
              <a:srgbClr val="3C342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1144" y="2157984"/>
            <a:ext cx="457200" cy="457200"/>
          </a:xfrm>
          <a:prstGeom prst="ellipse">
            <a:avLst/>
          </a:prstGeom>
          <a:solidFill>
            <a:srgbClr val="8EA47C"/>
          </a:solidFill>
          <a:ln w="12700">
            <a:solidFill>
              <a:srgbClr val="8EA47C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1144" y="22768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21224" y="21214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内容域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21224" y="2514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盲盒 / 线路 / 图鉴 / Banner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65008" y="1901952"/>
            <a:ext cx="3291840" cy="123444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2157984"/>
            <a:ext cx="457200" cy="457200"/>
          </a:xfrm>
          <a:prstGeom prst="ellipse">
            <a:avLst/>
          </a:prstGeom>
          <a:solidFill>
            <a:srgbClr val="E4EDD8"/>
          </a:solidFill>
          <a:ln w="1270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84464" y="22768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24544" y="21214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交易域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924544" y="2514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登录 / 支付 / 开盒 / 行程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3456432"/>
            <a:ext cx="3291840" cy="123444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3712464"/>
            <a:ext cx="457200" cy="457200"/>
          </a:xfrm>
          <a:prstGeom prst="ellipse">
            <a:avLst/>
          </a:prstGeom>
          <a:solidFill>
            <a:srgbClr val="E4EDD8"/>
          </a:solidFill>
          <a:ln w="1270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7824" y="3831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17904" y="36758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用户资产与 AI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517904" y="4069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统计 / 人格 / 小途 / 日记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61688" y="3456432"/>
            <a:ext cx="3291840" cy="123444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1144" y="3712464"/>
            <a:ext cx="457200" cy="457200"/>
          </a:xfrm>
          <a:prstGeom prst="ellipse">
            <a:avLst/>
          </a:prstGeom>
          <a:solidFill>
            <a:srgbClr val="E4EDD8"/>
          </a:solidFill>
          <a:ln w="1270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81144" y="3831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221224" y="36758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社交增强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221224" y="4069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社区 / 打卡 / 成就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65008" y="3456432"/>
            <a:ext cx="3291840" cy="1234440"/>
          </a:xfrm>
          <a:prstGeom prst="roundRect">
            <a:avLst>
              <a:gd name="adj" fmla="val 13333"/>
            </a:avLst>
          </a:prstGeom>
          <a:solidFill>
            <a:srgbClr val="FFFDF8"/>
          </a:solidFill>
          <a:ln w="10160">
            <a:solidFill>
              <a:srgbClr val="E7DC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84464" y="3712464"/>
            <a:ext cx="457200" cy="457200"/>
          </a:xfrm>
          <a:prstGeom prst="ellipse">
            <a:avLst/>
          </a:prstGeom>
          <a:solidFill>
            <a:srgbClr val="E4EDD8"/>
          </a:solidFill>
          <a:ln w="1270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84464" y="3831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924544" y="36758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商家合作与积分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924544" y="4069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F8376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优惠券 / 积分商城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52852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当前重点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719072" y="523036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阶段二先把内容供给做实，阶段三再把“支付 → 开盒 → 行程”跑成可演示闭环。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83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C3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3520" y="2651760"/>
            <a:ext cx="612648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01000" y="1078992"/>
            <a:ext cx="2148840" cy="2761488"/>
          </a:xfrm>
          <a:prstGeom prst="roundRect">
            <a:avLst>
              <a:gd name="adj" fmla="val 9362"/>
            </a:avLst>
          </a:prstGeom>
          <a:solidFill>
            <a:srgbClr val="E4EDD8"/>
          </a:solidFill>
          <a:ln w="10160">
            <a:solidFill>
              <a:srgbClr val="E4EDD8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302752" y="16184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7E5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打开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302752" y="21579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C342C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下一站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10789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途个惊喜</a:t>
            </a:r>
            <a:endParaRPr lang="en-US" sz="43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197510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把选择交给心情，把惊喜留给旅程。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68096" y="2761488"/>
            <a:ext cx="960120" cy="0"/>
          </a:xfrm>
          <a:prstGeom prst="line">
            <a:avLst/>
          </a:prstGeom>
          <a:noFill/>
          <a:ln w="38100">
            <a:solidFill>
              <a:srgbClr val="8EA47C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 txBox="1"/>
          <p:nvPr/>
        </p:nvSpPr>
        <p:spPr>
          <a:xfrm>
            <a:off x="768096" y="30906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一个面向年轻人的轻量化文旅创新项目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8096" y="3730752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 w="12700">
            <a:solidFill>
              <a:srgbClr val="8EA47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" y="37353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随盒出发  /  途个好心情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61722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220" kern="0" dirty="0">
                <a:solidFill>
                  <a:srgbClr val="C9D6B8"/>
                </a:solidFill>
                <a:latin typeface="STHeiti" pitchFamily="34" charset="0"/>
                <a:ea typeface="STHeiti" pitchFamily="34" charset="-122"/>
                <a:cs typeface="STHeiti" pitchFamily="34" charset="-120"/>
              </a:rPr>
              <a:t>THANK 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Heit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Heit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途个惊喜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途个惊喜｜随盒出发，途个好心情</dc:title>
  <dc:subject>创新创业项目介绍</dc:subject>
  <dc:creator>途个惊喜项目组</dc:creator>
  <cp:lastModifiedBy>途个惊喜项目组</cp:lastModifiedBy>
  <cp:revision>1</cp:revision>
  <dcterms:created xsi:type="dcterms:W3CDTF">2026-09-18T07:55:43Z</dcterms:created>
  <dcterms:modified xsi:type="dcterms:W3CDTF">2026-09-18T07:55:43Z</dcterms:modified>
</cp:coreProperties>
</file>