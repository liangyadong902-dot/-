
<file path=[Content_Types].xml><?xml version="1.0" encoding="utf-8"?>
<Types xmlns="http://schemas.openxmlformats.org/package/2006/content-types">
  <Default Extension="svg" ContentType="image/svg+xml"/>
  <Default Extension="png" ContentType="image/png"/>
  <Default Extension="xml" ContentType="application/xml"/>
  <Default Extension="rels" ContentType="application/vnd.openxmlformats-package.relationships+xml"/>
  <Override PartName="/ppt/theme/theme2.xml" ContentType="application/vnd.openxmlformats-officedocument.them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docProps/core.xml" ContentType="application/vnd.openxmlformats-package.core-properties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16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7" Type="http://schemas.openxmlformats.org/officeDocument/2006/relationships/slide" Target="slides/slide7.xml" /><Relationship Id="rId3" Type="http://schemas.openxmlformats.org/officeDocument/2006/relationships/slide" Target="slides/slide3.xml" /><Relationship Id="rId8" Type="http://schemas.openxmlformats.org/officeDocument/2006/relationships/slide" Target="slides/slide8.xml" /><Relationship Id="rId2" Type="http://schemas.openxmlformats.org/officeDocument/2006/relationships/slide" Target="slides/slide2.xml" /><Relationship Id="rId19" Type="http://schemas.openxmlformats.org/officeDocument/2006/relationships/viewProps" Target="viewProps.xml" /><Relationship Id="rId17" Type="http://schemas.openxmlformats.org/officeDocument/2006/relationships/presProps" Target="presProps.xml" /><Relationship Id="rId6" Type="http://schemas.openxmlformats.org/officeDocument/2006/relationships/slide" Target="slides/slide6.xml" /><Relationship Id="rId15" Type="http://schemas.openxmlformats.org/officeDocument/2006/relationships/slide" Target="slides/slide15.xml" /><Relationship Id="rId13" Type="http://schemas.openxmlformats.org/officeDocument/2006/relationships/slide" Target="slides/slide13.xml" /><Relationship Id="rId16" Type="http://schemas.openxmlformats.org/officeDocument/2006/relationships/notesMaster" Target="notesMasters/notesMaster1.xml" /><Relationship Id="rId14" Type="http://schemas.openxmlformats.org/officeDocument/2006/relationships/slide" Target="slides/slide14.xml" /><Relationship Id="rId5" Type="http://schemas.openxmlformats.org/officeDocument/2006/relationships/slide" Target="slides/slide5.xml" /><Relationship Id="rId4" Type="http://schemas.openxmlformats.org/officeDocument/2006/relationships/slide" Target="slides/slide4.xml" /><Relationship Id="rId18" Type="http://schemas.openxmlformats.org/officeDocument/2006/relationships/tableStyles" Target="tableStyles.xml" /><Relationship Id="rId1" Type="http://schemas.openxmlformats.org/officeDocument/2006/relationships/slide" Target="slides/slide1.xml" /><Relationship Id="rId12" Type="http://schemas.openxmlformats.org/officeDocument/2006/relationships/slide" Target="slides/slide12.xml" /><Relationship Id="rId11" Type="http://schemas.openxmlformats.org/officeDocument/2006/relationships/slide" Target="slides/slide11.xml" /><Relationship Id="rId10" Type="http://schemas.openxmlformats.org/officeDocument/2006/relationships/slide" Target="slides/slide10.xml" /><Relationship Id="rId0" Type="http://schemas.openxmlformats.org/officeDocument/2006/relationships/slideMaster" Target="slideMasters/slide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6.sv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6.svg" /><Relationship Id="rId3" Type="http://schemas.openxmlformats.org/officeDocument/2006/relationships/image" Target="media/image21.svg" /><Relationship Id="rId5" Type="http://schemas.openxmlformats.org/officeDocument/2006/relationships/image" Target="media/image23.svg" /><Relationship Id="rId2" Type="http://schemas.openxmlformats.org/officeDocument/2006/relationships/image" Target="media/image20.svg" /><Relationship Id="rId4" Type="http://schemas.openxmlformats.org/officeDocument/2006/relationships/image" Target="media/image22.sv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4" Type="http://schemas.openxmlformats.org/officeDocument/2006/relationships/image" Target="media/image27.png" /><Relationship Id="rId1" Type="http://schemas.openxmlformats.org/officeDocument/2006/relationships/image" Target="media/image24.png" /><Relationship Id="rId3" Type="http://schemas.openxmlformats.org/officeDocument/2006/relationships/image" Target="media/image26.png" /><Relationship Id="rId2" Type="http://schemas.openxmlformats.org/officeDocument/2006/relationships/image" Target="media/image25.pn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2" Type="http://schemas.openxmlformats.org/officeDocument/2006/relationships/image" Target="media/image3.svg" /><Relationship Id="rId5" Type="http://schemas.openxmlformats.org/officeDocument/2006/relationships/image" Target="media/image6.svg" /><Relationship Id="rId4" Type="http://schemas.openxmlformats.org/officeDocument/2006/relationships/image" Target="media/image5.sv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Relationship Id="rId3" Type="http://schemas.openxmlformats.org/officeDocument/2006/relationships/image" Target="media/image4.svg" /></Relationships>
</file>

<file path=ppt/slides/_rels/slide12.xml.rels><?xml version="1.0" encoding="UTF-8" standalone="yes"?><Relationships xmlns="http://schemas.openxmlformats.org/package/2006/relationships"><Relationship Id="rId9" Type="http://schemas.openxmlformats.org/officeDocument/2006/relationships/image" Target="media/image15.svg" /><Relationship Id="rId7" Type="http://schemas.openxmlformats.org/officeDocument/2006/relationships/image" Target="media/image13.svg" /><Relationship Id="rId6" Type="http://schemas.openxmlformats.org/officeDocument/2006/relationships/image" Target="media/image12.svg" /><Relationship Id="rId2" Type="http://schemas.openxmlformats.org/officeDocument/2006/relationships/image" Target="media/image8.svg" /><Relationship Id="rId1" Type="http://schemas.openxmlformats.org/officeDocument/2006/relationships/image" Target="media/image7.svg" /><Relationship Id="rId4" Type="http://schemas.openxmlformats.org/officeDocument/2006/relationships/image" Target="media/image10.svg" /><Relationship Id="rId8" Type="http://schemas.openxmlformats.org/officeDocument/2006/relationships/image" Target="media/image14.svg" /><Relationship Id="rId3" Type="http://schemas.openxmlformats.org/officeDocument/2006/relationships/image" Target="media/image9.svg" /><Relationship Id="rId5" Type="http://schemas.openxmlformats.org/officeDocument/2006/relationships/image" Target="media/image11.sv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2" Type="http://schemas.openxmlformats.org/officeDocument/2006/relationships/image" Target="media/image17.svg" /><Relationship Id="rId1" Type="http://schemas.openxmlformats.org/officeDocument/2006/relationships/image" Target="media/image16.sv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2" Type="http://schemas.openxmlformats.org/officeDocument/2006/relationships/image" Target="media/image18.svg" /><Relationship Id="rId1" Type="http://schemas.openxmlformats.org/officeDocument/2006/relationships/image" Target="media/image10.sv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19.pn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6F1E6', padding: 0, position: 'relative', overflow: 'hidden' }}&gt;&#10;    {/* 手账云朵氛围 */}&#10;    &lt;Box style={{ position: 'absolute', top: -70, left: -90, width: 400, height: 230, borderRadius: '50%', background: '#E4EDD8', opacity: 0.55 }} /&gt;&#10;    &lt;Box style={{ position: 'absolute', top: -50, left: 230, width: 320, height: 180, borderRadius: '50%', background: '#EFE6D6', opacity: 0.6 }} /&gt;&#10;    &lt;Box style={{ position: 'absolute', top: -30, left: 480, width: 240, height: 140, borderRadius: '50%', background: '#E4EDD8', opacity: 0.45 }} /&gt;&#10;    &lt;Box style={{ position: 'absolute', bottom: -110, right: -70, width: 440, height: 270, borderRadius: '50%', background: '#E4EDD8', opacity: 0.5 }} /&gt;&#10;&#10;    &lt;Box style={{ position: 'relative', zIndex: 1, flexDirection: 'row', alignItems: 'center', height: '100%', padding: '0 72px', gap: 56 }}&gt;&#10;        {/* 左侧文字 */}&#10;        &lt;Box style={{ width: 560, gap: 0 }}&gt;&#10;            &lt;Text style={{ fontFamily: 'Caveat, cursive', fontSize: 26, fontWeight: 700, color: '#8EA47C', marginBottom: 10 }}&gt;&#10;                Good Journey!&#10;            &lt;/Text&gt;&#10;            &lt;Text style={{ fontFamily: 'Noto Serif SC, serif', fontSize: 84, fontWeight: 900, color: '#3C342C', lineHeight: 1.1, letterSpacing: 4 }}&gt;&#10;                途个惊喜&#10;            &lt;/Text&gt;&#10;            &lt;Box style={{ width: 72, height: 8, borderRadius: 4, background: '#8EA47C', marginTop: 22, marginBottom: 22 }} /&gt;&#10;            &lt;Text style={{ fontFamily: 'Noto Serif SC, serif', fontSize: 26, fontWeight: 700, color: '#6C7E58', marginBottom: 18 }}&gt;&#10;                随盒出发，途个好心情&#10;            &lt;/Text&gt;&#10;            &lt;Text style={{ fontFamily: 'Noto Sans SC, sans-serif', fontSize: 16, color: '#8F8376', lineHeight: 1.8, marginBottom: 30 }}&gt;&#10;                面向 Z 世代的惊喜旅游盲盒攻略平台——&#10;                &lt;br /&gt;&#10;                把「想出发」变成一次轻松、有趣、能被记住的旅程。&#10;            &lt;/Text&gt;&#10;            &lt;Box style={{ flexDirection: 'row', alignItems: 'center', gap: 12 }}&gt;&#10;                &lt;Box style={{ background: '#6C7E58', borderRadius: 999, padding: '8px 20px' }}&gt;&#10;                    &lt;Text style={{ fontFamily: 'Noto Sans SC, sans-serif', fontSize: 14, fontWeight: 600, color: '#FFFDF8' }}&gt;&#10;                        创新创业项目介绍&#10;                    &lt;/Text&gt;&#10;                &lt;/Box&gt;&#10;                &lt;Text style={{ fontFamily: 'Caveat, cursive', fontSize: 18, color: '#8F8376' }}&gt;&#10;                    Open a New Route&#10;                &lt;/Text&gt;&#10;            &lt;/Box&gt;&#10;        &lt;/Box&gt;&#10;&#10;        {/* 右侧插画 */}&#10;        &lt;Box style={{ flex: 1, alignItems: 'center', justifyContent: 'center' }}&gt;&#10;            &lt;Box style={{&#10;                width: 500,&#10;                height: 400,&#10;                borderRadius: 24,&#10;                overflow: 'hidden',&#10;                background: '#FFFDF8',&#10;                border: '1px solid #E7DCCE',&#10;                boxShadow: '0 18px 40px rgba(60,52,44,0.12)',&#10;            }}&gt;&#10;                &lt;Image src=&quot;assets/cover_dog_box.png&quot; style={{ width: '100%', height: '100%', objectFit: 'cover' }} /&gt;&#10;            &lt;/Box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6F1E6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-857250" y="-666750"/>
            <a:ext cx="3810000" cy="2190750"/>
          </a:xfrm>
          <a:custGeom>
            <a:pathLst>
              <a:path w="400" h="230">
                <a:moveTo>
                  <a:pt x="384" y="70"/>
                </a:moveTo>
                <a:cubicBezTo>
                  <a:pt x="397" y="88"/>
                  <a:pt x="402" y="109"/>
                  <a:pt x="398" y="131"/>
                </a:cubicBezTo>
                <a:cubicBezTo>
                  <a:pt x="394" y="152"/>
                  <a:pt x="381" y="170"/>
                  <a:pt x="363" y="182"/>
                </a:cubicBezTo>
                <a:cubicBezTo>
                  <a:pt x="324" y="210"/>
                  <a:pt x="278" y="226"/>
                  <a:pt x="230" y="229"/>
                </a:cubicBezTo>
                <a:lnTo>
                  <a:pt x="225" y="229"/>
                </a:lnTo>
                <a:lnTo>
                  <a:pt x="220" y="229"/>
                </a:lnTo>
                <a:lnTo>
                  <a:pt x="215" y="230"/>
                </a:lnTo>
                <a:lnTo>
                  <a:pt x="210" y="230"/>
                </a:lnTo>
                <a:lnTo>
                  <a:pt x="205" y="230"/>
                </a:lnTo>
                <a:lnTo>
                  <a:pt x="200" y="230"/>
                </a:lnTo>
                <a:lnTo>
                  <a:pt x="195" y="230"/>
                </a:lnTo>
                <a:lnTo>
                  <a:pt x="190" y="230"/>
                </a:lnTo>
                <a:lnTo>
                  <a:pt x="185" y="230"/>
                </a:lnTo>
                <a:lnTo>
                  <a:pt x="180" y="229"/>
                </a:lnTo>
                <a:lnTo>
                  <a:pt x="175" y="229"/>
                </a:lnTo>
                <a:lnTo>
                  <a:pt x="170" y="229"/>
                </a:lnTo>
                <a:cubicBezTo>
                  <a:pt x="142" y="226"/>
                  <a:pt x="116" y="221"/>
                  <a:pt x="90" y="211"/>
                </a:cubicBezTo>
                <a:lnTo>
                  <a:pt x="90" y="70"/>
                </a:lnTo>
                <a:lnTo>
                  <a:pt x="384" y="70"/>
                </a:lnTo>
                <a:close/>
              </a:path>
            </a:pathLst>
          </a:custGeom>
          <a:solidFill>
            <a:srgbClr val="E4EDD8">
              <a:alpha val="55000"/>
            </a:srgbClr>
          </a:soli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2190750" y="-476250"/>
            <a:ext cx="3048000" cy="1714500"/>
          </a:xfrm>
          <a:custGeom>
            <a:pathLst>
              <a:path w="320" h="180">
                <a:moveTo>
                  <a:pt x="304" y="51"/>
                </a:moveTo>
                <a:cubicBezTo>
                  <a:pt x="316" y="64"/>
                  <a:pt x="322" y="81"/>
                  <a:pt x="319" y="98"/>
                </a:cubicBezTo>
                <a:cubicBezTo>
                  <a:pt x="317" y="116"/>
                  <a:pt x="307" y="131"/>
                  <a:pt x="293" y="140"/>
                </a:cubicBezTo>
                <a:cubicBezTo>
                  <a:pt x="205" y="200"/>
                  <a:pt x="88" y="192"/>
                  <a:pt x="10" y="121"/>
                </a:cubicBezTo>
                <a:cubicBezTo>
                  <a:pt x="-5" y="99"/>
                  <a:pt x="-2" y="69"/>
                  <a:pt x="17" y="50"/>
                </a:cubicBezTo>
                <a:lnTo>
                  <a:pt x="303" y="50"/>
                </a:lnTo>
                <a:close/>
              </a:path>
            </a:pathLst>
          </a:custGeom>
          <a:solidFill>
            <a:srgbClr val="EFE6D6">
              <a:alpha val="60000"/>
            </a:srgbClr>
          </a:soli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4572000" y="-285750"/>
            <a:ext cx="2286000" cy="1333500"/>
          </a:xfrm>
          <a:custGeom>
            <a:pathLst>
              <a:path w="240" h="140">
                <a:moveTo>
                  <a:pt x="219" y="31"/>
                </a:moveTo>
                <a:cubicBezTo>
                  <a:pt x="233" y="40"/>
                  <a:pt x="240" y="55"/>
                  <a:pt x="240" y="71"/>
                </a:cubicBezTo>
                <a:cubicBezTo>
                  <a:pt x="240" y="87"/>
                  <a:pt x="231" y="102"/>
                  <a:pt x="218" y="111"/>
                </a:cubicBezTo>
                <a:cubicBezTo>
                  <a:pt x="153" y="156"/>
                  <a:pt x="65" y="149"/>
                  <a:pt x="7" y="94"/>
                </a:cubicBezTo>
                <a:cubicBezTo>
                  <a:pt x="-6" y="72"/>
                  <a:pt x="0" y="44"/>
                  <a:pt x="22" y="30"/>
                </a:cubicBezTo>
                <a:lnTo>
                  <a:pt x="218" y="30"/>
                </a:lnTo>
                <a:close/>
              </a:path>
            </a:pathLst>
          </a:custGeom>
          <a:solidFill>
            <a:srgbClr val="E4EDD8">
              <a:alpha val="45000"/>
            </a:srgbClr>
          </a:solidFill>
          <a:ln/>
        </p:spPr>
        <p:txBody>
          <a:bodyPr/>
          <a:p/>
        </p:txBody>
      </p:sp>
      <p:sp>
        <p:nvSpPr>
          <p:cNvPr id="6" name=""/>
          <p:cNvSpPr/>
          <p:nvPr/>
        </p:nvSpPr>
        <p:spPr>
          <a:xfrm rot="0" flipH="0" flipV="0">
            <a:off x="8667750" y="5334000"/>
            <a:ext cx="4191000" cy="2571750"/>
          </a:xfrm>
          <a:custGeom>
            <a:pathLst>
              <a:path w="440" h="270">
                <a:moveTo>
                  <a:pt x="226" y="0"/>
                </a:moveTo>
                <a:lnTo>
                  <a:pt x="231" y="0"/>
                </a:lnTo>
                <a:lnTo>
                  <a:pt x="237" y="0"/>
                </a:lnTo>
                <a:lnTo>
                  <a:pt x="242" y="1"/>
                </a:lnTo>
                <a:lnTo>
                  <a:pt x="248" y="1"/>
                </a:lnTo>
                <a:lnTo>
                  <a:pt x="253" y="2"/>
                </a:lnTo>
                <a:lnTo>
                  <a:pt x="259" y="2"/>
                </a:lnTo>
                <a:lnTo>
                  <a:pt x="264" y="3"/>
                </a:lnTo>
                <a:lnTo>
                  <a:pt x="270" y="3"/>
                </a:lnTo>
                <a:lnTo>
                  <a:pt x="275" y="4"/>
                </a:lnTo>
                <a:lnTo>
                  <a:pt x="280" y="5"/>
                </a:lnTo>
                <a:lnTo>
                  <a:pt x="285" y="6"/>
                </a:lnTo>
                <a:lnTo>
                  <a:pt x="291" y="7"/>
                </a:lnTo>
                <a:lnTo>
                  <a:pt x="296" y="8"/>
                </a:lnTo>
                <a:lnTo>
                  <a:pt x="301" y="9"/>
                </a:lnTo>
                <a:lnTo>
                  <a:pt x="306" y="11"/>
                </a:lnTo>
                <a:lnTo>
                  <a:pt x="311" y="12"/>
                </a:lnTo>
                <a:lnTo>
                  <a:pt x="315" y="13"/>
                </a:lnTo>
                <a:cubicBezTo>
                  <a:pt x="334" y="19"/>
                  <a:pt x="353" y="27"/>
                  <a:pt x="370" y="36"/>
                </a:cubicBezTo>
                <a:lnTo>
                  <a:pt x="370" y="160"/>
                </a:lnTo>
                <a:lnTo>
                  <a:pt x="4" y="160"/>
                </a:lnTo>
                <a:cubicBezTo>
                  <a:pt x="-7" y="111"/>
                  <a:pt x="18" y="60"/>
                  <a:pt x="64" y="40"/>
                </a:cubicBezTo>
                <a:cubicBezTo>
                  <a:pt x="83" y="28"/>
                  <a:pt x="104" y="19"/>
                  <a:pt x="125" y="13"/>
                </a:cubicBezTo>
                <a:lnTo>
                  <a:pt x="129" y="12"/>
                </a:lnTo>
                <a:lnTo>
                  <a:pt x="134" y="11"/>
                </a:lnTo>
                <a:lnTo>
                  <a:pt x="139" y="9"/>
                </a:lnTo>
                <a:lnTo>
                  <a:pt x="144" y="8"/>
                </a:lnTo>
                <a:lnTo>
                  <a:pt x="149" y="7"/>
                </a:lnTo>
                <a:lnTo>
                  <a:pt x="155" y="6"/>
                </a:lnTo>
                <a:lnTo>
                  <a:pt x="160" y="5"/>
                </a:lnTo>
                <a:lnTo>
                  <a:pt x="165" y="4"/>
                </a:lnTo>
                <a:lnTo>
                  <a:pt x="170" y="3"/>
                </a:lnTo>
                <a:lnTo>
                  <a:pt x="176" y="3"/>
                </a:lnTo>
                <a:lnTo>
                  <a:pt x="181" y="2"/>
                </a:lnTo>
                <a:lnTo>
                  <a:pt x="187" y="2"/>
                </a:lnTo>
                <a:lnTo>
                  <a:pt x="192" y="1"/>
                </a:lnTo>
                <a:lnTo>
                  <a:pt x="198" y="1"/>
                </a:lnTo>
                <a:lnTo>
                  <a:pt x="203" y="0"/>
                </a:lnTo>
                <a:lnTo>
                  <a:pt x="209" y="0"/>
                </a:lnTo>
                <a:lnTo>
                  <a:pt x="214" y="0"/>
                </a:lnTo>
                <a:lnTo>
                  <a:pt x="220" y="0"/>
                </a:lnTo>
                <a:close/>
              </a:path>
            </a:pathLst>
          </a:custGeom>
          <a:solidFill>
            <a:srgbClr val="E4EDD8">
              <a:alpha val="50000"/>
            </a:srgbClr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85800" y="1581150"/>
            <a:ext cx="53340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8EA47C"/>
                </a:solidFill>
                <a:latin typeface="Caveat"/>
                <a:ea typeface="Caveat"/>
              </a:rPr>
              <a:t>Good Journey!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85800" y="1981200"/>
            <a:ext cx="5334000" cy="105727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6300" b="1" spc="300">
                <a:solidFill>
                  <a:srgbClr val="3C342C"/>
                </a:solidFill>
                <a:latin typeface="Noto Serif SC"/>
                <a:ea typeface="Noto Serif SC"/>
              </a:rPr>
              <a:t>途个惊喜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685800" y="3248025"/>
            <a:ext cx="685800" cy="76200"/>
          </a:xfrm>
          <a:prstGeom prst="roundRect">
            <a:avLst>
              <a:gd name="adj" fmla="val 50000"/>
            </a:avLst>
          </a:prstGeom>
          <a:solidFill>
            <a:srgbClr val="8EA47C"/>
          </a:solidFill>
          <a:ln/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685800" y="3533775"/>
            <a:ext cx="53340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6C7E58"/>
                </a:solidFill>
                <a:latin typeface="Noto Serif SC"/>
                <a:ea typeface="Noto Serif SC"/>
              </a:rPr>
              <a:t>随盒出发，途个好心情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685800" y="4010025"/>
            <a:ext cx="5334000" cy="6667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200">
                <a:solidFill>
                  <a:srgbClr val="8F8376"/>
                </a:solidFill>
                <a:latin typeface="Noto Sans SC"/>
                <a:ea typeface="Noto Sans SC"/>
              </a:rPr>
              <a:t>面向</a:t>
            </a:r>
            <a:r>
              <a:rPr lang="en-US" sz="1200">
                <a:solidFill>
                  <a:srgbClr val="8F8376"/>
                </a:solidFill>
                <a:latin typeface="Noto Sans SC"/>
                <a:ea typeface="Noto Sans SC"/>
              </a:rPr>
              <a:t> Z </a:t>
            </a:r>
            <a:r>
              <a:rPr lang="zh-CN" sz="1200">
                <a:solidFill>
                  <a:srgbClr val="8F8376"/>
                </a:solidFill>
                <a:latin typeface="Noto Sans SC"/>
                <a:ea typeface="Noto Sans SC"/>
              </a:rPr>
              <a:t>世代的惊喜旅游盲盒攻略平台——</a:t>
            </a:r>
            <a:endParaRPr/>
          </a:p>
          <a:p>
            <a:pPr>
              <a:lnSpc>
                <a:spcPct val="180000"/>
              </a:lnSpc>
            </a:pPr>
            <a:r>
              <a:rPr lang="zh-CN" sz="1200">
                <a:solidFill>
                  <a:srgbClr val="8F8376"/>
                </a:solidFill>
                <a:latin typeface="Noto Sans SC"/>
                <a:ea typeface="Noto Sans SC"/>
              </a:rPr>
              <a:t>把「想出发」变成一次轻松、有趣、能被记住的旅程。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685800" y="4962525"/>
            <a:ext cx="1447800" cy="314325"/>
          </a:xfrm>
          <a:prstGeom prst="roundRect">
            <a:avLst>
              <a:gd name="adj" fmla="val 3027273"/>
            </a:avLst>
          </a:prstGeom>
          <a:solidFill>
            <a:srgbClr val="6C7E58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876300" y="5038725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DF8"/>
                </a:solidFill>
                <a:latin typeface="Noto Sans SC"/>
                <a:ea typeface="Noto Sans SC"/>
              </a:rPr>
              <a:t>创新创业项目介绍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2247900" y="5019675"/>
            <a:ext cx="1466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8F8376"/>
                </a:solidFill>
                <a:latin typeface="Caveat"/>
                <a:ea typeface="Caveat"/>
              </a:rPr>
              <a:t>Open a New Route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6648450" y="1524000"/>
            <a:ext cx="4762500" cy="381000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12700">
            <a:solidFill>
              <a:srgbClr val="E7DCCE"/>
            </a:solidFill>
            <a:prstDash val="solid"/>
          </a:ln>
          <a:effectLst>
            <a:outerShdw blurRad="381000" dist="171450" dir="5400000">
              <a:srgbClr val="3C342C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16" name=""/>
          <p:cNvPicPr>
            <a:picLocks noChangeAspect="1"/>
          </p:cNvPicPr>
          <p:nvPr/>
        </p:nvPicPr>
        <p:blipFill>
          <a:blip r:embed="rId1"/>
          <a:srcRect l="7891" t="0" r="7891" b="0"/>
          <a:stretch>
            <a:fillRect/>
          </a:stretch>
        </p:blipFill>
        <p:spPr>
          <a:xfrm rot="0" flipH="0" flipV="0">
            <a:off x="6648450" y="1524000"/>
            <a:ext cx="4762500" cy="3810000"/>
          </a:xfrm>
          <a:custGeom>
            <a:pathLst>
              <a:path w="500" h="400">
                <a:moveTo>
                  <a:pt x="477" y="0"/>
                </a:moveTo>
                <a:cubicBezTo>
                  <a:pt x="490" y="0"/>
                  <a:pt x="500" y="11"/>
                  <a:pt x="500" y="24"/>
                </a:cubicBezTo>
                <a:lnTo>
                  <a:pt x="500" y="376"/>
                </a:lnTo>
                <a:cubicBezTo>
                  <a:pt x="500" y="389"/>
                  <a:pt x="489" y="400"/>
                  <a:pt x="476" y="400"/>
                </a:cubicBezTo>
                <a:lnTo>
                  <a:pt x="24" y="400"/>
                </a:lnTo>
                <a:cubicBezTo>
                  <a:pt x="11" y="400"/>
                  <a:pt x="0" y="389"/>
                  <a:pt x="0" y="376"/>
                </a:cubicBezTo>
                <a:lnTo>
                  <a:pt x="0" y="24"/>
                </a:lnTo>
                <a:cubicBezTo>
                  <a:pt x="0" y="11"/>
                  <a:pt x="11" y="0"/>
                  <a:pt x="24" y="0"/>
                </a:cubicBezTo>
                <a:lnTo>
                  <a:pt x="476" y="0"/>
                </a:lnTo>
                <a:close/>
              </a:path>
            </a:pathLst>
          </a:custGeom>
          <a:ln/>
        </p:spPr>
      </p:pic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237" name="" descr="&lt;Slide style={{ width: 1280, height: 720, background: '#F6F1E6', padding: '20px 64px', position: 'relative', overflow: 'hidden' }}&gt;&#10;    &lt;Box style={{ position: 'absolute', top: -80, right: -60, width: 300, height: 190, borderRadius: '50%', background: '#E4EDD8', opacity: 0.45 }} /&gt;&#10;    &lt;Box style={{ position: 'absolute', bottom: -120, left: -80, width: 340, height: 210, borderRadius: '50%', background: '#EFE6D6', opacity: 0.5 }} /&gt;&#10;&#10;    {/* A 标题块 */}&#10;    &lt;Box style={{ height: 100, flexDirection: 'row', alignItems: 'flex-end', justifyContent: 'space-between', position: 'relative', zIndex: 1 }}&gt;&#10;        &lt;Box style={{ gap: 4, paddingBottom: 6 }}&gt;&#10;            &lt;Text style={{ fontFamily: 'Caveat, cursive', fontSize: 17, fontWeight: 700, color: '#8EA47C', letterSpacing: 1 }}&gt;01 · Opportunity&lt;/Text&gt;&#10;            &lt;Text style={{ fontFamily: 'Noto Serif SC, serif', fontSize: 34, fontWeight: 900, color: '#3C342C' }}&gt;项目契机&lt;/Text&gt;&#10;            &lt;Box style={{ width: 56, height: 6, borderRadius: 3, background: '#8EA47C', marginTop: 6 }} /&gt;&#10;        &lt;/Box&gt;&#10;        &lt;Text style={{ fontFamily: 'Noto Sans SC, sans-serif', fontSize: 15, color: '#8F8376', width: 460, textAlign: 'right', lineHeight: 1.7, paddingBottom: 10 }}&gt;&#10;            年轻人不是不想旅行，只是不想把旅行做成一份项目管理。&#10;        &lt;/Text&gt;&#10;    &lt;/Box&gt;&#10;&#10;    {/* B 内容区 */}&#10;    &lt;Box style={{ height: 520, flexDirection: 'row', gap: 32, position: 'relative', zIndex: 1 }}&gt;&#10;        {/* 左：四个趋势 */}&#10;        &lt;Box style={{ width: '58%', background: '#FFFDF8', borderRadius: 20, border: '1px solid #E7DCCE', boxShadow: '0 4px 16px rgba(60,52,44,0.06)', padding: '8px 28px', justifyContent: 'space-between' }}&gt;&#10;            {[&#10;                { n: '01', t: '轻量出行', d: '周末微度假、城市周边游，成了年轻人最高频的出行方式。' },&#10;                { n: '02', t: '情绪价值', d: '他们想被治愈、被点亮，不想再被信息淹没。' },&#10;                { n: '03', t: '兴趣匹配', d: '徒步、美食、拍照、放空——圈层需求越来越具体。' },&#10;                { n: '04', t: '安全社交', d: '想结伴，但不想交换隐私，更不想被随机撮合。' },&#10;            ].map((item, idx) =&gt; (&#10;                &lt;Box key={idx} style={{&#10;                    flexDirection: 'row',&#10;                    alignItems: 'center',&#10;                    gap: 20,&#10;                    height: 118,&#10;                    borderBottom: idx &lt; 3 ? '1px solid #E7DCCE' : 'none',&#10;                }}&gt;&#10;                    &lt;Text style={{ fontFamily: 'Noto Serif SC, serif', fontSize: 30, fontWeight: 900, color: '#C9D6B8', width: 52 }}&gt;{item.n}&lt;/Text&gt;&#10;                    &lt;Box style={{ gap: 6 }}&gt;&#10;                        &lt;Text style={{ fontFamily: 'Noto Serif SC, serif', fontSize: 20, fontWeight: 700, color: '#3C342C' }}&gt;{item.t}&lt;/Text&gt;&#10;                        &lt;Text style={{ fontFamily: 'Noto Sans SC, sans-serif', fontSize: 15, color: '#8F8376', lineHeight: 1.6 }}&gt;{item.d}&lt;/Text&gt;&#10;                    &lt;/Box&gt;&#10;                &lt;/Box&gt;&#10;            ))}&#10;        &lt;/Box&gt;&#10;&#10;        {/* 右：行业判断 */}&#10;        &lt;Box style={{&#10;            flex: 1,&#10;            borderRadius: 20,&#10;            background: 'linear-gradient(135deg, #8EA47C 0%, #6C7E58 100%)',&#10;            padding: 30,&#10;            boxShadow: '0 12px 28px rgba(108,126,88,0.28)',&#10;        }}&gt;&#10;            &lt;Text style={{ fontFamily: 'Caveat, cursive', fontSize: 20, fontWeight: 700, color: 'rgba(255,253,248,0.85)', marginBottom: 18 }}&gt;Industry View&lt;/Text&gt;&#10;            &lt;Text style={{ fontFamily: 'Noto Serif SC, serif', fontSize: 24, fontWeight: 700, color: '#FFFDF8', lineHeight: 1.7 }}&gt;&#10;                传统文旅是「大市场、高饱和」；&#10;                &lt;br /&gt;&#10;                青年轻文旅是「需求增长、产品稀缺」。&#10;            &lt;/Text&gt;&#10;            &lt;Box style={{ width: 44, height: 4, borderRadius: 2, background: 'rgba(255,253,248,0.6)', marginTop: 22, marginBottom: 22 }} /&gt;&#10;            &lt;Text style={{ fontFamily: 'Noto Serif SC, serif', fontSize: 20, fontWeight: 900, color: '#FFFDF8', lineHeight: 1.6 }}&gt;&#10;                传统攻略的入口，正在失效。&#10;            &lt;/Text&gt;&#10;            &lt;Box style={{ marginTop: 'auto', paddingTop: 20 }}&gt;&#10;                &lt;Text style={{ fontFamily: 'Noto Sans SC, sans-serif', fontSize: 12, color: 'rgba(255,253,248,0.72)', lineHeight: 1.7 }}&gt;&#10;                    依据：项目组市场调研与项目契机材料；正式申报时可补充官方统计口径。&#10;                &lt;/Text&gt;&#10;            &lt;/Box&gt;&#10;        &lt;/Box&gt;&#10;    &lt;/Box&gt;&#10;&#10;    {/* C 页脚 */}&#10;    &lt;Box style={{ height: 60, flexDirection: 'row', alignItems: 'center', justifyContent: 'space-between', borderTop: '1px solid #E7DCCE', position: 'relative', zIndex: 1 }}&gt;&#10;        &lt;Text style={{ fontFamily: 'Noto Sans SC, sans-serif', fontSize: 13, color: '#8F8376' }}&gt;途个惊喜 · 随盒出发&lt;/Text&gt;&#10;        &lt;Text style={{ fontFamily: 'Noto Sans SC, sans-serif', fontSize: 13, color: '#8F8376' }}&gt;02 / 1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6F1E6"/>
          </a:solidFill>
          <a:ln/>
        </p:spPr>
        <p:txBody>
          <a:bodyPr/>
          <a:p/>
        </p:txBody>
      </p:sp>
      <p:sp>
        <p:nvSpPr>
          <p:cNvPr id="239" name=""/>
          <p:cNvSpPr/>
          <p:nvPr/>
        </p:nvSpPr>
        <p:spPr>
          <a:xfrm rot="0" flipH="0" flipV="0">
            <a:off x="9906000" y="-762000"/>
            <a:ext cx="2857500" cy="1809750"/>
          </a:xfrm>
          <a:custGeom>
            <a:pathLst>
              <a:path w="300" h="190">
                <a:moveTo>
                  <a:pt x="240" y="171"/>
                </a:moveTo>
                <a:cubicBezTo>
                  <a:pt x="161" y="211"/>
                  <a:pt x="66" y="192"/>
                  <a:pt x="8" y="125"/>
                </a:cubicBezTo>
                <a:cubicBezTo>
                  <a:pt x="0" y="112"/>
                  <a:pt x="-2" y="95"/>
                  <a:pt x="2" y="80"/>
                </a:cubicBezTo>
                <a:lnTo>
                  <a:pt x="240" y="80"/>
                </a:lnTo>
                <a:close/>
              </a:path>
            </a:pathLst>
          </a:custGeom>
          <a:solidFill>
            <a:srgbClr val="E4EDD8">
              <a:alpha val="45000"/>
            </a:srgbClr>
          </a:solidFill>
          <a:ln/>
        </p:spPr>
        <p:txBody>
          <a:bodyPr/>
          <a:p/>
        </p:txBody>
      </p:sp>
      <p:sp>
        <p:nvSpPr>
          <p:cNvPr id="240" name=""/>
          <p:cNvSpPr/>
          <p:nvPr/>
        </p:nvSpPr>
        <p:spPr>
          <a:xfrm rot="0" flipH="0" flipV="0">
            <a:off x="-762000" y="6000750"/>
            <a:ext cx="3238500" cy="2000250"/>
          </a:xfrm>
          <a:custGeom>
            <a:pathLst>
              <a:path w="340" h="210">
                <a:moveTo>
                  <a:pt x="174" y="0"/>
                </a:moveTo>
                <a:cubicBezTo>
                  <a:pt x="241" y="-7"/>
                  <a:pt x="306" y="27"/>
                  <a:pt x="337" y="86"/>
                </a:cubicBezTo>
                <a:lnTo>
                  <a:pt x="338" y="89"/>
                </a:lnTo>
                <a:lnTo>
                  <a:pt x="338" y="90"/>
                </a:lnTo>
                <a:lnTo>
                  <a:pt x="80" y="90"/>
                </a:lnTo>
                <a:lnTo>
                  <a:pt x="80" y="16"/>
                </a:lnTo>
                <a:cubicBezTo>
                  <a:pt x="109" y="5"/>
                  <a:pt x="139" y="0"/>
                  <a:pt x="170" y="0"/>
                </a:cubicBezTo>
                <a:close/>
              </a:path>
            </a:pathLst>
          </a:custGeom>
          <a:solidFill>
            <a:srgbClr val="EFE6D6">
              <a:alpha val="50000"/>
            </a:srgbClr>
          </a:solidFill>
          <a:ln/>
        </p:spPr>
        <p:txBody>
          <a:bodyPr/>
          <a:p/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609600" y="304800"/>
            <a:ext cx="14001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 spc="75">
                <a:solidFill>
                  <a:srgbClr val="8EA47C"/>
                </a:solidFill>
                <a:latin typeface="Caveat"/>
                <a:ea typeface="Caveat"/>
              </a:rPr>
              <a:t>01 · Opportunity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609600" y="542925"/>
            <a:ext cx="14001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3C342C"/>
                </a:solidFill>
                <a:latin typeface="Noto Serif SC"/>
                <a:ea typeface="Noto Serif SC"/>
              </a:rPr>
              <a:t>项目契机</a:t>
            </a:r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609600" y="1028700"/>
            <a:ext cx="533400" cy="57150"/>
          </a:xfrm>
          <a:prstGeom prst="roundRect">
            <a:avLst>
              <a:gd name="adj" fmla="val 50000"/>
            </a:avLst>
          </a:prstGeom>
          <a:solidFill>
            <a:srgbClr val="8EA47C"/>
          </a:solidFill>
          <a:ln/>
        </p:spPr>
        <p:txBody>
          <a:bodyPr/>
          <a:p/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7200900" y="752475"/>
            <a:ext cx="4381500" cy="390525"/>
          </a:xfrm>
          <a:prstGeom prst="rect"/>
        </p:spPr>
        <p:txBody>
          <a:bodyPr wrap="none" lIns="0" tIns="0" rIns="0" bIns="71438"/>
          <a:p>
            <a:pPr algn="r">
              <a:lnSpc>
                <a:spcPct val="170000"/>
              </a:lnSpc>
            </a:pPr>
            <a:r>
              <a:rPr lang="zh-CN" sz="1125">
                <a:solidFill>
                  <a:srgbClr val="8F8376"/>
                </a:solidFill>
                <a:latin typeface="Noto Sans SC"/>
                <a:ea typeface="Noto Sans SC"/>
              </a:rPr>
              <a:t>年轻人不是不想旅行，只是不想把旅行做成一份项目管理。</a:t>
            </a:r>
            <a:endParaRPr/>
          </a:p>
        </p:txBody>
      </p:sp>
      <p:sp>
        <p:nvSpPr>
          <p:cNvPr id="245" name=""/>
          <p:cNvSpPr/>
          <p:nvPr/>
        </p:nvSpPr>
        <p:spPr>
          <a:xfrm rot="0" flipH="0" flipV="0">
            <a:off x="609600" y="1143000"/>
            <a:ext cx="6362700" cy="4953000"/>
          </a:xfrm>
          <a:prstGeom prst="roundRect">
            <a:avLst>
              <a:gd name="adj" fmla="val 3846"/>
            </a:avLst>
          </a:prstGeom>
          <a:solidFill>
            <a:srgbClr val="FFFDF8"/>
          </a:solidFill>
          <a:ln w="12700">
            <a:solidFill>
              <a:srgbClr val="E7DCCE"/>
            </a:solidFill>
            <a:prstDash val="solid"/>
          </a:ln>
          <a:effectLst>
            <a:outerShdw blurRad="152400" dist="38100" dir="5400000">
              <a:srgbClr val="3C342C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46" name=""/>
          <p:cNvSpPr/>
          <p:nvPr/>
        </p:nvSpPr>
        <p:spPr>
          <a:xfrm rot="0" flipH="0" flipV="0">
            <a:off x="876300" y="1219200"/>
            <a:ext cx="5829300" cy="1123950"/>
          </a:xfrm>
          <a:custGeom>
            <a:pathLst>
              <a:path w="612" h="118">
                <a:moveTo>
                  <a:pt x="0" y="117"/>
                </a:moveTo>
                <a:lnTo>
                  <a:pt x="612" y="117"/>
                </a:lnTo>
                <a:lnTo>
                  <a:pt x="612" y="118"/>
                </a:lnTo>
                <a:lnTo>
                  <a:pt x="0" y="118"/>
                </a:lnTo>
                <a:close/>
              </a:path>
            </a:pathLst>
          </a:custGeom>
          <a:solidFill>
            <a:srgbClr val="E7DCCE"/>
          </a:solidFill>
          <a:ln/>
        </p:spPr>
        <p:txBody>
          <a:bodyPr/>
          <a:p/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876300" y="1609725"/>
            <a:ext cx="4953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C9D6B8"/>
                </a:solidFill>
                <a:latin typeface="Noto Serif SC"/>
                <a:ea typeface="Noto Serif SC"/>
              </a:rPr>
              <a:t>01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1562100" y="1495425"/>
            <a:ext cx="3714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3C342C"/>
                </a:solidFill>
                <a:latin typeface="Noto Serif SC"/>
                <a:ea typeface="Noto Serif SC"/>
              </a:rPr>
              <a:t>轻量出行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1562100" y="1781175"/>
            <a:ext cx="37147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8F8376"/>
                </a:solidFill>
                <a:latin typeface="Noto Sans SC"/>
                <a:ea typeface="Noto Sans SC"/>
              </a:rPr>
              <a:t>周末微度假、城市周边游，成了年轻人最高频的出行方式。</a:t>
            </a:r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876300" y="2447925"/>
            <a:ext cx="5829300" cy="1123950"/>
          </a:xfrm>
          <a:custGeom>
            <a:pathLst>
              <a:path w="612" h="118">
                <a:moveTo>
                  <a:pt x="0" y="117"/>
                </a:moveTo>
                <a:lnTo>
                  <a:pt x="612" y="117"/>
                </a:lnTo>
                <a:lnTo>
                  <a:pt x="612" y="118"/>
                </a:lnTo>
                <a:lnTo>
                  <a:pt x="0" y="118"/>
                </a:lnTo>
                <a:close/>
              </a:path>
            </a:pathLst>
          </a:custGeom>
          <a:solidFill>
            <a:srgbClr val="E7DCCE"/>
          </a:solidFill>
          <a:ln/>
        </p:spPr>
        <p:txBody>
          <a:bodyPr/>
          <a:p/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876300" y="2838450"/>
            <a:ext cx="4953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C9D6B8"/>
                </a:solidFill>
                <a:latin typeface="Noto Serif SC"/>
                <a:ea typeface="Noto Serif SC"/>
              </a:rPr>
              <a:t>02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1562100" y="2724150"/>
            <a:ext cx="2857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3C342C"/>
                </a:solidFill>
                <a:latin typeface="Noto Serif SC"/>
                <a:ea typeface="Noto Serif SC"/>
              </a:rPr>
              <a:t>情绪价值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1562100" y="3009900"/>
            <a:ext cx="28575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8F8376"/>
                </a:solidFill>
                <a:latin typeface="Noto Sans SC"/>
                <a:ea typeface="Noto Sans SC"/>
              </a:rPr>
              <a:t>他们想被治愈、被点亮，不想再被信息淹没。</a:t>
            </a:r>
            <a:endParaRPr/>
          </a:p>
        </p:txBody>
      </p:sp>
      <p:sp>
        <p:nvSpPr>
          <p:cNvPr id="254" name=""/>
          <p:cNvSpPr/>
          <p:nvPr/>
        </p:nvSpPr>
        <p:spPr>
          <a:xfrm rot="0" flipH="0" flipV="0">
            <a:off x="876300" y="3667125"/>
            <a:ext cx="5829300" cy="1123950"/>
          </a:xfrm>
          <a:custGeom>
            <a:pathLst>
              <a:path w="612" h="118">
                <a:moveTo>
                  <a:pt x="0" y="117"/>
                </a:moveTo>
                <a:lnTo>
                  <a:pt x="612" y="117"/>
                </a:lnTo>
                <a:lnTo>
                  <a:pt x="612" y="118"/>
                </a:lnTo>
                <a:lnTo>
                  <a:pt x="0" y="118"/>
                </a:lnTo>
                <a:close/>
              </a:path>
            </a:pathLst>
          </a:custGeom>
          <a:solidFill>
            <a:srgbClr val="E7DCCE"/>
          </a:solidFill>
          <a:ln/>
        </p:spPr>
        <p:txBody>
          <a:bodyPr/>
          <a:p/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876300" y="4057650"/>
            <a:ext cx="4953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C9D6B8"/>
                </a:solidFill>
                <a:latin typeface="Noto Serif SC"/>
                <a:ea typeface="Noto Serif SC"/>
              </a:rPr>
              <a:t>03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1562100" y="3943350"/>
            <a:ext cx="3286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3C342C"/>
                </a:solidFill>
                <a:latin typeface="Noto Serif SC"/>
                <a:ea typeface="Noto Serif SC"/>
              </a:rPr>
              <a:t>兴趣匹配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1562100" y="4229100"/>
            <a:ext cx="328612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8F8376"/>
                </a:solidFill>
                <a:latin typeface="Noto Sans SC"/>
                <a:ea typeface="Noto Sans SC"/>
              </a:rPr>
              <a:t>徒步、美食、拍照、放空——圈层需求越来越具体。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876300" y="5286375"/>
            <a:ext cx="4953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C9D6B8"/>
                </a:solidFill>
                <a:latin typeface="Noto Serif SC"/>
                <a:ea typeface="Noto Serif SC"/>
              </a:rPr>
              <a:t>04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1562100" y="5181600"/>
            <a:ext cx="30003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3C342C"/>
                </a:solidFill>
                <a:latin typeface="Noto Serif SC"/>
                <a:ea typeface="Noto Serif SC"/>
              </a:rPr>
              <a:t>安全社交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1562100" y="5467350"/>
            <a:ext cx="300037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8F8376"/>
                </a:solidFill>
                <a:latin typeface="Noto Sans SC"/>
                <a:ea typeface="Noto Sans SC"/>
              </a:rPr>
              <a:t>想结伴，但不想交换隐私，更不想被随机撮合。</a:t>
            </a:r>
            <a:endParaRPr/>
          </a:p>
        </p:txBody>
      </p:sp>
      <p:sp>
        <p:nvSpPr>
          <p:cNvPr id="261" name=""/>
          <p:cNvSpPr/>
          <p:nvPr/>
        </p:nvSpPr>
        <p:spPr>
          <a:xfrm rot="0" flipH="0" flipV="0">
            <a:off x="7277100" y="1143000"/>
            <a:ext cx="4305300" cy="4953000"/>
          </a:xfrm>
          <a:prstGeom prst="roundRect">
            <a:avLst>
              <a:gd name="adj" fmla="val 4425"/>
            </a:avLst>
          </a:prstGeom>
          <a:gradFill>
            <a:gsLst>
              <a:gs pos="0">
                <a:srgbClr val="8EA47C"/>
              </a:gs>
              <a:gs pos="100000">
                <a:srgbClr val="6C7E58"/>
              </a:gs>
            </a:gsLst>
            <a:lin ang="2700000" scaled="1"/>
          </a:gradFill>
          <a:ln/>
          <a:effectLst>
            <a:outerShdw blurRad="266700" dist="114300" dir="5400000">
              <a:srgbClr val="6C7E58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7562850" y="1428750"/>
            <a:ext cx="3733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DF8">
                    <a:alpha val="85000"/>
                  </a:srgbClr>
                </a:solidFill>
                <a:latin typeface="Caveat"/>
                <a:ea typeface="Caveat"/>
              </a:rPr>
              <a:t>Industry View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7562850" y="1828800"/>
            <a:ext cx="3733800" cy="1400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800" b="1">
                <a:solidFill>
                  <a:srgbClr val="FFFDF8"/>
                </a:solidFill>
                <a:latin typeface="Noto Serif SC"/>
                <a:ea typeface="Noto Serif SC"/>
              </a:rPr>
              <a:t>传统文旅是「大市场、高饱和」；</a:t>
            </a:r>
            <a:endParaRPr/>
          </a:p>
          <a:p>
            <a:pPr>
              <a:lnSpc>
                <a:spcPct val="170000"/>
              </a:lnSpc>
            </a:pPr>
            <a:r>
              <a:rPr lang="zh-CN" sz="1800" b="1">
                <a:solidFill>
                  <a:srgbClr val="FFFDF8"/>
                </a:solidFill>
                <a:latin typeface="Noto Serif SC"/>
                <a:ea typeface="Noto Serif SC"/>
              </a:rPr>
              <a:t>青年轻文旅是「需求增长、产品稀缺」。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7562850" y="3438525"/>
            <a:ext cx="419100" cy="38100"/>
          </a:xfrm>
          <a:prstGeom prst="roundRect">
            <a:avLst>
              <a:gd name="adj" fmla="val 50000"/>
            </a:avLst>
          </a:prstGeom>
          <a:solidFill>
            <a:srgbClr val="FFFDF8">
              <a:alpha val="60000"/>
            </a:srgbClr>
          </a:solidFill>
          <a:ln/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7562850" y="3686175"/>
            <a:ext cx="37338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 b="1">
                <a:solidFill>
                  <a:srgbClr val="FFFDF8"/>
                </a:solidFill>
                <a:latin typeface="Noto Serif SC"/>
                <a:ea typeface="Noto Serif SC"/>
              </a:rPr>
              <a:t>传统攻略的入口，正在失效。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7562850" y="5343525"/>
            <a:ext cx="37338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FFFDF8">
                    <a:alpha val="72000"/>
                  </a:srgbClr>
                </a:solidFill>
                <a:latin typeface="Noto Sans SC"/>
                <a:ea typeface="Noto Sans SC"/>
              </a:rPr>
              <a:t>依据：项目组市场调研与项目契机材料；正式申报时可补充官方统计口径。</a:t>
            </a:r>
            <a:endParaRPr/>
          </a:p>
        </p:txBody>
      </p:sp>
      <p:sp>
        <p:nvSpPr>
          <p:cNvPr id="267" name=""/>
          <p:cNvSpPr/>
          <p:nvPr/>
        </p:nvSpPr>
        <p:spPr>
          <a:xfrm rot="0" flipH="0" flipV="0">
            <a:off x="609600" y="6096000"/>
            <a:ext cx="10972800" cy="571500"/>
          </a:xfrm>
          <a:custGeom>
            <a:pathLst>
              <a:path w="1152" h="6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7DCCE"/>
          </a:solidFill>
          <a:ln/>
        </p:spPr>
        <p:txBody>
          <a:bodyPr/>
          <a:p/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609600" y="6315075"/>
            <a:ext cx="1095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途个惊喜</a:t>
            </a:r>
            <a:r>
              <a:rPr lang="en-US" sz="975">
                <a:solidFill>
                  <a:srgbClr val="8F8376"/>
                </a:solidFill>
                <a:latin typeface="Noto Sans SC"/>
                <a:ea typeface="Noto Sans SC"/>
              </a:rPr>
              <a:t> · </a:t>
            </a: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随盒出发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11201400" y="6315075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F8376"/>
                </a:solidFill>
                <a:latin typeface="Noto Sans SC"/>
                <a:ea typeface="Noto Sans SC"/>
              </a:rPr>
              <a:t>02 / 15</a:t>
            </a:r>
            <a:endParaRPr/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270" name="" descr="&lt;Slide style={{ width: 1280, height: 720, background: '#F6F1E6', padding: '20px 64px', position: 'relative', overflow: 'hidden' }}&gt;&#10;    &lt;Box style={{ position: 'absolute', top: -80, right: -60, width: 300, height: 190, borderRadius: '50%', background: '#E4EDD8', opacity: 0.45 }} /&gt;&#10;    &lt;Box style={{ position: 'absolute', bottom: -120, left: -80, width: 340, height: 210, borderRadius: '50%', background: '#EFE6D6', opacity: 0.5 }} /&gt;&#10;&#10;    {/* A 标题块 */}&#10;    &lt;Box style={{ height: 100, flexDirection: 'row', alignItems: 'flex-end', justifyContent: 'space-between', position: 'relative', zIndex: 1 }}&gt;&#10;        &lt;Box style={{ gap: 4, paddingBottom: 6 }}&gt;&#10;            &lt;Text style={{ fontFamily: 'Caveat, cursive', fontSize: 17, fontWeight: 700, color: '#8EA47C', letterSpacing: 1 }}&gt;02 · Market&lt;/Text&gt;&#10;            &lt;Text style={{ fontFamily: 'Noto Serif SC, serif', fontSize: 34, fontWeight: 900, color: '#3C342C' }}&gt;市场空间&lt;/Text&gt;&#10;            &lt;Box style={{ width: 56, height: 6, borderRadius: 3, background: '#8EA47C', marginTop: 6 }} /&gt;&#10;        &lt;/Box&gt;&#10;        &lt;Text style={{ fontFamily: 'Noto Sans SC, sans-serif', fontSize: 15, color: '#8F8376', width: 460, textAlign: 'right', lineHeight: 1.7, paddingBottom: 10 }}&gt;&#10;            市场容量来自高频年轻用户，政策支持来自文旅数字化与青年双创。&#10;        &lt;/Text&gt;&#10;    &lt;/Box&gt;&#10;&#10;    {/* B 内容区 */}&#10;    &lt;Box style={{ height: 520, flexDirection: 'row', gap: 28, position: 'relative', zIndex: 1 }}&gt;&#10;        {/* 左：色块标题栏 */}&#10;        &lt;Box style={{&#10;            width: '30%',&#10;            borderRadius: 20,&#10;            background: 'linear-gradient(160deg, #8EA47C 0%, #6C7E58 100%)',&#10;            padding: 30,&#10;            boxShadow: '0 12px 28px rgba(108,126,88,0.28)',&#10;        }}&gt;&#10;            &lt;Text style={{ fontFamily: 'Caveat, cursive', fontSize: 20, fontWeight: 700, color: 'rgba(255,253,248,0.85)', marginBottom: 16 }}&gt;Four Drivers&lt;/Text&gt;&#10;            &lt;Text style={{ fontFamily: 'Noto Serif SC, serif', fontSize: 30, fontWeight: 900, color: '#FFFDF8', lineHeight: 1.55 }}&gt;&#10;                四股力量，&#10;                &lt;br /&gt;&#10;                把轻量化文旅&#10;                &lt;br /&gt;&#10;                推到新的入口。&#10;            &lt;/Text&gt;&#10;            &lt;Box style={{ marginTop: 'auto' }}&gt;&#10;                &lt;Box style={{ height: 1, background: 'rgba(255,253,248,0.35)', marginBottom: 16 }} /&gt;&#10;                &lt;Box style={{ background: 'rgba(255,253,248,0.16)', borderRadius: 999, padding: '5px 14px', alignSelf: 'flex-start', marginBottom: 12 }}&gt;&#10;                    &lt;Text style={{ fontFamily: 'Noto Sans SC, sans-serif', fontSize: 13, fontWeight: 600, color: '#FFFDF8' }}&gt;切入口&lt;/Text&gt;&#10;                &lt;/Box&gt;&#10;                &lt;Text style={{ fontFamily: 'Noto Sans SC, sans-serif', fontSize: 14, color: 'rgba(255,253,248,0.9)', lineHeight: 1.8 }}&gt;&#10;                    用一款低决策成本的内容产品，先占住「周末去哪儿」的情绪入口。&#10;                &lt;/Text&gt;&#10;            &lt;/Box&gt;&#10;        &lt;/Box&gt;&#10;&#10;        {/* 右：四象限 */}&#10;        &lt;Box style={{ flex: 1, flexDirection: 'row', flexWrap: 'wrap', gap: 20 }}&gt;&#10;            {[&#10;                { tag: '亿级年轻用户', t: '用户基数', d: '18–32 岁年轻群体，是短途文旅的主力消费人群。', j: '人群基数大、决策高频，入口价值明确。' },&#10;                { tag: '省心 + 惊喜', t: '需求增量', d: '「想出游、怕做攻略、怕踩雷、怕纠结」正在成为共性。', j: '痛点普遍且没被满足，新产品有真实空位。' },&#10;                { tag: '轻资产可扩张', t: '复制空间', d: '纯线上内容产品，不受地域、季节和线下场地约束。', j: '边际成本低，跑通一个城市就能复制全国。' },&#10;                { tag: '文旅 × 数字', t: '政策方向', d: '智慧文旅、数字文创、青年双创与网络合规形成支持面。', j: '方向顺势，项目申报与落地都有抓手。' },&#10;            ].map((item, idx) =&gt; (&#10;                &lt;Box key={idx} style={{&#10;                    width: '47%',&#10;                    height: 250,&#10;                    background: '#FFFDF8',&#10;                    borderRadius: 18,&#10;                    border: '1px solid #E7DCCE',&#10;                    boxShadow: '0 4px 16px rgba(60,52,44,0.06)',&#10;                    padding: 22,&#10;                }}&gt;&#10;                    &lt;Box style={{ background: '#E4EDD8', borderRadius: 999, padding: '4px 12px', alignSelf: 'flex-start', marginBottom: 12 }}&gt;&#10;                        &lt;Text style={{ fontFamily: 'Noto Sans SC, sans-serif', fontSize: 13, fontWeight: 600, color: '#6C7E58' }}&gt;{item.tag}&lt;/Text&gt;&#10;                    &lt;/Box&gt;&#10;                    &lt;Text style={{ fontFamily: 'Noto Serif SC, serif', fontSize: 21, fontWeight: 700, color: '#3C342C', marginBottom: 8 }}&gt;{item.t}&lt;/Text&gt;&#10;                    &lt;Text style={{ fontFamily: 'Noto Sans SC, sans-serif', fontSize: 14, color: '#8F8376', lineHeight: 1.65 }}&gt;{item.d}&lt;/Text&gt;&#10;                    &lt;Box style={{ marginTop: 'auto', borderLeft: '3px solid #8EA47C', paddingLeft: 10 }}&gt;&#10;                        &lt;Text style={{ fontFamily: 'Noto Sans SC, sans-serif', fontSize: 13, fontWeight: 600, color: '#3C342C', lineHeight: 1.6 }}&gt;{item.j}&lt;/Text&gt;&#10;                    &lt;/Box&gt;&#10;                &lt;/Box&gt;&#10;            ))}&#10;        &lt;/Box&gt;&#10;    &lt;/Box&gt;&#10;&#10;    {/* C 页脚 */}&#10;    &lt;Box style={{ height: 60, flexDirection: 'row', alignItems: 'center', justifyContent: 'space-between', borderTop: '1px solid #E7DCCE', position: 'relative', zIndex: 1 }}&gt;&#10;        &lt;Text style={{ fontFamily: 'Noto Sans SC, sans-serif', fontSize: 13, color: '#8F8376' }}&gt;途个惊喜 · 随盒出发&lt;/Text&gt;&#10;        &lt;Text style={{ fontFamily: 'Noto Sans SC, sans-serif', fontSize: 13, color: '#8F8376' }}&gt;03 / 1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6F1E6"/>
          </a:solidFill>
          <a:ln/>
        </p:spPr>
        <p:txBody>
          <a:bodyPr/>
          <a:p/>
        </p:txBody>
      </p:sp>
      <p:sp>
        <p:nvSpPr>
          <p:cNvPr id="272" name=""/>
          <p:cNvSpPr/>
          <p:nvPr/>
        </p:nvSpPr>
        <p:spPr>
          <a:xfrm rot="0" flipH="0" flipV="0">
            <a:off x="9906000" y="-762000"/>
            <a:ext cx="2857500" cy="1809750"/>
          </a:xfrm>
          <a:custGeom>
            <a:pathLst>
              <a:path w="300" h="190">
                <a:moveTo>
                  <a:pt x="240" y="171"/>
                </a:moveTo>
                <a:cubicBezTo>
                  <a:pt x="161" y="211"/>
                  <a:pt x="66" y="192"/>
                  <a:pt x="8" y="125"/>
                </a:cubicBezTo>
                <a:cubicBezTo>
                  <a:pt x="0" y="112"/>
                  <a:pt x="-2" y="95"/>
                  <a:pt x="2" y="80"/>
                </a:cubicBezTo>
                <a:lnTo>
                  <a:pt x="240" y="80"/>
                </a:lnTo>
                <a:close/>
              </a:path>
            </a:pathLst>
          </a:custGeom>
          <a:solidFill>
            <a:srgbClr val="E4EDD8">
              <a:alpha val="45000"/>
            </a:srgbClr>
          </a:solidFill>
          <a:ln/>
        </p:spPr>
        <p:txBody>
          <a:bodyPr/>
          <a:p/>
        </p:txBody>
      </p:sp>
      <p:sp>
        <p:nvSpPr>
          <p:cNvPr id="273" name=""/>
          <p:cNvSpPr/>
          <p:nvPr/>
        </p:nvSpPr>
        <p:spPr>
          <a:xfrm rot="0" flipH="0" flipV="0">
            <a:off x="-762000" y="6000750"/>
            <a:ext cx="3238500" cy="2000250"/>
          </a:xfrm>
          <a:custGeom>
            <a:pathLst>
              <a:path w="340" h="210">
                <a:moveTo>
                  <a:pt x="174" y="0"/>
                </a:moveTo>
                <a:cubicBezTo>
                  <a:pt x="241" y="-7"/>
                  <a:pt x="306" y="27"/>
                  <a:pt x="337" y="86"/>
                </a:cubicBezTo>
                <a:lnTo>
                  <a:pt x="338" y="89"/>
                </a:lnTo>
                <a:lnTo>
                  <a:pt x="338" y="90"/>
                </a:lnTo>
                <a:lnTo>
                  <a:pt x="80" y="90"/>
                </a:lnTo>
                <a:lnTo>
                  <a:pt x="80" y="16"/>
                </a:lnTo>
                <a:cubicBezTo>
                  <a:pt x="109" y="5"/>
                  <a:pt x="139" y="0"/>
                  <a:pt x="170" y="0"/>
                </a:cubicBezTo>
                <a:close/>
              </a:path>
            </a:pathLst>
          </a:custGeom>
          <a:solidFill>
            <a:srgbClr val="EFE6D6">
              <a:alpha val="50000"/>
            </a:srgbClr>
          </a:solidFill>
          <a:ln/>
        </p:spPr>
        <p:txBody>
          <a:bodyPr/>
          <a:p/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609600" y="304800"/>
            <a:ext cx="1295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 spc="75">
                <a:solidFill>
                  <a:srgbClr val="8EA47C"/>
                </a:solidFill>
                <a:latin typeface="Caveat"/>
                <a:ea typeface="Caveat"/>
              </a:rPr>
              <a:t>02 · Market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609600" y="542925"/>
            <a:ext cx="1295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3C342C"/>
                </a:solidFill>
                <a:latin typeface="Noto Serif SC"/>
                <a:ea typeface="Noto Serif SC"/>
              </a:rPr>
              <a:t>市场空间</a:t>
            </a:r>
            <a:endParaRPr/>
          </a:p>
        </p:txBody>
      </p:sp>
      <p:sp>
        <p:nvSpPr>
          <p:cNvPr id="276" name=""/>
          <p:cNvSpPr/>
          <p:nvPr/>
        </p:nvSpPr>
        <p:spPr>
          <a:xfrm rot="0" flipH="0" flipV="0">
            <a:off x="609600" y="1028700"/>
            <a:ext cx="533400" cy="57150"/>
          </a:xfrm>
          <a:prstGeom prst="roundRect">
            <a:avLst>
              <a:gd name="adj" fmla="val 50000"/>
            </a:avLst>
          </a:prstGeom>
          <a:solidFill>
            <a:srgbClr val="8EA47C"/>
          </a:solidFill>
          <a:ln/>
        </p:spPr>
        <p:txBody>
          <a:bodyPr/>
          <a:p/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7200900" y="752475"/>
            <a:ext cx="4381500" cy="390525"/>
          </a:xfrm>
          <a:prstGeom prst="rect"/>
        </p:spPr>
        <p:txBody>
          <a:bodyPr wrap="none" lIns="0" tIns="0" rIns="0" bIns="71438"/>
          <a:p>
            <a:pPr algn="r">
              <a:lnSpc>
                <a:spcPct val="170000"/>
              </a:lnSpc>
            </a:pPr>
            <a:r>
              <a:rPr lang="zh-CN" sz="1125">
                <a:solidFill>
                  <a:srgbClr val="8F8376"/>
                </a:solidFill>
                <a:latin typeface="Noto Sans SC"/>
                <a:ea typeface="Noto Sans SC"/>
              </a:rPr>
              <a:t>市场容量来自高频年轻用户，政策支持来自文旅数字化与青年双创。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609600" y="1143000"/>
            <a:ext cx="3295650" cy="4953000"/>
          </a:xfrm>
          <a:prstGeom prst="roundRect">
            <a:avLst>
              <a:gd name="adj" fmla="val 5780"/>
            </a:avLst>
          </a:prstGeom>
          <a:gradFill>
            <a:gsLst>
              <a:gs pos="0">
                <a:srgbClr val="8EA47C"/>
              </a:gs>
              <a:gs pos="100000">
                <a:srgbClr val="6C7E58"/>
              </a:gs>
            </a:gsLst>
            <a:lin ang="4200000" scaled="1"/>
          </a:gradFill>
          <a:ln/>
          <a:effectLst>
            <a:outerShdw blurRad="266700" dist="114300" dir="5400000">
              <a:srgbClr val="6C7E58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895350" y="1428750"/>
            <a:ext cx="2724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DF8">
                    <a:alpha val="85000"/>
                  </a:srgbClr>
                </a:solidFill>
                <a:latin typeface="Caveat"/>
                <a:ea typeface="Caveat"/>
              </a:rPr>
              <a:t>Four Drivers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895350" y="1809750"/>
            <a:ext cx="2724150" cy="16002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2250" b="1">
                <a:solidFill>
                  <a:srgbClr val="FFFDF8"/>
                </a:solidFill>
                <a:latin typeface="Noto Serif SC"/>
                <a:ea typeface="Noto Serif SC"/>
              </a:rPr>
              <a:t>四股力量，</a:t>
            </a:r>
            <a:endParaRPr/>
          </a:p>
          <a:p>
            <a:pPr>
              <a:lnSpc>
                <a:spcPct val="155000"/>
              </a:lnSpc>
            </a:pPr>
            <a:r>
              <a:rPr lang="zh-CN" sz="2250" b="1">
                <a:solidFill>
                  <a:srgbClr val="FFFDF8"/>
                </a:solidFill>
                <a:latin typeface="Noto Serif SC"/>
                <a:ea typeface="Noto Serif SC"/>
              </a:rPr>
              <a:t>把轻量化文旅</a:t>
            </a:r>
            <a:endParaRPr/>
          </a:p>
          <a:p>
            <a:pPr>
              <a:lnSpc>
                <a:spcPct val="155000"/>
              </a:lnSpc>
            </a:pPr>
            <a:r>
              <a:rPr lang="zh-CN" sz="2250" b="1">
                <a:solidFill>
                  <a:srgbClr val="FFFDF8"/>
                </a:solidFill>
                <a:latin typeface="Noto Serif SC"/>
                <a:ea typeface="Noto Serif SC"/>
              </a:rPr>
              <a:t>推到新的入口。</a:t>
            </a:r>
            <a:endParaRPr/>
          </a:p>
        </p:txBody>
      </p:sp>
      <p:sp>
        <p:nvSpPr>
          <p:cNvPr id="281" name=""/>
          <p:cNvSpPr/>
          <p:nvPr/>
        </p:nvSpPr>
        <p:spPr>
          <a:xfrm rot="0" flipH="0" flipV="0">
            <a:off x="895350" y="4705350"/>
            <a:ext cx="2724150" cy="9525"/>
          </a:xfrm>
          <a:prstGeom prst="rect">
            <a:avLst/>
          </a:prstGeom>
          <a:solidFill>
            <a:srgbClr val="FFFDF8">
              <a:alpha val="35000"/>
            </a:srgbClr>
          </a:solidFill>
          <a:ln/>
        </p:spPr>
        <p:txBody>
          <a:bodyPr/>
          <a:p/>
        </p:txBody>
      </p:sp>
      <p:sp>
        <p:nvSpPr>
          <p:cNvPr id="282" name=""/>
          <p:cNvSpPr/>
          <p:nvPr/>
        </p:nvSpPr>
        <p:spPr>
          <a:xfrm rot="0" flipH="0" flipV="0">
            <a:off x="895350" y="4867275"/>
            <a:ext cx="638175" cy="247650"/>
          </a:xfrm>
          <a:prstGeom prst="roundRect">
            <a:avLst>
              <a:gd name="adj" fmla="val 3842308"/>
            </a:avLst>
          </a:prstGeom>
          <a:solidFill>
            <a:srgbClr val="FFFDF8">
              <a:alpha val="16000"/>
            </a:srgbClr>
          </a:solidFill>
          <a:ln/>
        </p:spPr>
        <p:txBody>
          <a:bodyPr/>
          <a:p/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1028700" y="4914900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DF8"/>
                </a:solidFill>
                <a:latin typeface="Noto Sans SC"/>
                <a:ea typeface="Noto Sans SC"/>
              </a:rPr>
              <a:t>切入口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895350" y="5229225"/>
            <a:ext cx="2724150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FFFDF8">
                    <a:alpha val="90000"/>
                  </a:srgbClr>
                </a:solidFill>
                <a:latin typeface="Noto Sans SC"/>
                <a:ea typeface="Noto Sans SC"/>
              </a:rPr>
              <a:t>用一款低决策成本的内容产品，先占住「周末去哪儿」的情绪入口。</a:t>
            </a:r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4171950" y="1143000"/>
            <a:ext cx="3486150" cy="2381250"/>
          </a:xfrm>
          <a:prstGeom prst="roundRect">
            <a:avLst>
              <a:gd name="adj" fmla="val 7200"/>
            </a:avLst>
          </a:prstGeom>
          <a:solidFill>
            <a:srgbClr val="FFFDF8"/>
          </a:solidFill>
          <a:ln w="12700">
            <a:solidFill>
              <a:srgbClr val="E7DCCE"/>
            </a:solidFill>
            <a:prstDash val="solid"/>
          </a:ln>
          <a:effectLst>
            <a:outerShdw blurRad="152400" dist="38100" dir="5400000">
              <a:srgbClr val="3C342C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86" name=""/>
          <p:cNvSpPr/>
          <p:nvPr/>
        </p:nvSpPr>
        <p:spPr>
          <a:xfrm rot="0" flipH="0" flipV="0">
            <a:off x="4381500" y="1352550"/>
            <a:ext cx="971550" cy="228600"/>
          </a:xfrm>
          <a:prstGeom prst="roundRect">
            <a:avLst>
              <a:gd name="adj" fmla="val 4162500"/>
            </a:avLst>
          </a:prstGeom>
          <a:solidFill>
            <a:srgbClr val="E4EDD8"/>
          </a:solidFill>
          <a:ln/>
        </p:spPr>
        <p:txBody>
          <a:bodyPr/>
          <a:p/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4495800" y="1390650"/>
            <a:ext cx="742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6C7E58"/>
                </a:solidFill>
                <a:latin typeface="Noto Sans SC"/>
                <a:ea typeface="Noto Sans SC"/>
              </a:rPr>
              <a:t>亿级年轻用户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4381500" y="1695450"/>
            <a:ext cx="3067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3C342C"/>
                </a:solidFill>
                <a:latin typeface="Noto Serif SC"/>
                <a:ea typeface="Noto Serif SC"/>
              </a:rPr>
              <a:t>用户基数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4381500" y="2019300"/>
            <a:ext cx="3067050" cy="2667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1050">
                <a:solidFill>
                  <a:srgbClr val="8F8376"/>
                </a:solidFill>
                <a:latin typeface="Noto Sans SC"/>
                <a:ea typeface="Noto Sans SC"/>
              </a:rPr>
              <a:t>18–32 </a:t>
            </a:r>
            <a:r>
              <a:rPr lang="zh-CN" sz="1050">
                <a:solidFill>
                  <a:srgbClr val="8F8376"/>
                </a:solidFill>
                <a:latin typeface="Noto Sans SC"/>
                <a:ea typeface="Noto Sans SC"/>
              </a:rPr>
              <a:t>岁年轻群体，是短途文旅的主力消费人群。</a:t>
            </a:r>
            <a:endParaRPr/>
          </a:p>
        </p:txBody>
      </p:sp>
      <p:sp>
        <p:nvSpPr>
          <p:cNvPr id="290" name=""/>
          <p:cNvSpPr/>
          <p:nvPr/>
        </p:nvSpPr>
        <p:spPr>
          <a:xfrm rot="0" flipH="0" flipV="0">
            <a:off x="4381500" y="3076575"/>
            <a:ext cx="3095625" cy="238125"/>
          </a:xfrm>
          <a:custGeom>
            <a:pathLst>
              <a:path w="325" h="25">
                <a:moveTo>
                  <a:pt x="0" y="0"/>
                </a:moveTo>
                <a:lnTo>
                  <a:pt x="3" y="0"/>
                </a:lnTo>
                <a:lnTo>
                  <a:pt x="3" y="25"/>
                </a:lnTo>
                <a:lnTo>
                  <a:pt x="0" y="25"/>
                </a:lnTo>
                <a:close/>
              </a:path>
            </a:pathLst>
          </a:custGeom>
          <a:solidFill>
            <a:srgbClr val="8EA47C"/>
          </a:solidFill>
          <a:ln/>
        </p:spPr>
        <p:txBody>
          <a:bodyPr/>
          <a:p/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4505325" y="3076575"/>
            <a:ext cx="2943225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 b="1">
                <a:solidFill>
                  <a:srgbClr val="3C342C"/>
                </a:solidFill>
                <a:latin typeface="Noto Sans SC"/>
                <a:ea typeface="Noto Sans SC"/>
              </a:rPr>
              <a:t>人群基数大、决策高频，入口价值明确。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7848600" y="1143000"/>
            <a:ext cx="3476625" cy="2381250"/>
          </a:xfrm>
          <a:prstGeom prst="roundRect">
            <a:avLst>
              <a:gd name="adj" fmla="val 7200"/>
            </a:avLst>
          </a:prstGeom>
          <a:solidFill>
            <a:srgbClr val="FFFDF8"/>
          </a:solidFill>
          <a:ln w="12700">
            <a:solidFill>
              <a:srgbClr val="E7DCCE"/>
            </a:solidFill>
            <a:prstDash val="solid"/>
          </a:ln>
          <a:effectLst>
            <a:outerShdw blurRad="152400" dist="38100" dir="5400000">
              <a:srgbClr val="3C342C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93" name=""/>
          <p:cNvSpPr/>
          <p:nvPr/>
        </p:nvSpPr>
        <p:spPr>
          <a:xfrm rot="0" flipH="0" flipV="0">
            <a:off x="8058150" y="1352550"/>
            <a:ext cx="866775" cy="228600"/>
          </a:xfrm>
          <a:prstGeom prst="roundRect">
            <a:avLst>
              <a:gd name="adj" fmla="val 4162500"/>
            </a:avLst>
          </a:prstGeom>
          <a:solidFill>
            <a:srgbClr val="E4EDD8"/>
          </a:solidFill>
          <a:ln/>
        </p:spPr>
        <p:txBody>
          <a:bodyPr/>
          <a:p/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8172450" y="1390650"/>
            <a:ext cx="638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6C7E58"/>
                </a:solidFill>
                <a:latin typeface="Noto Sans SC"/>
                <a:ea typeface="Noto Sans SC"/>
              </a:rPr>
              <a:t>省心</a:t>
            </a:r>
            <a:r>
              <a:rPr lang="en-US" sz="975" b="1">
                <a:solidFill>
                  <a:srgbClr val="6C7E58"/>
                </a:solidFill>
                <a:latin typeface="Noto Sans SC"/>
                <a:ea typeface="Noto Sans SC"/>
              </a:rPr>
              <a:t> + </a:t>
            </a:r>
            <a:r>
              <a:rPr lang="zh-CN" sz="975" b="1">
                <a:solidFill>
                  <a:srgbClr val="6C7E58"/>
                </a:solidFill>
                <a:latin typeface="Noto Sans SC"/>
                <a:ea typeface="Noto Sans SC"/>
              </a:rPr>
              <a:t>惊喜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8058150" y="1695450"/>
            <a:ext cx="30575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3C342C"/>
                </a:solidFill>
                <a:latin typeface="Noto Serif SC"/>
                <a:ea typeface="Noto Serif SC"/>
              </a:rPr>
              <a:t>需求增量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8058150" y="2019300"/>
            <a:ext cx="30575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>
                <a:solidFill>
                  <a:srgbClr val="8F8376"/>
                </a:solidFill>
                <a:latin typeface="Noto Sans SC"/>
                <a:ea typeface="Noto Sans SC"/>
              </a:rPr>
              <a:t>「想出游、怕做攻略、怕踩雷、怕纠结」正在成为共性。</a:t>
            </a:r>
            <a:endParaRPr/>
          </a:p>
        </p:txBody>
      </p:sp>
      <p:sp>
        <p:nvSpPr>
          <p:cNvPr id="297" name=""/>
          <p:cNvSpPr/>
          <p:nvPr/>
        </p:nvSpPr>
        <p:spPr>
          <a:xfrm rot="0" flipH="0" flipV="0">
            <a:off x="8058150" y="3076575"/>
            <a:ext cx="3086100" cy="238125"/>
          </a:xfrm>
          <a:custGeom>
            <a:pathLst>
              <a:path w="324" h="25">
                <a:moveTo>
                  <a:pt x="0" y="0"/>
                </a:moveTo>
                <a:lnTo>
                  <a:pt x="3" y="0"/>
                </a:lnTo>
                <a:lnTo>
                  <a:pt x="3" y="25"/>
                </a:lnTo>
                <a:lnTo>
                  <a:pt x="0" y="25"/>
                </a:lnTo>
                <a:close/>
              </a:path>
            </a:pathLst>
          </a:custGeom>
          <a:solidFill>
            <a:srgbClr val="8EA47C"/>
          </a:solidFill>
          <a:ln/>
        </p:spPr>
        <p:txBody>
          <a:bodyPr/>
          <a:p/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8181975" y="3076575"/>
            <a:ext cx="293370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 b="1">
                <a:solidFill>
                  <a:srgbClr val="3C342C"/>
                </a:solidFill>
                <a:latin typeface="Noto Sans SC"/>
                <a:ea typeface="Noto Sans SC"/>
              </a:rPr>
              <a:t>痛点普遍且没被满足，新产品有真实空位。</a:t>
            </a:r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4171950" y="3714750"/>
            <a:ext cx="3486150" cy="2381250"/>
          </a:xfrm>
          <a:prstGeom prst="roundRect">
            <a:avLst>
              <a:gd name="adj" fmla="val 7200"/>
            </a:avLst>
          </a:prstGeom>
          <a:solidFill>
            <a:srgbClr val="FFFDF8"/>
          </a:solidFill>
          <a:ln w="12700">
            <a:solidFill>
              <a:srgbClr val="E7DCCE"/>
            </a:solidFill>
            <a:prstDash val="solid"/>
          </a:ln>
          <a:effectLst>
            <a:outerShdw blurRad="152400" dist="38100" dir="5400000">
              <a:srgbClr val="3C342C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00" name=""/>
          <p:cNvSpPr/>
          <p:nvPr/>
        </p:nvSpPr>
        <p:spPr>
          <a:xfrm rot="0" flipH="0" flipV="0">
            <a:off x="4381500" y="3924300"/>
            <a:ext cx="971550" cy="228600"/>
          </a:xfrm>
          <a:prstGeom prst="roundRect">
            <a:avLst>
              <a:gd name="adj" fmla="val 4162500"/>
            </a:avLst>
          </a:prstGeom>
          <a:solidFill>
            <a:srgbClr val="E4EDD8"/>
          </a:solidFill>
          <a:ln/>
        </p:spPr>
        <p:txBody>
          <a:bodyPr/>
          <a:p/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4495800" y="3962400"/>
            <a:ext cx="742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6C7E58"/>
                </a:solidFill>
                <a:latin typeface="Noto Sans SC"/>
                <a:ea typeface="Noto Sans SC"/>
              </a:rPr>
              <a:t>轻资产可扩张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4381500" y="4267200"/>
            <a:ext cx="3067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3C342C"/>
                </a:solidFill>
                <a:latin typeface="Noto Serif SC"/>
                <a:ea typeface="Noto Serif SC"/>
              </a:rPr>
              <a:t>复制空间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4381500" y="4591050"/>
            <a:ext cx="3067050" cy="2667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050">
                <a:solidFill>
                  <a:srgbClr val="8F8376"/>
                </a:solidFill>
                <a:latin typeface="Noto Sans SC"/>
                <a:ea typeface="Noto Sans SC"/>
              </a:rPr>
              <a:t>纯线上内容产品，不受地域、季节和线下场地约束。</a:t>
            </a:r>
            <a:endParaRPr/>
          </a:p>
        </p:txBody>
      </p:sp>
      <p:sp>
        <p:nvSpPr>
          <p:cNvPr id="304" name=""/>
          <p:cNvSpPr/>
          <p:nvPr/>
        </p:nvSpPr>
        <p:spPr>
          <a:xfrm rot="0" flipH="0" flipV="0">
            <a:off x="4381500" y="5648325"/>
            <a:ext cx="3095625" cy="238125"/>
          </a:xfrm>
          <a:custGeom>
            <a:pathLst>
              <a:path w="325" h="25">
                <a:moveTo>
                  <a:pt x="0" y="0"/>
                </a:moveTo>
                <a:lnTo>
                  <a:pt x="3" y="0"/>
                </a:lnTo>
                <a:lnTo>
                  <a:pt x="3" y="25"/>
                </a:lnTo>
                <a:lnTo>
                  <a:pt x="0" y="25"/>
                </a:lnTo>
                <a:close/>
              </a:path>
            </a:pathLst>
          </a:custGeom>
          <a:solidFill>
            <a:srgbClr val="8EA47C"/>
          </a:solidFill>
          <a:ln/>
        </p:spPr>
        <p:txBody>
          <a:bodyPr/>
          <a:p/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4505325" y="5648325"/>
            <a:ext cx="2943225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 b="1">
                <a:solidFill>
                  <a:srgbClr val="3C342C"/>
                </a:solidFill>
                <a:latin typeface="Noto Sans SC"/>
                <a:ea typeface="Noto Sans SC"/>
              </a:rPr>
              <a:t>边际成本低，跑通一个城市就能复制全国。</a:t>
            </a:r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7848600" y="3714750"/>
            <a:ext cx="3476625" cy="2381250"/>
          </a:xfrm>
          <a:prstGeom prst="roundRect">
            <a:avLst>
              <a:gd name="adj" fmla="val 7200"/>
            </a:avLst>
          </a:prstGeom>
          <a:solidFill>
            <a:srgbClr val="FFFDF8"/>
          </a:solidFill>
          <a:ln w="12700">
            <a:solidFill>
              <a:srgbClr val="E7DCCE"/>
            </a:solidFill>
            <a:prstDash val="solid"/>
          </a:ln>
          <a:effectLst>
            <a:outerShdw blurRad="152400" dist="38100" dir="5400000">
              <a:srgbClr val="3C342C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07" name=""/>
          <p:cNvSpPr/>
          <p:nvPr/>
        </p:nvSpPr>
        <p:spPr>
          <a:xfrm rot="0" flipH="0" flipV="0">
            <a:off x="8058150" y="3924300"/>
            <a:ext cx="866775" cy="228600"/>
          </a:xfrm>
          <a:prstGeom prst="roundRect">
            <a:avLst>
              <a:gd name="adj" fmla="val 4162500"/>
            </a:avLst>
          </a:prstGeom>
          <a:solidFill>
            <a:srgbClr val="E4EDD8"/>
          </a:solidFill>
          <a:ln/>
        </p:spPr>
        <p:txBody>
          <a:bodyPr/>
          <a:p/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8172450" y="3962400"/>
            <a:ext cx="638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6C7E58"/>
                </a:solidFill>
                <a:latin typeface="Noto Sans SC"/>
                <a:ea typeface="Noto Sans SC"/>
              </a:rPr>
              <a:t>文旅</a:t>
            </a:r>
            <a:r>
              <a:rPr lang="en-US" sz="975" b="1">
                <a:solidFill>
                  <a:srgbClr val="6C7E58"/>
                </a:solidFill>
                <a:latin typeface="Noto Sans SC"/>
                <a:ea typeface="Noto Sans SC"/>
              </a:rPr>
              <a:t> × </a:t>
            </a:r>
            <a:r>
              <a:rPr lang="zh-CN" sz="975" b="1">
                <a:solidFill>
                  <a:srgbClr val="6C7E58"/>
                </a:solidFill>
                <a:latin typeface="Noto Sans SC"/>
                <a:ea typeface="Noto Sans SC"/>
              </a:rPr>
              <a:t>数字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8058150" y="4267200"/>
            <a:ext cx="30575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3C342C"/>
                </a:solidFill>
                <a:latin typeface="Noto Serif SC"/>
                <a:ea typeface="Noto Serif SC"/>
              </a:rPr>
              <a:t>政策方向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8058150" y="4591050"/>
            <a:ext cx="30575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>
                <a:solidFill>
                  <a:srgbClr val="8F8376"/>
                </a:solidFill>
                <a:latin typeface="Noto Sans SC"/>
                <a:ea typeface="Noto Sans SC"/>
              </a:rPr>
              <a:t>智慧文旅、数字文创、青年双创与网络合规形成支持面。</a:t>
            </a:r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8058150" y="5648325"/>
            <a:ext cx="3086100" cy="238125"/>
          </a:xfrm>
          <a:custGeom>
            <a:pathLst>
              <a:path w="324" h="25">
                <a:moveTo>
                  <a:pt x="0" y="0"/>
                </a:moveTo>
                <a:lnTo>
                  <a:pt x="3" y="0"/>
                </a:lnTo>
                <a:lnTo>
                  <a:pt x="3" y="25"/>
                </a:lnTo>
                <a:lnTo>
                  <a:pt x="0" y="25"/>
                </a:lnTo>
                <a:close/>
              </a:path>
            </a:pathLst>
          </a:custGeom>
          <a:solidFill>
            <a:srgbClr val="8EA47C"/>
          </a:solidFill>
          <a:ln/>
        </p:spPr>
        <p:txBody>
          <a:bodyPr/>
          <a:p/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8181975" y="5648325"/>
            <a:ext cx="293370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 b="1">
                <a:solidFill>
                  <a:srgbClr val="3C342C"/>
                </a:solidFill>
                <a:latin typeface="Noto Sans SC"/>
                <a:ea typeface="Noto Sans SC"/>
              </a:rPr>
              <a:t>方向顺势，项目申报与落地都有抓手。</a:t>
            </a:r>
            <a:endParaRPr/>
          </a:p>
        </p:txBody>
      </p:sp>
      <p:sp>
        <p:nvSpPr>
          <p:cNvPr id="313" name=""/>
          <p:cNvSpPr/>
          <p:nvPr/>
        </p:nvSpPr>
        <p:spPr>
          <a:xfrm rot="0" flipH="0" flipV="0">
            <a:off x="609600" y="6096000"/>
            <a:ext cx="10972800" cy="571500"/>
          </a:xfrm>
          <a:custGeom>
            <a:pathLst>
              <a:path w="1152" h="6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7DCCE"/>
          </a:solidFill>
          <a:ln/>
        </p:spPr>
        <p:txBody>
          <a:bodyPr/>
          <a:p/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609600" y="6315075"/>
            <a:ext cx="1095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途个惊喜</a:t>
            </a:r>
            <a:r>
              <a:rPr lang="en-US" sz="975">
                <a:solidFill>
                  <a:srgbClr val="8F8376"/>
                </a:solidFill>
                <a:latin typeface="Noto Sans SC"/>
                <a:ea typeface="Noto Sans SC"/>
              </a:rPr>
              <a:t> · </a:t>
            </a: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随盒出发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11201400" y="6315075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F8376"/>
                </a:solidFill>
                <a:latin typeface="Noto Sans SC"/>
                <a:ea typeface="Noto Sans SC"/>
              </a:rPr>
              <a:t>03 / 15</a:t>
            </a:r>
            <a:endParaRPr/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316" name="" descr="&lt;Slide style={{ width: 1280, height: 720, background: '#F6F1E6', padding: '20px 64px', position: 'relative', overflow: 'hidden' }}&gt;&#10;    &lt;Box style={{ position: 'absolute', top: -80, right: -60, width: 300, height: 190, borderRadius: '50%', background: '#E4EDD8', opacity: 0.45 }} /&gt;&#10;    &lt;Box style={{ position: 'absolute', bottom: -120, left: -80, width: 340, height: 210, borderRadius: '50%', background: '#EFE6D6', opacity: 0.5 }} /&gt;&#10;&#10;    {/* A 标题块 */}&#10;    &lt;Box style={{ height: 100, flexDirection: 'row', alignItems: 'flex-end', justifyContent: 'space-between', position: 'relative', zIndex: 1 }}&gt;&#10;        &lt;Box style={{ gap: 4, paddingBottom: 6 }}&gt;&#10;            &lt;Text style={{ fontFamily: 'Caveat, cursive', fontSize: 17, fontWeight: 700, color: '#8EA47C', letterSpacing: 1 }}&gt;03 · Users&lt;/Text&gt;&#10;            &lt;Text style={{ fontFamily: 'Noto Serif SC, serif', fontSize: 34, fontWeight: 900, color: '#3C342C' }}&gt;目标用户&lt;/Text&gt;&#10;            &lt;Box style={{ width: 56, height: 6, borderRadius: 3, background: '#8EA47C', marginTop: 6 }} /&gt;&#10;        &lt;/Box&gt;&#10;        &lt;Text style={{ fontFamily: 'Noto Sans SC, sans-serif', fontSize: 15, color: '#8F8376', width: 460, textAlign: 'right', lineHeight: 1.7, paddingBottom: 10 }}&gt;&#10;            他们不缺旅行信息，缺的是一个能替自己迈出第一步的产品。&#10;        &lt;/Text&gt;&#10;    &lt;/Box&gt;&#10;&#10;    {/* B 内容区 */}&#10;    &lt;Box style={{ height: 520, gap: 20, position: 'relative', zIndex: 1 }}&gt;&#10;        &lt;Box style={{ flexDirection: 'row', gap: 20, height: 428 }}&gt;&#10;            {[&#10;                { c: '懒', e: 'Lazy Starter', t: '出行懒人', d: '想旅行，但不想花两个小时做攻略。', k: '要省心' },&#10;                { c: '奇', e: 'Curious Hunter', t: '潮流猎奇', d: '拒绝千篇一律，期待未知和开箱的仪式感。', k: '要新鲜' },&#10;                { c: '趣', e: 'Hobby Player', t: '垂直兴趣', d: '徒步、美食、治愈、拍照，各玩各的圈子。', k: '要匹配' },&#10;                { c: '伴', e: 'Light Social', t: '温和轻社交', d: '想认识同频的人，但拒绝隐私交换和随机撮合。', k: '要安全' },&#10;            ].map((item, idx) =&gt; (&#10;                &lt;Box key={idx} style={{&#10;                    flex: 1,&#10;                    background: '#FFFDF8',&#10;                    borderRadius: 20,&#10;                    border: '1px solid #E7DCCE',&#10;                    boxShadow: '0 4px 16px rgba(60,52,44,0.06)',&#10;                    padding: '26px 22px',&#10;                    alignItems: 'center',&#10;                }}&gt;&#10;                    &lt;Text style={{ fontFamily: 'Noto Serif SC, serif', fontSize: 64, fontWeight: 900, color: '#8EA47C', lineHeight: 1.1 }}&gt;{item.c}&lt;/Text&gt;&#10;                    &lt;Text style={{ fontFamily: 'Caveat, cursive', fontSize: 16, fontWeight: 700, color: '#C9D6B8', marginTop: 2, marginBottom: 14 }}&gt;{item.e}&lt;/Text&gt;&#10;                    &lt;Text style={{ fontFamily: 'Noto Serif SC, serif', fontSize: 20, fontWeight: 700, color: '#3C342C', marginBottom: 10 }}&gt;{item.t}&lt;/Text&gt;&#10;                    &lt;Text style={{ fontFamily: 'Noto Sans SC, sans-serif', fontSize: 14, color: '#8F8376', lineHeight: 1.7, textAlign: 'center' }}&gt;{item.d}&lt;/Text&gt;&#10;                    &lt;Box style={{ marginTop: 'auto', background: '#E4EDD8', borderRadius: 999, padding: '6px 18px' }}&gt;&#10;                        &lt;Text style={{ fontFamily: 'Noto Sans SC, sans-serif', fontSize: 14, fontWeight: 600, color: '#6C7E58' }}&gt;{item.k}&lt;/Text&gt;&#10;                    &lt;/Box&gt;&#10;                &lt;/Box&gt;&#10;            ))}&#10;        &lt;/Box&gt;&#10;&#10;        {/* 共同特征条 */}&#10;        &lt;Box style={{&#10;            height: 52,&#10;            borderRadius: 14,&#10;            background: '#E4EDD8',&#10;            flexDirection: 'row',&#10;            alignItems: 'center',&#10;            padding: '0 24px',&#10;            gap: 14,&#10;        }}&gt;&#10;            &lt;Text style={{ fontFamily: 'Noto Serif SC, serif', fontSize: 16, fontWeight: 700, color: '#6C7E58' }}&gt;共同特征&lt;/Text&gt;&#10;            &lt;Box style={{ width: 3, height: 3, borderRadius: 2, background: '#8EA47C' }} /&gt;&#10;            &lt;Text style={{ fontFamily: 'Noto Sans SC, sans-serif', fontSize: 14, color: '#3C342C', lineHeight: 1.5 }}&gt;&#10;                年轻 · 移动端 · 高频周末决策 · 重视情绪价值 · 愿意为「省心」付费&#10;            &lt;/Text&gt;&#10;        &lt;/Box&gt;&#10;    &lt;/Box&gt;&#10;&#10;    {/* C 页脚 */}&#10;    &lt;Box style={{ height: 60, flexDirection: 'row', alignItems: 'center', justifyContent: 'space-between', borderTop: '1px solid #E7DCCE', position: 'relative', zIndex: 1 }}&gt;&#10;        &lt;Text style={{ fontFamily: 'Noto Sans SC, sans-serif', fontSize: 13, color: '#8F8376' }}&gt;途个惊喜 · 随盒出发&lt;/Text&gt;&#10;        &lt;Text style={{ fontFamily: 'Noto Sans SC, sans-serif', fontSize: 13, color: '#8F8376' }}&gt;04 / 1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6F1E6"/>
          </a:solidFill>
          <a:ln/>
        </p:spPr>
        <p:txBody>
          <a:bodyPr/>
          <a:p/>
        </p:txBody>
      </p:sp>
      <p:sp>
        <p:nvSpPr>
          <p:cNvPr id="318" name=""/>
          <p:cNvSpPr/>
          <p:nvPr/>
        </p:nvSpPr>
        <p:spPr>
          <a:xfrm rot="0" flipH="0" flipV="0">
            <a:off x="9906000" y="-762000"/>
            <a:ext cx="2857500" cy="1809750"/>
          </a:xfrm>
          <a:custGeom>
            <a:pathLst>
              <a:path w="300" h="190">
                <a:moveTo>
                  <a:pt x="240" y="171"/>
                </a:moveTo>
                <a:cubicBezTo>
                  <a:pt x="161" y="211"/>
                  <a:pt x="66" y="192"/>
                  <a:pt x="8" y="125"/>
                </a:cubicBezTo>
                <a:cubicBezTo>
                  <a:pt x="0" y="112"/>
                  <a:pt x="-2" y="95"/>
                  <a:pt x="2" y="80"/>
                </a:cubicBezTo>
                <a:lnTo>
                  <a:pt x="240" y="80"/>
                </a:lnTo>
                <a:close/>
              </a:path>
            </a:pathLst>
          </a:custGeom>
          <a:solidFill>
            <a:srgbClr val="E4EDD8">
              <a:alpha val="45000"/>
            </a:srgbClr>
          </a:solidFill>
          <a:ln/>
        </p:spPr>
        <p:txBody>
          <a:bodyPr/>
          <a:p/>
        </p:txBody>
      </p:sp>
      <p:sp>
        <p:nvSpPr>
          <p:cNvPr id="319" name=""/>
          <p:cNvSpPr/>
          <p:nvPr/>
        </p:nvSpPr>
        <p:spPr>
          <a:xfrm rot="0" flipH="0" flipV="0">
            <a:off x="-762000" y="6000750"/>
            <a:ext cx="3238500" cy="2000250"/>
          </a:xfrm>
          <a:custGeom>
            <a:pathLst>
              <a:path w="340" h="210">
                <a:moveTo>
                  <a:pt x="174" y="0"/>
                </a:moveTo>
                <a:cubicBezTo>
                  <a:pt x="241" y="-7"/>
                  <a:pt x="306" y="27"/>
                  <a:pt x="337" y="86"/>
                </a:cubicBezTo>
                <a:lnTo>
                  <a:pt x="338" y="89"/>
                </a:lnTo>
                <a:lnTo>
                  <a:pt x="338" y="90"/>
                </a:lnTo>
                <a:lnTo>
                  <a:pt x="80" y="90"/>
                </a:lnTo>
                <a:lnTo>
                  <a:pt x="80" y="16"/>
                </a:lnTo>
                <a:cubicBezTo>
                  <a:pt x="109" y="5"/>
                  <a:pt x="139" y="0"/>
                  <a:pt x="170" y="0"/>
                </a:cubicBezTo>
                <a:close/>
              </a:path>
            </a:pathLst>
          </a:custGeom>
          <a:solidFill>
            <a:srgbClr val="EFE6D6">
              <a:alpha val="50000"/>
            </a:srgbClr>
          </a:solidFill>
          <a:ln/>
        </p:spPr>
        <p:txBody>
          <a:bodyPr/>
          <a:p/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609600" y="304800"/>
            <a:ext cx="1295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 spc="75">
                <a:solidFill>
                  <a:srgbClr val="8EA47C"/>
                </a:solidFill>
                <a:latin typeface="Caveat"/>
                <a:ea typeface="Caveat"/>
              </a:rPr>
              <a:t>03 · Users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609600" y="542925"/>
            <a:ext cx="1295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3C342C"/>
                </a:solidFill>
                <a:latin typeface="Noto Serif SC"/>
                <a:ea typeface="Noto Serif SC"/>
              </a:rPr>
              <a:t>目标用户</a:t>
            </a:r>
            <a:endParaRPr/>
          </a:p>
        </p:txBody>
      </p:sp>
      <p:sp>
        <p:nvSpPr>
          <p:cNvPr id="322" name=""/>
          <p:cNvSpPr/>
          <p:nvPr/>
        </p:nvSpPr>
        <p:spPr>
          <a:xfrm rot="0" flipH="0" flipV="0">
            <a:off x="609600" y="1028700"/>
            <a:ext cx="533400" cy="57150"/>
          </a:xfrm>
          <a:prstGeom prst="roundRect">
            <a:avLst>
              <a:gd name="adj" fmla="val 50000"/>
            </a:avLst>
          </a:prstGeom>
          <a:solidFill>
            <a:srgbClr val="8EA47C"/>
          </a:solidFill>
          <a:ln/>
        </p:spPr>
        <p:txBody>
          <a:bodyPr/>
          <a:p/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7200900" y="752475"/>
            <a:ext cx="4381500" cy="390525"/>
          </a:xfrm>
          <a:prstGeom prst="rect"/>
        </p:spPr>
        <p:txBody>
          <a:bodyPr wrap="none" lIns="0" tIns="0" rIns="0" bIns="71438"/>
          <a:p>
            <a:pPr algn="r">
              <a:lnSpc>
                <a:spcPct val="170000"/>
              </a:lnSpc>
            </a:pPr>
            <a:r>
              <a:rPr lang="zh-CN" sz="1125">
                <a:solidFill>
                  <a:srgbClr val="8F8376"/>
                </a:solidFill>
                <a:latin typeface="Noto Sans SC"/>
                <a:ea typeface="Noto Sans SC"/>
              </a:rPr>
              <a:t>他们不缺旅行信息，缺的是一个能替自己迈出第一步的产品。</a:t>
            </a:r>
            <a:endParaRPr/>
          </a:p>
        </p:txBody>
      </p:sp>
      <p:sp>
        <p:nvSpPr>
          <p:cNvPr id="324" name=""/>
          <p:cNvSpPr/>
          <p:nvPr/>
        </p:nvSpPr>
        <p:spPr>
          <a:xfrm rot="0" flipH="0" flipV="0">
            <a:off x="609600" y="1143000"/>
            <a:ext cx="2600325" cy="4076700"/>
          </a:xfrm>
          <a:prstGeom prst="roundRect">
            <a:avLst>
              <a:gd name="adj" fmla="val 7326"/>
            </a:avLst>
          </a:prstGeom>
          <a:solidFill>
            <a:srgbClr val="FFFDF8"/>
          </a:solidFill>
          <a:ln w="12700">
            <a:solidFill>
              <a:srgbClr val="E7DCCE"/>
            </a:solidFill>
            <a:prstDash val="solid"/>
          </a:ln>
          <a:effectLst>
            <a:outerShdw blurRad="152400" dist="38100" dir="5400000">
              <a:srgbClr val="3C342C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1609725" y="1390650"/>
            <a:ext cx="609600" cy="8096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4800" b="1">
                <a:solidFill>
                  <a:srgbClr val="8EA47C"/>
                </a:solidFill>
                <a:latin typeface="Noto Serif SC"/>
                <a:ea typeface="Noto Serif SC"/>
              </a:rPr>
              <a:t>懒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1476375" y="2219325"/>
            <a:ext cx="876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C9D6B8"/>
                </a:solidFill>
                <a:latin typeface="Caveat"/>
                <a:ea typeface="Caveat"/>
              </a:rPr>
              <a:t>Lazy Starter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1533525" y="2543175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3C342C"/>
                </a:solidFill>
                <a:latin typeface="Noto Serif SC"/>
                <a:ea typeface="Noto Serif SC"/>
              </a:rPr>
              <a:t>出行懒人</a:t>
            </a:r>
            <a:endParaRPr/>
          </a:p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847725" y="2867025"/>
            <a:ext cx="2133600" cy="276225"/>
          </a:xfrm>
          <a:prstGeom prst="rect"/>
        </p:spPr>
        <p:txBody>
          <a:bodyPr wrap="none" lIns="0" tIns="0" rIns="0" bIns="0"/>
          <a:p>
            <a:pPr algn="ctr">
              <a:lnSpc>
                <a:spcPct val="170000"/>
              </a:lnSpc>
            </a:pPr>
            <a:r>
              <a:rPr lang="zh-CN" sz="1050">
                <a:solidFill>
                  <a:srgbClr val="8F8376"/>
                </a:solidFill>
                <a:latin typeface="Noto Sans SC"/>
                <a:ea typeface="Noto Sans SC"/>
              </a:rPr>
              <a:t>想旅行，但不想花两个小时做攻略。</a:t>
            </a:r>
            <a:endParaRPr/>
          </a:p>
        </p:txBody>
      </p:sp>
      <p:sp>
        <p:nvSpPr>
          <p:cNvPr id="329" name=""/>
          <p:cNvSpPr/>
          <p:nvPr/>
        </p:nvSpPr>
        <p:spPr>
          <a:xfrm rot="0" flipH="0" flipV="0">
            <a:off x="1543050" y="4695825"/>
            <a:ext cx="742950" cy="276225"/>
          </a:xfrm>
          <a:prstGeom prst="roundRect">
            <a:avLst>
              <a:gd name="adj" fmla="val 3444828"/>
            </a:avLst>
          </a:prstGeom>
          <a:solidFill>
            <a:srgbClr val="E4EDD8"/>
          </a:solidFill>
          <a:ln/>
        </p:spPr>
        <p:txBody>
          <a:bodyPr/>
          <a:p/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1714500" y="475297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6C7E58"/>
                </a:solidFill>
                <a:latin typeface="Noto Sans SC"/>
                <a:ea typeface="Noto Sans SC"/>
              </a:rPr>
              <a:t>要省心</a:t>
            </a:r>
            <a:endParaRPr/>
          </a:p>
        </p:txBody>
      </p:sp>
      <p:sp>
        <p:nvSpPr>
          <p:cNvPr id="331" name=""/>
          <p:cNvSpPr/>
          <p:nvPr/>
        </p:nvSpPr>
        <p:spPr>
          <a:xfrm rot="0" flipH="0" flipV="0">
            <a:off x="3400425" y="1143000"/>
            <a:ext cx="2600325" cy="4076700"/>
          </a:xfrm>
          <a:prstGeom prst="roundRect">
            <a:avLst>
              <a:gd name="adj" fmla="val 7326"/>
            </a:avLst>
          </a:prstGeom>
          <a:solidFill>
            <a:srgbClr val="FFFDF8"/>
          </a:solidFill>
          <a:ln w="12700">
            <a:solidFill>
              <a:srgbClr val="E7DCCE"/>
            </a:solidFill>
            <a:prstDash val="solid"/>
          </a:ln>
          <a:effectLst>
            <a:outerShdw blurRad="152400" dist="38100" dir="5400000">
              <a:srgbClr val="3C342C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4400550" y="1390650"/>
            <a:ext cx="609600" cy="8096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4800" b="1">
                <a:solidFill>
                  <a:srgbClr val="8EA47C"/>
                </a:solidFill>
                <a:latin typeface="Noto Serif SC"/>
                <a:ea typeface="Noto Serif SC"/>
              </a:rPr>
              <a:t>奇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4143375" y="2219325"/>
            <a:ext cx="11144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C9D6B8"/>
                </a:solidFill>
                <a:latin typeface="Caveat"/>
                <a:ea typeface="Caveat"/>
              </a:rPr>
              <a:t>Curious Hunter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4324350" y="2543175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3C342C"/>
                </a:solidFill>
                <a:latin typeface="Noto Serif SC"/>
                <a:ea typeface="Noto Serif SC"/>
              </a:rPr>
              <a:t>潮流猎奇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3609975" y="2867025"/>
            <a:ext cx="2181225" cy="55245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70000"/>
              </a:lnSpc>
            </a:pPr>
            <a:r>
              <a:rPr lang="zh-CN" sz="1050">
                <a:solidFill>
                  <a:srgbClr val="8F8376"/>
                </a:solidFill>
                <a:latin typeface="Noto Sans SC"/>
                <a:ea typeface="Noto Sans SC"/>
              </a:rPr>
              <a:t>拒绝千篇一律，期待未知和开箱的仪式感。</a:t>
            </a:r>
            <a:endParaRPr/>
          </a:p>
        </p:txBody>
      </p:sp>
      <p:sp>
        <p:nvSpPr>
          <p:cNvPr id="336" name=""/>
          <p:cNvSpPr/>
          <p:nvPr/>
        </p:nvSpPr>
        <p:spPr>
          <a:xfrm rot="0" flipH="0" flipV="0">
            <a:off x="4333875" y="4695825"/>
            <a:ext cx="742950" cy="276225"/>
          </a:xfrm>
          <a:prstGeom prst="roundRect">
            <a:avLst>
              <a:gd name="adj" fmla="val 3444828"/>
            </a:avLst>
          </a:prstGeom>
          <a:solidFill>
            <a:srgbClr val="E4EDD8"/>
          </a:solidFill>
          <a:ln/>
        </p:spPr>
        <p:txBody>
          <a:bodyPr/>
          <a:p/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4505325" y="475297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6C7E58"/>
                </a:solidFill>
                <a:latin typeface="Noto Sans SC"/>
                <a:ea typeface="Noto Sans SC"/>
              </a:rPr>
              <a:t>要新鲜</a:t>
            </a:r>
            <a:endParaRPr/>
          </a:p>
        </p:txBody>
      </p:sp>
      <p:sp>
        <p:nvSpPr>
          <p:cNvPr id="338" name=""/>
          <p:cNvSpPr/>
          <p:nvPr/>
        </p:nvSpPr>
        <p:spPr>
          <a:xfrm rot="0" flipH="0" flipV="0">
            <a:off x="6191250" y="1143000"/>
            <a:ext cx="2600325" cy="4076700"/>
          </a:xfrm>
          <a:prstGeom prst="roundRect">
            <a:avLst>
              <a:gd name="adj" fmla="val 7326"/>
            </a:avLst>
          </a:prstGeom>
          <a:solidFill>
            <a:srgbClr val="FFFDF8"/>
          </a:solidFill>
          <a:ln w="12700">
            <a:solidFill>
              <a:srgbClr val="E7DCCE"/>
            </a:solidFill>
            <a:prstDash val="solid"/>
          </a:ln>
          <a:effectLst>
            <a:outerShdw blurRad="152400" dist="38100" dir="5400000">
              <a:srgbClr val="3C342C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7191375" y="1390650"/>
            <a:ext cx="609600" cy="8096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4800" b="1">
                <a:solidFill>
                  <a:srgbClr val="8EA47C"/>
                </a:solidFill>
                <a:latin typeface="Noto Serif SC"/>
                <a:ea typeface="Noto Serif SC"/>
              </a:rPr>
              <a:t>趣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7000875" y="2219325"/>
            <a:ext cx="9810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C9D6B8"/>
                </a:solidFill>
                <a:latin typeface="Caveat"/>
                <a:ea typeface="Caveat"/>
              </a:rPr>
              <a:t>Hobby Player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7115175" y="2543175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3C342C"/>
                </a:solidFill>
                <a:latin typeface="Noto Serif SC"/>
                <a:ea typeface="Noto Serif SC"/>
              </a:rPr>
              <a:t>垂直兴趣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6400800" y="2867025"/>
            <a:ext cx="2181225" cy="55245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70000"/>
              </a:lnSpc>
            </a:pPr>
            <a:r>
              <a:rPr lang="zh-CN" sz="1050">
                <a:solidFill>
                  <a:srgbClr val="8F8376"/>
                </a:solidFill>
                <a:latin typeface="Noto Sans SC"/>
                <a:ea typeface="Noto Sans SC"/>
              </a:rPr>
              <a:t>徒步、美食、治愈、拍照，各玩各的圈子。</a:t>
            </a:r>
            <a:endParaRPr/>
          </a:p>
        </p:txBody>
      </p:sp>
      <p:sp>
        <p:nvSpPr>
          <p:cNvPr id="343" name=""/>
          <p:cNvSpPr/>
          <p:nvPr/>
        </p:nvSpPr>
        <p:spPr>
          <a:xfrm rot="0" flipH="0" flipV="0">
            <a:off x="7124700" y="4695825"/>
            <a:ext cx="742950" cy="276225"/>
          </a:xfrm>
          <a:prstGeom prst="roundRect">
            <a:avLst>
              <a:gd name="adj" fmla="val 3444828"/>
            </a:avLst>
          </a:prstGeom>
          <a:solidFill>
            <a:srgbClr val="E4EDD8"/>
          </a:solidFill>
          <a:ln/>
        </p:spPr>
        <p:txBody>
          <a:bodyPr/>
          <a:p/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7296150" y="475297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6C7E58"/>
                </a:solidFill>
                <a:latin typeface="Noto Sans SC"/>
                <a:ea typeface="Noto Sans SC"/>
              </a:rPr>
              <a:t>要匹配</a:t>
            </a:r>
            <a:endParaRPr/>
          </a:p>
        </p:txBody>
      </p:sp>
      <p:sp>
        <p:nvSpPr>
          <p:cNvPr id="345" name=""/>
          <p:cNvSpPr/>
          <p:nvPr/>
        </p:nvSpPr>
        <p:spPr>
          <a:xfrm rot="0" flipH="0" flipV="0">
            <a:off x="8982075" y="1143000"/>
            <a:ext cx="2600325" cy="4076700"/>
          </a:xfrm>
          <a:prstGeom prst="roundRect">
            <a:avLst>
              <a:gd name="adj" fmla="val 7326"/>
            </a:avLst>
          </a:prstGeom>
          <a:solidFill>
            <a:srgbClr val="FFFDF8"/>
          </a:solidFill>
          <a:ln w="12700">
            <a:solidFill>
              <a:srgbClr val="E7DCCE"/>
            </a:solidFill>
            <a:prstDash val="solid"/>
          </a:ln>
          <a:effectLst>
            <a:outerShdw blurRad="152400" dist="38100" dir="5400000">
              <a:srgbClr val="3C342C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9982200" y="1390650"/>
            <a:ext cx="609600" cy="8096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4800" b="1">
                <a:solidFill>
                  <a:srgbClr val="8EA47C"/>
                </a:solidFill>
                <a:latin typeface="Noto Serif SC"/>
                <a:ea typeface="Noto Serif SC"/>
              </a:rPr>
              <a:t>伴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9848850" y="2219325"/>
            <a:ext cx="866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C9D6B8"/>
                </a:solidFill>
                <a:latin typeface="Caveat"/>
                <a:ea typeface="Caveat"/>
              </a:rPr>
              <a:t>Light Social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9810750" y="2543175"/>
            <a:ext cx="952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3C342C"/>
                </a:solidFill>
                <a:latin typeface="Noto Serif SC"/>
                <a:ea typeface="Noto Serif SC"/>
              </a:rPr>
              <a:t>温和轻社交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9191625" y="2867025"/>
            <a:ext cx="2181225" cy="55245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70000"/>
              </a:lnSpc>
            </a:pPr>
            <a:r>
              <a:rPr lang="zh-CN" sz="1050">
                <a:solidFill>
                  <a:srgbClr val="8F8376"/>
                </a:solidFill>
                <a:latin typeface="Noto Sans SC"/>
                <a:ea typeface="Noto Sans SC"/>
              </a:rPr>
              <a:t>想认识同频的人，但拒绝隐私交换和随机撮合。</a:t>
            </a:r>
            <a:endParaRPr/>
          </a:p>
        </p:txBody>
      </p:sp>
      <p:sp>
        <p:nvSpPr>
          <p:cNvPr id="350" name=""/>
          <p:cNvSpPr/>
          <p:nvPr/>
        </p:nvSpPr>
        <p:spPr>
          <a:xfrm rot="0" flipH="0" flipV="0">
            <a:off x="9915525" y="4695825"/>
            <a:ext cx="742950" cy="276225"/>
          </a:xfrm>
          <a:prstGeom prst="roundRect">
            <a:avLst>
              <a:gd name="adj" fmla="val 3444828"/>
            </a:avLst>
          </a:prstGeom>
          <a:solidFill>
            <a:srgbClr val="E4EDD8"/>
          </a:solidFill>
          <a:ln/>
        </p:spPr>
        <p:txBody>
          <a:bodyPr/>
          <a:p/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10086975" y="475297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6C7E58"/>
                </a:solidFill>
                <a:latin typeface="Noto Sans SC"/>
                <a:ea typeface="Noto Sans SC"/>
              </a:rPr>
              <a:t>要安全</a:t>
            </a:r>
            <a:endParaRPr/>
          </a:p>
        </p:txBody>
      </p:sp>
      <p:sp>
        <p:nvSpPr>
          <p:cNvPr id="352" name=""/>
          <p:cNvSpPr/>
          <p:nvPr/>
        </p:nvSpPr>
        <p:spPr>
          <a:xfrm rot="0" flipH="0" flipV="0">
            <a:off x="609600" y="5410200"/>
            <a:ext cx="10972800" cy="495300"/>
          </a:xfrm>
          <a:prstGeom prst="roundRect">
            <a:avLst>
              <a:gd name="adj" fmla="val 26923"/>
            </a:avLst>
          </a:prstGeom>
          <a:solidFill>
            <a:srgbClr val="E4EDD8"/>
          </a:solidFill>
          <a:ln/>
        </p:spPr>
        <p:txBody>
          <a:bodyPr/>
          <a:p/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838200" y="556260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6C7E58"/>
                </a:solidFill>
                <a:latin typeface="Noto Serif SC"/>
                <a:ea typeface="Noto Serif SC"/>
              </a:rPr>
              <a:t>共同特征</a:t>
            </a:r>
            <a:endParaRPr/>
          </a:p>
        </p:txBody>
      </p:sp>
      <p:sp>
        <p:nvSpPr>
          <p:cNvPr id="354" name=""/>
          <p:cNvSpPr/>
          <p:nvPr/>
        </p:nvSpPr>
        <p:spPr>
          <a:xfrm rot="0" flipH="0" flipV="0">
            <a:off x="1581150" y="5648325"/>
            <a:ext cx="28575" cy="28575"/>
          </a:xfrm>
          <a:prstGeom prst="roundRect">
            <a:avLst>
              <a:gd name="adj" fmla="val 66667"/>
            </a:avLst>
          </a:prstGeom>
          <a:solidFill>
            <a:srgbClr val="8EA47C"/>
          </a:solidFill>
          <a:ln/>
        </p:spPr>
        <p:txBody>
          <a:bodyPr/>
          <a:p/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1743075" y="5534025"/>
            <a:ext cx="391477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3C342C"/>
                </a:solidFill>
                <a:latin typeface="Noto Sans SC"/>
                <a:ea typeface="Noto Sans SC"/>
              </a:rPr>
              <a:t>年轻</a:t>
            </a:r>
            <a:r>
              <a:rPr lang="en-US" sz="1050">
                <a:solidFill>
                  <a:srgbClr val="3C342C"/>
                </a:solidFill>
                <a:latin typeface="Noto Sans SC"/>
                <a:ea typeface="Noto Sans SC"/>
              </a:rPr>
              <a:t> · </a:t>
            </a:r>
            <a:r>
              <a:rPr lang="zh-CN" sz="1050">
                <a:solidFill>
                  <a:srgbClr val="3C342C"/>
                </a:solidFill>
                <a:latin typeface="Noto Sans SC"/>
                <a:ea typeface="Noto Sans SC"/>
              </a:rPr>
              <a:t>移动端</a:t>
            </a:r>
            <a:r>
              <a:rPr lang="en-US" sz="1050">
                <a:solidFill>
                  <a:srgbClr val="3C342C"/>
                </a:solidFill>
                <a:latin typeface="Noto Sans SC"/>
                <a:ea typeface="Noto Sans SC"/>
              </a:rPr>
              <a:t> · </a:t>
            </a:r>
            <a:r>
              <a:rPr lang="zh-CN" sz="1050">
                <a:solidFill>
                  <a:srgbClr val="3C342C"/>
                </a:solidFill>
                <a:latin typeface="Noto Sans SC"/>
                <a:ea typeface="Noto Sans SC"/>
              </a:rPr>
              <a:t>高频周末决策</a:t>
            </a:r>
            <a:r>
              <a:rPr lang="en-US" sz="1050">
                <a:solidFill>
                  <a:srgbClr val="3C342C"/>
                </a:solidFill>
                <a:latin typeface="Noto Sans SC"/>
                <a:ea typeface="Noto Sans SC"/>
              </a:rPr>
              <a:t> · </a:t>
            </a:r>
            <a:r>
              <a:rPr lang="zh-CN" sz="1050">
                <a:solidFill>
                  <a:srgbClr val="3C342C"/>
                </a:solidFill>
                <a:latin typeface="Noto Sans SC"/>
                <a:ea typeface="Noto Sans SC"/>
              </a:rPr>
              <a:t>重视情绪价值</a:t>
            </a:r>
            <a:r>
              <a:rPr lang="en-US" sz="1050">
                <a:solidFill>
                  <a:srgbClr val="3C342C"/>
                </a:solidFill>
                <a:latin typeface="Noto Sans SC"/>
                <a:ea typeface="Noto Sans SC"/>
              </a:rPr>
              <a:t> · </a:t>
            </a:r>
            <a:r>
              <a:rPr lang="zh-CN" sz="1050">
                <a:solidFill>
                  <a:srgbClr val="3C342C"/>
                </a:solidFill>
                <a:latin typeface="Noto Sans SC"/>
                <a:ea typeface="Noto Sans SC"/>
              </a:rPr>
              <a:t>愿意为「省心」付费</a:t>
            </a:r>
            <a:endParaRPr/>
          </a:p>
        </p:txBody>
      </p:sp>
      <p:sp>
        <p:nvSpPr>
          <p:cNvPr id="356" name=""/>
          <p:cNvSpPr/>
          <p:nvPr/>
        </p:nvSpPr>
        <p:spPr>
          <a:xfrm rot="0" flipH="0" flipV="0">
            <a:off x="609600" y="6096000"/>
            <a:ext cx="10972800" cy="571500"/>
          </a:xfrm>
          <a:custGeom>
            <a:pathLst>
              <a:path w="1152" h="6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7DCCE"/>
          </a:solidFill>
          <a:ln/>
        </p:spPr>
        <p:txBody>
          <a:bodyPr/>
          <a:p/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609600" y="6315075"/>
            <a:ext cx="1095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途个惊喜</a:t>
            </a:r>
            <a:r>
              <a:rPr lang="en-US" sz="975">
                <a:solidFill>
                  <a:srgbClr val="8F8376"/>
                </a:solidFill>
                <a:latin typeface="Noto Sans SC"/>
                <a:ea typeface="Noto Sans SC"/>
              </a:rPr>
              <a:t> · </a:t>
            </a: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随盒出发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11201400" y="6315075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F8376"/>
                </a:solidFill>
                <a:latin typeface="Noto Sans SC"/>
                <a:ea typeface="Noto Sans SC"/>
              </a:rPr>
              <a:t>04 / 15</a:t>
            </a:r>
            <a:endParaRPr/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359" name="" descr="&lt;Slide style={{ width: 1280, height: 720, background: '#F6F1E6', padding: '20px 64px', position: 'relative', overflow: 'hidden' }}&gt;&#10;    &lt;Box style={{ position: 'absolute', top: -80, right: -60, width: 300, height: 190, borderRadius: '50%', background: '#E4EDD8', opacity: 0.45 }} /&gt;&#10;    &lt;Box style={{ position: 'absolute', bottom: -120, left: -80, width: 340, height: 210, borderRadius: '50%', background: '#EFE6D6', opacity: 0.5 }} /&gt;&#10;&#10;    {/* A 标题块 */}&#10;    &lt;Box style={{ height: 100, flexDirection: 'row', alignItems: 'flex-end', justifyContent: 'space-between', position: 'relative', zIndex: 1 }}&gt;&#10;        &lt;Box style={{ gap: 4, paddingBottom: 6 }}&gt;&#10;            &lt;Text style={{ fontFamily: 'Caveat, cursive', fontSize: 17, fontWeight: 700, color: '#8EA47C', letterSpacing: 1 }}&gt;04 · Pain Points&lt;/Text&gt;&#10;            &lt;Text style={{ fontFamily: 'Noto Serif SC, serif', fontSize: 34, fontWeight: 900, color: '#3C342C' }}&gt;用户痛点&lt;/Text&gt;&#10;            &lt;Box style={{ width: 56, height: 6, borderRadius: 3, background: '#8EA47C', marginTop: 6 }} /&gt;&#10;        &lt;/Box&gt;&#10;        &lt;Text style={{ fontFamily: 'Noto Sans SC, sans-serif', fontSize: 15, color: '#8F8376', width: 460, textAlign: 'right', lineHeight: 1.7, paddingBottom: 10 }}&gt;&#10;            调研把问题拆成五个具体摩擦点，并追溯到供给侧的四个成因。&#10;        &lt;/Text&gt;&#10;    &lt;/Box&gt;&#10;&#10;    {/* B 内容区 */}&#10;    &lt;Box style={{ height: 520, flexDirection: 'row', gap: 30, position: 'relative', zIndex: 1 }}&gt;&#10;        {/* 左：大引语 */}&#10;        &lt;Box style={{ width: '35%', justifyContent: 'center', gap: 0 }}&gt;&#10;            &lt;Text style={{ fontFamily: 'Noto Serif SC, serif', fontSize: 110, fontWeight: 900, color: '#C9D6B8', lineHeight: 0.8, marginBottom: 8 }}&gt;「&lt;/Text&gt;&#10;            &lt;Text style={{ fontFamily: 'Noto Serif SC, serif', fontSize: 30, fontWeight: 900, color: '#3C342C', lineHeight: 1.65 }}&gt;&#10;                出发前的疲惫，&#10;                &lt;br /&gt;&#10;                正在吞掉旅行&#10;                &lt;br /&gt;&#10;                本该有的期待。&#10;            &lt;/Text&gt;&#10;            &lt;Box style={{ marginTop: 30, borderLeft: '4px solid #E8B4A2', paddingLeft: 16 }}&gt;&#10;                &lt;Text style={{ fontFamily: 'Noto Sans SC, sans-serif', fontSize: 16, fontWeight: 600, color: '#6C7E58', lineHeight: 1.7 }}&gt;&#10;                    结果：想出发，&#10;                    &lt;br /&gt;&#10;                    但第一步总被推迟。&#10;                &lt;/Text&gt;&#10;            &lt;/Box&gt;&#10;        &lt;/Box&gt;&#10;&#10;        {/* 右：摩擦点网格 + 根因 */}&#10;        &lt;Box style={{ flex: 1, gap: 16 }}&gt;&#10;            &lt;Text style={{ fontFamily: 'Noto Sans SC, sans-serif', fontSize: 14, fontWeight: 600, color: '#6C7E58', letterSpacing: 2 }}&gt;五个摩擦点 · FRICTIONS&lt;/Text&gt;&#10;            &lt;Box style={{ flexDirection: 'row', gap: 16 }}&gt;&#10;                {[&#10;                    { t: '规划成本高', d: '查资料、比路线、做预算，出发前先累一遍。' },&#10;                    { t: '体验过于固化', d: '模板化攻略，让每次旅行都像复制粘贴。' },&#10;                    { t: '匹配度不足', d: '通用内容，回应不了真实兴趣和当下心情。' },&#10;                ].map((item, idx) =&gt; (&#10;                    &lt;Box key={idx} style={{ flex: 1, height: 148, background: '#FFFDF8', borderRadius: 16, border: '1px solid #E7DCCE', boxShadow: '0 4px 16px rgba(60,52,44,0.06)', padding: 18 }}&gt;&#10;                        &lt;Text style={{ fontFamily: 'Noto Serif SC, serif', fontSize: 18, fontWeight: 700, color: '#3C342C', marginBottom: 8 }}&gt;{item.t}&lt;/Text&gt;&#10;                        &lt;Text style={{ fontFamily: 'Noto Sans SC, sans-serif', fontSize: 13, color: '#8F8376', lineHeight: 1.65 }}&gt;{item.d}&lt;/Text&gt;&#10;                    &lt;/Box&gt;&#10;                ))}&#10;            &lt;/Box&gt;&#10;            &lt;Box style={{ flexDirection: 'row', gap: 16 }}&gt;&#10;                {[&#10;                    { t: '社交不安全', d: '想结伴，又担心隐私泄露和低质量撮合。' },&#10;                    { t: '缺少仪式感', d: '信息很多，却没有「打开它」的期待。' },&#10;                ].map((item, idx) =&gt; (&#10;                    &lt;Box key={idx} style={{ width: '31.8%', height: 148, background: '#FFFDF8', borderRadius: 16, border: '1px solid #E7DCCE', boxShadow: '0 4px 16px rgba(60,52,44,0.06)', padding: 18 }}&gt;&#10;                        &lt;Text style={{ fontFamily: 'Noto Serif SC, serif', fontSize: 18, fontWeight: 700, color: '#3C342C', marginBottom: 8 }}&gt;{item.t}&lt;/Text&gt;&#10;                        &lt;Text style={{ fontFamily: 'Noto Sans SC, sans-serif', fontSize: 13, color: '#8F8376', lineHeight: 1.65 }}&gt;{item.d}&lt;/Text&gt;&#10;                    &lt;/Box&gt;&#10;                ))}&#10;            &lt;/Box&gt;&#10;            {/* 根因条 */}&#10;            &lt;Box style={{&#10;                flex: 1,&#10;                background: '#E4EDD8',&#10;                borderRadius: 16,&#10;                padding: '16px 22px',&#10;                justifyContent: 'center',&#10;                gap: 10,&#10;            }}&gt;&#10;                &lt;Text style={{ fontFamily: 'Noto Sans SC, sans-serif', fontSize: 14, fontWeight: 700, color: '#6C7E58' }}&gt;供给侧根因&lt;/Text&gt;&#10;                &lt;Box style={{ flexDirection: 'row', gap: 12 }}&gt;&#10;                    {['传统模式固化', '市场细分空白', '轻量创新缺失', '社交体系不规范'].map((tag, idx) =&gt; (&#10;                        &lt;Box key={idx} style={{ background: '#FFFDF8', borderRadius: 999, padding: '7px 16px', border: '1px solid #C9D6B8' }}&gt;&#10;                            &lt;Text style={{ fontFamily: 'Noto Sans SC, sans-serif', fontSize: 14, fontWeight: 600, color: '#3C342C' }}&gt;{tag}&lt;/Text&gt;&#10;                        &lt;/Box&gt;&#10;                    ))}&#10;                &lt;/Box&gt;&#10;            &lt;/Box&gt;&#10;        &lt;/Box&gt;&#10;    &lt;/Box&gt;&#10;&#10;    {/* C 页脚 */}&#10;    &lt;Box style={{ height: 60, flexDirection: 'row', alignItems: 'center', justifyContent: 'space-between', borderTop: '1px solid #E7DCCE', position: 'relative', zIndex: 1 }}&gt;&#10;        &lt;Text style={{ fontFamily: 'Noto Sans SC, sans-serif', fontSize: 13, color: '#8F8376' }}&gt;途个惊喜 · 随盒出发&lt;/Text&gt;&#10;        &lt;Text style={{ fontFamily: 'Noto Sans SC, sans-serif', fontSize: 13, color: '#8F8376' }}&gt;05 / 1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6F1E6"/>
          </a:solidFill>
          <a:ln/>
        </p:spPr>
        <p:txBody>
          <a:bodyPr/>
          <a:p/>
        </p:txBody>
      </p:sp>
      <p:sp>
        <p:nvSpPr>
          <p:cNvPr id="361" name=""/>
          <p:cNvSpPr/>
          <p:nvPr/>
        </p:nvSpPr>
        <p:spPr>
          <a:xfrm rot="0" flipH="0" flipV="0">
            <a:off x="9906000" y="-762000"/>
            <a:ext cx="2857500" cy="1809750"/>
          </a:xfrm>
          <a:custGeom>
            <a:pathLst>
              <a:path w="300" h="190">
                <a:moveTo>
                  <a:pt x="240" y="171"/>
                </a:moveTo>
                <a:cubicBezTo>
                  <a:pt x="161" y="211"/>
                  <a:pt x="66" y="192"/>
                  <a:pt x="8" y="125"/>
                </a:cubicBezTo>
                <a:cubicBezTo>
                  <a:pt x="0" y="112"/>
                  <a:pt x="-2" y="95"/>
                  <a:pt x="2" y="80"/>
                </a:cubicBezTo>
                <a:lnTo>
                  <a:pt x="240" y="80"/>
                </a:lnTo>
                <a:close/>
              </a:path>
            </a:pathLst>
          </a:custGeom>
          <a:solidFill>
            <a:srgbClr val="E4EDD8">
              <a:alpha val="45000"/>
            </a:srgbClr>
          </a:solidFill>
          <a:ln/>
        </p:spPr>
        <p:txBody>
          <a:bodyPr/>
          <a:p/>
        </p:txBody>
      </p:sp>
      <p:sp>
        <p:nvSpPr>
          <p:cNvPr id="362" name=""/>
          <p:cNvSpPr/>
          <p:nvPr/>
        </p:nvSpPr>
        <p:spPr>
          <a:xfrm rot="0" flipH="0" flipV="0">
            <a:off x="-762000" y="6000750"/>
            <a:ext cx="3238500" cy="2000250"/>
          </a:xfrm>
          <a:custGeom>
            <a:pathLst>
              <a:path w="340" h="210">
                <a:moveTo>
                  <a:pt x="174" y="0"/>
                </a:moveTo>
                <a:cubicBezTo>
                  <a:pt x="241" y="-7"/>
                  <a:pt x="306" y="27"/>
                  <a:pt x="337" y="86"/>
                </a:cubicBezTo>
                <a:lnTo>
                  <a:pt x="338" y="89"/>
                </a:lnTo>
                <a:lnTo>
                  <a:pt x="338" y="90"/>
                </a:lnTo>
                <a:lnTo>
                  <a:pt x="80" y="90"/>
                </a:lnTo>
                <a:lnTo>
                  <a:pt x="80" y="16"/>
                </a:lnTo>
                <a:cubicBezTo>
                  <a:pt x="109" y="5"/>
                  <a:pt x="139" y="0"/>
                  <a:pt x="170" y="0"/>
                </a:cubicBezTo>
                <a:close/>
              </a:path>
            </a:pathLst>
          </a:custGeom>
          <a:solidFill>
            <a:srgbClr val="EFE6D6">
              <a:alpha val="50000"/>
            </a:srgbClr>
          </a:solidFill>
          <a:ln/>
        </p:spPr>
        <p:txBody>
          <a:bodyPr/>
          <a:p/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609600" y="304800"/>
            <a:ext cx="1352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 spc="75">
                <a:solidFill>
                  <a:srgbClr val="8EA47C"/>
                </a:solidFill>
                <a:latin typeface="Caveat"/>
                <a:ea typeface="Caveat"/>
              </a:rPr>
              <a:t>04 · Pain Points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609600" y="542925"/>
            <a:ext cx="13525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3C342C"/>
                </a:solidFill>
                <a:latin typeface="Noto Serif SC"/>
                <a:ea typeface="Noto Serif SC"/>
              </a:rPr>
              <a:t>用户痛点</a:t>
            </a:r>
            <a:endParaRPr/>
          </a:p>
        </p:txBody>
      </p:sp>
      <p:sp>
        <p:nvSpPr>
          <p:cNvPr id="365" name=""/>
          <p:cNvSpPr/>
          <p:nvPr/>
        </p:nvSpPr>
        <p:spPr>
          <a:xfrm rot="0" flipH="0" flipV="0">
            <a:off x="609600" y="1028700"/>
            <a:ext cx="533400" cy="57150"/>
          </a:xfrm>
          <a:prstGeom prst="roundRect">
            <a:avLst>
              <a:gd name="adj" fmla="val 50000"/>
            </a:avLst>
          </a:prstGeom>
          <a:solidFill>
            <a:srgbClr val="8EA47C"/>
          </a:solidFill>
          <a:ln/>
        </p:spPr>
        <p:txBody>
          <a:bodyPr/>
          <a:p/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7200900" y="752475"/>
            <a:ext cx="4381500" cy="390525"/>
          </a:xfrm>
          <a:prstGeom prst="rect"/>
        </p:spPr>
        <p:txBody>
          <a:bodyPr wrap="none" lIns="0" tIns="0" rIns="0" bIns="71438"/>
          <a:p>
            <a:pPr algn="r">
              <a:lnSpc>
                <a:spcPct val="170000"/>
              </a:lnSpc>
            </a:pPr>
            <a:r>
              <a:rPr lang="zh-CN" sz="1125">
                <a:solidFill>
                  <a:srgbClr val="8F8376"/>
                </a:solidFill>
                <a:latin typeface="Noto Sans SC"/>
                <a:ea typeface="Noto Sans SC"/>
              </a:rPr>
              <a:t>调研把问题拆成五个具体摩擦点，并追溯到供给侧的四个成因。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609600" y="1771650"/>
            <a:ext cx="3838575" cy="1009650"/>
          </a:xfrm>
          <a:prstGeom prst="rect"/>
        </p:spPr>
        <p:txBody>
          <a:bodyPr wrap="none" lIns="0" tIns="0" rIns="0" bIns="0"/>
          <a:p>
            <a:pPr>
              <a:lnSpc>
                <a:spcPct val="80000"/>
              </a:lnSpc>
            </a:pPr>
            <a:r>
              <a:rPr lang="zh-CN" sz="8250" b="1">
                <a:solidFill>
                  <a:srgbClr val="C9D6B8"/>
                </a:solidFill>
                <a:latin typeface="Noto Serif SC"/>
                <a:ea typeface="Noto Serif SC"/>
              </a:rPr>
              <a:t>「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609600" y="2857500"/>
            <a:ext cx="3838575" cy="17049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2250" b="1">
                <a:solidFill>
                  <a:srgbClr val="3C342C"/>
                </a:solidFill>
                <a:latin typeface="Noto Serif SC"/>
                <a:ea typeface="Noto Serif SC"/>
              </a:rPr>
              <a:t>出发前的疲惫，</a:t>
            </a:r>
            <a:endParaRPr/>
          </a:p>
          <a:p>
            <a:pPr>
              <a:lnSpc>
                <a:spcPct val="165000"/>
              </a:lnSpc>
            </a:pPr>
            <a:r>
              <a:rPr lang="zh-CN" sz="2250" b="1">
                <a:solidFill>
                  <a:srgbClr val="3C342C"/>
                </a:solidFill>
                <a:latin typeface="Noto Serif SC"/>
                <a:ea typeface="Noto Serif SC"/>
              </a:rPr>
              <a:t>正在吞掉旅行</a:t>
            </a:r>
            <a:endParaRPr/>
          </a:p>
          <a:p>
            <a:pPr>
              <a:lnSpc>
                <a:spcPct val="165000"/>
              </a:lnSpc>
            </a:pPr>
            <a:r>
              <a:rPr lang="zh-CN" sz="2250" b="1">
                <a:solidFill>
                  <a:srgbClr val="3C342C"/>
                </a:solidFill>
                <a:latin typeface="Noto Serif SC"/>
                <a:ea typeface="Noto Serif SC"/>
              </a:rPr>
              <a:t>本该有的期待。</a:t>
            </a:r>
            <a:endParaRPr/>
          </a:p>
        </p:txBody>
      </p:sp>
      <p:sp>
        <p:nvSpPr>
          <p:cNvPr id="369" name=""/>
          <p:cNvSpPr/>
          <p:nvPr/>
        </p:nvSpPr>
        <p:spPr>
          <a:xfrm rot="0" flipH="0" flipV="0">
            <a:off x="609600" y="4848225"/>
            <a:ext cx="3876675" cy="628650"/>
          </a:xfrm>
          <a:custGeom>
            <a:pathLst>
              <a:path w="407" h="66">
                <a:moveTo>
                  <a:pt x="0" y="0"/>
                </a:moveTo>
                <a:lnTo>
                  <a:pt x="4" y="0"/>
                </a:lnTo>
                <a:lnTo>
                  <a:pt x="4" y="66"/>
                </a:lnTo>
                <a:lnTo>
                  <a:pt x="0" y="66"/>
                </a:lnTo>
                <a:close/>
              </a:path>
            </a:pathLst>
          </a:custGeom>
          <a:solidFill>
            <a:srgbClr val="E8B4A2"/>
          </a:solidFill>
          <a:ln/>
        </p:spPr>
        <p:txBody>
          <a:bodyPr/>
          <a:p/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800100" y="4848225"/>
            <a:ext cx="3648075" cy="6286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 b="1">
                <a:solidFill>
                  <a:srgbClr val="6C7E58"/>
                </a:solidFill>
                <a:latin typeface="Noto Sans SC"/>
                <a:ea typeface="Noto Sans SC"/>
              </a:rPr>
              <a:t>结果：想出发，</a:t>
            </a:r>
            <a:endParaRPr/>
          </a:p>
          <a:p>
            <a:pPr>
              <a:lnSpc>
                <a:spcPct val="170000"/>
              </a:lnSpc>
            </a:pPr>
            <a:r>
              <a:rPr lang="zh-CN" sz="1200" b="1">
                <a:solidFill>
                  <a:srgbClr val="6C7E58"/>
                </a:solidFill>
                <a:latin typeface="Noto Sans SC"/>
                <a:ea typeface="Noto Sans SC"/>
              </a:rPr>
              <a:t>但第一步总被推迟。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4733925" y="1143000"/>
            <a:ext cx="6848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150">
                <a:solidFill>
                  <a:srgbClr val="6C7E58"/>
                </a:solidFill>
                <a:latin typeface="Noto Sans SC"/>
                <a:ea typeface="Noto Sans SC"/>
              </a:rPr>
              <a:t>五个摩擦点</a:t>
            </a:r>
            <a:r>
              <a:rPr lang="en-US" sz="1050" b="1" spc="150">
                <a:solidFill>
                  <a:srgbClr val="6C7E58"/>
                </a:solidFill>
                <a:latin typeface="Noto Sans SC"/>
                <a:ea typeface="Noto Sans SC"/>
              </a:rPr>
              <a:t> · FRICTIONS</a:t>
            </a:r>
            <a:endParaRPr/>
          </a:p>
        </p:txBody>
      </p:sp>
      <p:sp>
        <p:nvSpPr>
          <p:cNvPr id="372" name=""/>
          <p:cNvSpPr/>
          <p:nvPr/>
        </p:nvSpPr>
        <p:spPr>
          <a:xfrm rot="0" flipH="0" flipV="0">
            <a:off x="4733925" y="1457325"/>
            <a:ext cx="2181225" cy="1409700"/>
          </a:xfrm>
          <a:prstGeom prst="roundRect">
            <a:avLst>
              <a:gd name="adj" fmla="val 10811"/>
            </a:avLst>
          </a:prstGeom>
          <a:solidFill>
            <a:srgbClr val="FFFDF8"/>
          </a:solidFill>
          <a:ln w="12700">
            <a:solidFill>
              <a:srgbClr val="E7DCCE"/>
            </a:solidFill>
            <a:prstDash val="solid"/>
          </a:ln>
          <a:effectLst>
            <a:outerShdw blurRad="152400" dist="38100" dir="5400000">
              <a:srgbClr val="3C342C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4905375" y="1628775"/>
            <a:ext cx="18383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C342C"/>
                </a:solidFill>
                <a:latin typeface="Noto Serif SC"/>
                <a:ea typeface="Noto Serif SC"/>
              </a:rPr>
              <a:t>规划成本高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4905375" y="1914525"/>
            <a:ext cx="1838325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查资料、比路线、做预算，出发前先累一遍。</a:t>
            </a:r>
            <a:endParaRPr/>
          </a:p>
        </p:txBody>
      </p:sp>
      <p:sp>
        <p:nvSpPr>
          <p:cNvPr id="375" name=""/>
          <p:cNvSpPr/>
          <p:nvPr/>
        </p:nvSpPr>
        <p:spPr>
          <a:xfrm rot="0" flipH="0" flipV="0">
            <a:off x="7067550" y="1457325"/>
            <a:ext cx="2181225" cy="1409700"/>
          </a:xfrm>
          <a:prstGeom prst="roundRect">
            <a:avLst>
              <a:gd name="adj" fmla="val 10811"/>
            </a:avLst>
          </a:prstGeom>
          <a:solidFill>
            <a:srgbClr val="FFFDF8"/>
          </a:solidFill>
          <a:ln w="12700">
            <a:solidFill>
              <a:srgbClr val="E7DCCE"/>
            </a:solidFill>
            <a:prstDash val="solid"/>
          </a:ln>
          <a:effectLst>
            <a:outerShdw blurRad="152400" dist="38100" dir="5400000">
              <a:srgbClr val="3C342C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7239000" y="1628775"/>
            <a:ext cx="18383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C342C"/>
                </a:solidFill>
                <a:latin typeface="Noto Serif SC"/>
                <a:ea typeface="Noto Serif SC"/>
              </a:rPr>
              <a:t>体验过于固化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7239000" y="1914525"/>
            <a:ext cx="1838325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模板化攻略，让每次旅行都像复制粘贴。</a:t>
            </a:r>
            <a:endParaRPr/>
          </a:p>
        </p:txBody>
      </p:sp>
      <p:sp>
        <p:nvSpPr>
          <p:cNvPr id="378" name=""/>
          <p:cNvSpPr/>
          <p:nvPr/>
        </p:nvSpPr>
        <p:spPr>
          <a:xfrm rot="0" flipH="0" flipV="0">
            <a:off x="9401175" y="1457325"/>
            <a:ext cx="2181225" cy="1409700"/>
          </a:xfrm>
          <a:prstGeom prst="roundRect">
            <a:avLst>
              <a:gd name="adj" fmla="val 10811"/>
            </a:avLst>
          </a:prstGeom>
          <a:solidFill>
            <a:srgbClr val="FFFDF8"/>
          </a:solidFill>
          <a:ln w="12700">
            <a:solidFill>
              <a:srgbClr val="E7DCCE"/>
            </a:solidFill>
            <a:prstDash val="solid"/>
          </a:ln>
          <a:effectLst>
            <a:outerShdw blurRad="152400" dist="38100" dir="5400000">
              <a:srgbClr val="3C342C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9572625" y="1628775"/>
            <a:ext cx="18383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C342C"/>
                </a:solidFill>
                <a:latin typeface="Noto Serif SC"/>
                <a:ea typeface="Noto Serif SC"/>
              </a:rPr>
              <a:t>匹配度不足</a:t>
            </a:r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9572625" y="1914525"/>
            <a:ext cx="1838325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通用内容，回应不了真实兴趣和当下心情。</a:t>
            </a:r>
            <a:endParaRPr/>
          </a:p>
        </p:txBody>
      </p:sp>
      <p:sp>
        <p:nvSpPr>
          <p:cNvPr id="381" name=""/>
          <p:cNvSpPr/>
          <p:nvPr/>
        </p:nvSpPr>
        <p:spPr>
          <a:xfrm rot="0" flipH="0" flipV="0">
            <a:off x="4733925" y="3019425"/>
            <a:ext cx="2181225" cy="1409700"/>
          </a:xfrm>
          <a:prstGeom prst="roundRect">
            <a:avLst>
              <a:gd name="adj" fmla="val 10811"/>
            </a:avLst>
          </a:prstGeom>
          <a:solidFill>
            <a:srgbClr val="FFFDF8"/>
          </a:solidFill>
          <a:ln w="12700">
            <a:solidFill>
              <a:srgbClr val="E7DCCE"/>
            </a:solidFill>
            <a:prstDash val="solid"/>
          </a:ln>
          <a:effectLst>
            <a:outerShdw blurRad="152400" dist="38100" dir="5400000">
              <a:srgbClr val="3C342C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4905375" y="3190875"/>
            <a:ext cx="18383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C342C"/>
                </a:solidFill>
                <a:latin typeface="Noto Serif SC"/>
                <a:ea typeface="Noto Serif SC"/>
              </a:rPr>
              <a:t>社交不安全</a:t>
            </a:r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4905375" y="3476625"/>
            <a:ext cx="1838325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想结伴，又担心隐私泄露和低质量撮合。</a:t>
            </a:r>
            <a:endParaRPr/>
          </a:p>
        </p:txBody>
      </p:sp>
      <p:sp>
        <p:nvSpPr>
          <p:cNvPr id="384" name=""/>
          <p:cNvSpPr/>
          <p:nvPr/>
        </p:nvSpPr>
        <p:spPr>
          <a:xfrm rot="0" flipH="0" flipV="0">
            <a:off x="7067550" y="3019425"/>
            <a:ext cx="2171700" cy="1409700"/>
          </a:xfrm>
          <a:prstGeom prst="roundRect">
            <a:avLst>
              <a:gd name="adj" fmla="val 10811"/>
            </a:avLst>
          </a:prstGeom>
          <a:solidFill>
            <a:srgbClr val="FFFDF8"/>
          </a:solidFill>
          <a:ln w="12700">
            <a:solidFill>
              <a:srgbClr val="E7DCCE"/>
            </a:solidFill>
            <a:prstDash val="solid"/>
          </a:ln>
          <a:effectLst>
            <a:outerShdw blurRad="152400" dist="38100" dir="5400000">
              <a:srgbClr val="3C342C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7239000" y="3190875"/>
            <a:ext cx="1828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C342C"/>
                </a:solidFill>
                <a:latin typeface="Noto Serif SC"/>
                <a:ea typeface="Noto Serif SC"/>
              </a:rPr>
              <a:t>缺少仪式感</a:t>
            </a:r>
            <a:endParaRPr/>
          </a:p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7239000" y="3476625"/>
            <a:ext cx="182880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信息很多，却没有「打开它」的期待。</a:t>
            </a:r>
            <a:endParaRPr/>
          </a:p>
        </p:txBody>
      </p:sp>
      <p:sp>
        <p:nvSpPr>
          <p:cNvPr id="387" name=""/>
          <p:cNvSpPr/>
          <p:nvPr/>
        </p:nvSpPr>
        <p:spPr>
          <a:xfrm rot="0" flipH="0" flipV="0">
            <a:off x="4733925" y="4581525"/>
            <a:ext cx="6848475" cy="1514475"/>
          </a:xfrm>
          <a:prstGeom prst="roundRect">
            <a:avLst>
              <a:gd name="adj" fmla="val 10063"/>
            </a:avLst>
          </a:prstGeom>
          <a:solidFill>
            <a:srgbClr val="E4EDD8"/>
          </a:solidFill>
          <a:ln/>
        </p:spPr>
        <p:txBody>
          <a:bodyPr/>
          <a:p/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4943475" y="5067300"/>
            <a:ext cx="6429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6C7E58"/>
                </a:solidFill>
                <a:latin typeface="Noto Sans SC"/>
                <a:ea typeface="Noto Sans SC"/>
              </a:rPr>
              <a:t>供给侧根因</a:t>
            </a:r>
            <a:endParaRPr/>
          </a:p>
        </p:txBody>
      </p:sp>
      <p:sp>
        <p:nvSpPr>
          <p:cNvPr id="389" name=""/>
          <p:cNvSpPr/>
          <p:nvPr/>
        </p:nvSpPr>
        <p:spPr>
          <a:xfrm rot="0" flipH="0" flipV="0">
            <a:off x="4943475" y="5324475"/>
            <a:ext cx="1104900" cy="295275"/>
          </a:xfrm>
          <a:prstGeom prst="roundRect">
            <a:avLst>
              <a:gd name="adj" fmla="val 3222581"/>
            </a:avLst>
          </a:prstGeom>
          <a:solidFill>
            <a:srgbClr val="FFFDF8"/>
          </a:solidFill>
          <a:ln w="12700">
            <a:solidFill>
              <a:srgbClr val="C9D6B8"/>
            </a:solidFill>
            <a:prstDash val="solid"/>
          </a:ln>
        </p:spPr>
        <p:txBody>
          <a:bodyPr/>
          <a:p/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5095875" y="539115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3C342C"/>
                </a:solidFill>
                <a:latin typeface="Noto Sans SC"/>
                <a:ea typeface="Noto Sans SC"/>
              </a:rPr>
              <a:t>传统模式固化</a:t>
            </a:r>
            <a:endParaRPr/>
          </a:p>
        </p:txBody>
      </p:sp>
      <p:sp>
        <p:nvSpPr>
          <p:cNvPr id="391" name=""/>
          <p:cNvSpPr/>
          <p:nvPr/>
        </p:nvSpPr>
        <p:spPr>
          <a:xfrm rot="0" flipH="0" flipV="0">
            <a:off x="6162675" y="5324475"/>
            <a:ext cx="1104900" cy="295275"/>
          </a:xfrm>
          <a:prstGeom prst="roundRect">
            <a:avLst>
              <a:gd name="adj" fmla="val 3222581"/>
            </a:avLst>
          </a:prstGeom>
          <a:solidFill>
            <a:srgbClr val="FFFDF8"/>
          </a:solidFill>
          <a:ln w="12700">
            <a:solidFill>
              <a:srgbClr val="C9D6B8"/>
            </a:solidFill>
            <a:prstDash val="solid"/>
          </a:ln>
        </p:spPr>
        <p:txBody>
          <a:bodyPr/>
          <a:p/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6315075" y="539115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3C342C"/>
                </a:solidFill>
                <a:latin typeface="Noto Sans SC"/>
                <a:ea typeface="Noto Sans SC"/>
              </a:rPr>
              <a:t>市场细分空白</a:t>
            </a:r>
            <a:endParaRPr/>
          </a:p>
        </p:txBody>
      </p:sp>
      <p:sp>
        <p:nvSpPr>
          <p:cNvPr id="393" name=""/>
          <p:cNvSpPr/>
          <p:nvPr/>
        </p:nvSpPr>
        <p:spPr>
          <a:xfrm rot="0" flipH="0" flipV="0">
            <a:off x="7381875" y="5324475"/>
            <a:ext cx="1104900" cy="295275"/>
          </a:xfrm>
          <a:prstGeom prst="roundRect">
            <a:avLst>
              <a:gd name="adj" fmla="val 3222581"/>
            </a:avLst>
          </a:prstGeom>
          <a:solidFill>
            <a:srgbClr val="FFFDF8"/>
          </a:solidFill>
          <a:ln w="12700">
            <a:solidFill>
              <a:srgbClr val="C9D6B8"/>
            </a:solidFill>
            <a:prstDash val="solid"/>
          </a:ln>
        </p:spPr>
        <p:txBody>
          <a:bodyPr/>
          <a:p/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7534275" y="539115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3C342C"/>
                </a:solidFill>
                <a:latin typeface="Noto Sans SC"/>
                <a:ea typeface="Noto Sans SC"/>
              </a:rPr>
              <a:t>轻量创新缺失</a:t>
            </a:r>
            <a:endParaRPr/>
          </a:p>
        </p:txBody>
      </p:sp>
      <p:sp>
        <p:nvSpPr>
          <p:cNvPr id="395" name=""/>
          <p:cNvSpPr/>
          <p:nvPr/>
        </p:nvSpPr>
        <p:spPr>
          <a:xfrm rot="0" flipH="0" flipV="0">
            <a:off x="8601075" y="5324475"/>
            <a:ext cx="1238250" cy="295275"/>
          </a:xfrm>
          <a:prstGeom prst="roundRect">
            <a:avLst>
              <a:gd name="adj" fmla="val 3222581"/>
            </a:avLst>
          </a:prstGeom>
          <a:solidFill>
            <a:srgbClr val="FFFDF8"/>
          </a:solidFill>
          <a:ln w="12700">
            <a:solidFill>
              <a:srgbClr val="C9D6B8"/>
            </a:solidFill>
            <a:prstDash val="solid"/>
          </a:ln>
        </p:spPr>
        <p:txBody>
          <a:bodyPr/>
          <a:p/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8753475" y="5391150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3C342C"/>
                </a:solidFill>
                <a:latin typeface="Noto Sans SC"/>
                <a:ea typeface="Noto Sans SC"/>
              </a:rPr>
              <a:t>社交体系不规范</a:t>
            </a:r>
            <a:endParaRPr/>
          </a:p>
        </p:txBody>
      </p:sp>
      <p:sp>
        <p:nvSpPr>
          <p:cNvPr id="397" name=""/>
          <p:cNvSpPr/>
          <p:nvPr/>
        </p:nvSpPr>
        <p:spPr>
          <a:xfrm rot="0" flipH="0" flipV="0">
            <a:off x="609600" y="6096000"/>
            <a:ext cx="10972800" cy="571500"/>
          </a:xfrm>
          <a:custGeom>
            <a:pathLst>
              <a:path w="1152" h="6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7DCCE"/>
          </a:solidFill>
          <a:ln/>
        </p:spPr>
        <p:txBody>
          <a:bodyPr/>
          <a:p/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609600" y="6315075"/>
            <a:ext cx="1095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途个惊喜</a:t>
            </a:r>
            <a:r>
              <a:rPr lang="en-US" sz="975">
                <a:solidFill>
                  <a:srgbClr val="8F8376"/>
                </a:solidFill>
                <a:latin typeface="Noto Sans SC"/>
                <a:ea typeface="Noto Sans SC"/>
              </a:rPr>
              <a:t> · </a:t>
            </a: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随盒出发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11201400" y="6315075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F8376"/>
                </a:solidFill>
                <a:latin typeface="Noto Sans SC"/>
                <a:ea typeface="Noto Sans SC"/>
              </a:rPr>
              <a:t>05 / 15</a:t>
            </a:r>
            <a:endParaRPr/>
          </a:p>
        </p:txBody>
      </p:sp>
    </p:spTree>
  </p:cSld>
</p:sld>
</file>

<file path=ppt/slides/slide6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400" name="" descr="&lt;Slide style={{ width: 1280, height: 720, background: '#F6F1E6', padding: '20px 64px', position: 'relative', overflow: 'hidden' }}&gt;&#10;    &lt;Box style={{ position: 'absolute', top: -80, right: -60, width: 300, height: 190, borderRadius: '50%', background: '#E4EDD8', opacity: 0.45 }} /&gt;&#10;    &lt;Box style={{ position: 'absolute', bottom: -120, left: -80, width: 340, height: 210, borderRadius: '50%', background: '#EFE6D6', opacity: 0.5 }} /&gt;&#10;&#10;    {/* A 标题块 */}&#10;    &lt;Box style={{ height: 100, flexDirection: 'row', alignItems: 'flex-end', justifyContent: 'space-between', position: 'relative', zIndex: 1 }}&gt;&#10;        &lt;Box style={{ gap: 4, paddingBottom: 6 }}&gt;&#10;            &lt;Text style={{ fontFamily: 'Caveat, cursive', fontSize: 17, fontWeight: 700, color: '#8EA47C', letterSpacing: 1 }}&gt;05 · Solution&lt;/Text&gt;&#10;            &lt;Text style={{ fontFamily: 'Noto Serif SC, serif', fontSize: 34, fontWeight: 900, color: '#3C342C' }}&gt;解决方案&lt;/Text&gt;&#10;            &lt;Box style={{ width: 56, height: 6, borderRadius: 3, background: '#8EA47C', marginTop: 6 }} /&gt;&#10;        &lt;/Box&gt;&#10;        &lt;Text style={{ fontFamily: 'Noto Sans SC, sans-serif', fontSize: 15, color: '#8F8376', width: 460, textAlign: 'right', lineHeight: 1.7, paddingBottom: 10 }}&gt;&#10;            把复杂的旅行规划，折叠成一次有回应的开盒。&#10;        &lt;/Text&gt;&#10;    &lt;/Box&gt;&#10;&#10;    {/* B 内容区 */}&#10;    &lt;Box style={{ height: 520, position: 'relative', zIndex: 1, justifyContent: 'center', gap: 40 }}&gt;&#10;        &lt;Text style={{ fontFamily: 'Caveat, cursive', fontSize: 22, fontWeight: 700, color: '#8EA47C' }}&gt;How it works — 一次开盒的五步&lt;/Text&gt;&#10;&#10;        {/* 五步旅程轴 */}&#10;        &lt;Box style={{ flexDirection: 'row', alignItems: 'flex-start', justifyContent: 'space-between' }}&gt;&#10;            {[&#10;                { n: '1', t: '选心情', d: '开心 / emo / 无聊 / 迷茫，先说心情，再说目的地' },&#10;                { n: '2', t: '挑盲盒', d: '按分类浏览，几十秒做完决定' },&#10;                { n: '3', t: '开惊喜', d: '随机解锁一条结构化路线' },&#10;                { n: '4', t: '去旅行', d: '行程、徽章、日记一路沉淀' },&#10;                { n: '5', t: '再回来', d: 'AI 搭子和兴趣同好把你留住' },&#10;            ].map((item, idx) =&gt; (&#10;                &lt;Box key={idx} style={{ flexDirection: 'row', alignItems: 'flex-start' }}&gt;&#10;                    &lt;Box style={{ alignItems: 'center', width: 190, gap: 12 }}&gt;&#10;                        &lt;Box style={{&#10;                            width: 64,&#10;                            height: 64,&#10;                            borderRadius: '50%',&#10;                            background: 'linear-gradient(135deg, #8EA47C 0%, #6C7E58 100%)',&#10;                            alignItems: 'center',&#10;                            justifyContent: 'center',&#10;                            boxShadow: '0 8px 18px rgba(108,126,88,0.3)',&#10;                        }}&gt;&#10;                            &lt;Text style={{ fontFamily: 'Noto Serif SC, serif', fontSize: 26, fontWeight: 900, color: '#FFFDF8' }}&gt;{item.n}&lt;/Text&gt;&#10;                        &lt;/Box&gt;&#10;                        &lt;Text style={{ fontFamily: 'Noto Serif SC, serif', fontSize: 20, fontWeight: 700, color: '#3C342C' }}&gt;{item.t}&lt;/Text&gt;&#10;                        &lt;Text style={{ fontFamily: 'Noto Sans SC, sans-serif', fontSize: 13, color: '#8F8376', lineHeight: 1.6, textAlign: 'center' }}&gt;{item.d}&lt;/Text&gt;&#10;                    &lt;/Box&gt;&#10;                    {idx &lt; 4 &amp;&amp; (&#10;                        &lt;Box style={{ width: 30, height: 64, alignItems: 'center', justifyContent: 'center' }}&gt;&#10;                            &lt;FAIcon name=&quot;arrow-right&quot; style={{ fill: '#C9D6B8', width: 20, height: 20 }} /&gt;&#10;                        &lt;/Box&gt;&#10;                    )}&#10;                &lt;/Box&gt;&#10;            ))}&#10;        &lt;/Box&gt;&#10;&#10;        {/* 底部做法条 */}&#10;        &lt;Box style={{&#10;            height: 76,&#10;            borderRadius: 16,&#10;            background: 'linear-gradient(135deg, #8EA47C 0%, #6C7E58 100%)',&#10;            flexDirection: 'row',&#10;            alignItems: 'center',&#10;            padding: '0 28px',&#10;            gap: 18,&#10;            boxShadow: '0 10px 24px rgba(108,126,88,0.26)',&#10;        }}&gt;&#10;            &lt;Text style={{ fontFamily: 'Noto Serif SC, serif', fontSize: 17, fontWeight: 700, color: '#FFFDF8' }}&gt;我们的做法&lt;/Text&gt;&#10;            &lt;Box style={{ width: 1, height: 28, background: 'rgba(255,253,248,0.4)' }} /&gt;&#10;            &lt;Text style={{ fontFamily: 'Noto Sans SC, sans-serif', fontSize: 16, fontWeight: 500, color: '#FFFDF8', letterSpacing: 1 }}&gt;&#10;                盲盒轻量化 · 兴趣垂直化 · 视觉潮玩化 · 社交合规化&#10;            &lt;/Text&gt;&#10;        &lt;/Box&gt;&#10;    &lt;/Box&gt;&#10;&#10;    {/* C 页脚 */}&#10;    &lt;Box style={{ height: 60, flexDirection: 'row', alignItems: 'center', justifyContent: 'space-between', borderTop: '1px solid #E7DCCE', position: 'relative', zIndex: 1 }}&gt;&#10;        &lt;Text style={{ fontFamily: 'Noto Sans SC, sans-serif', fontSize: 13, color: '#8F8376' }}&gt;途个惊喜 · 随盒出发&lt;/Text&gt;&#10;        &lt;Text style={{ fontFamily: 'Noto Sans SC, sans-serif', fontSize: 13, color: '#8F8376' }}&gt;06 / 1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6F1E6"/>
          </a:solidFill>
          <a:ln/>
        </p:spPr>
        <p:txBody>
          <a:bodyPr/>
          <a:p/>
        </p:txBody>
      </p:sp>
      <p:sp>
        <p:nvSpPr>
          <p:cNvPr id="402" name=""/>
          <p:cNvSpPr/>
          <p:nvPr/>
        </p:nvSpPr>
        <p:spPr>
          <a:xfrm rot="0" flipH="0" flipV="0">
            <a:off x="9906000" y="-762000"/>
            <a:ext cx="2857500" cy="1809750"/>
          </a:xfrm>
          <a:custGeom>
            <a:pathLst>
              <a:path w="300" h="190">
                <a:moveTo>
                  <a:pt x="240" y="171"/>
                </a:moveTo>
                <a:cubicBezTo>
                  <a:pt x="161" y="211"/>
                  <a:pt x="66" y="192"/>
                  <a:pt x="8" y="125"/>
                </a:cubicBezTo>
                <a:cubicBezTo>
                  <a:pt x="0" y="112"/>
                  <a:pt x="-2" y="95"/>
                  <a:pt x="2" y="80"/>
                </a:cubicBezTo>
                <a:lnTo>
                  <a:pt x="240" y="80"/>
                </a:lnTo>
                <a:close/>
              </a:path>
            </a:pathLst>
          </a:custGeom>
          <a:solidFill>
            <a:srgbClr val="E4EDD8">
              <a:alpha val="45000"/>
            </a:srgbClr>
          </a:solidFill>
          <a:ln/>
        </p:spPr>
        <p:txBody>
          <a:bodyPr/>
          <a:p/>
        </p:txBody>
      </p:sp>
      <p:sp>
        <p:nvSpPr>
          <p:cNvPr id="403" name=""/>
          <p:cNvSpPr/>
          <p:nvPr/>
        </p:nvSpPr>
        <p:spPr>
          <a:xfrm rot="0" flipH="0" flipV="0">
            <a:off x="-762000" y="6000750"/>
            <a:ext cx="3238500" cy="2000250"/>
          </a:xfrm>
          <a:custGeom>
            <a:pathLst>
              <a:path w="340" h="210">
                <a:moveTo>
                  <a:pt x="174" y="0"/>
                </a:moveTo>
                <a:cubicBezTo>
                  <a:pt x="241" y="-7"/>
                  <a:pt x="306" y="27"/>
                  <a:pt x="337" y="86"/>
                </a:cubicBezTo>
                <a:lnTo>
                  <a:pt x="338" y="89"/>
                </a:lnTo>
                <a:lnTo>
                  <a:pt x="338" y="90"/>
                </a:lnTo>
                <a:lnTo>
                  <a:pt x="80" y="90"/>
                </a:lnTo>
                <a:lnTo>
                  <a:pt x="80" y="16"/>
                </a:lnTo>
                <a:cubicBezTo>
                  <a:pt x="109" y="5"/>
                  <a:pt x="139" y="0"/>
                  <a:pt x="170" y="0"/>
                </a:cubicBezTo>
                <a:close/>
              </a:path>
            </a:pathLst>
          </a:custGeom>
          <a:solidFill>
            <a:srgbClr val="EFE6D6">
              <a:alpha val="50000"/>
            </a:srgbClr>
          </a:solidFill>
          <a:ln/>
        </p:spPr>
        <p:txBody>
          <a:bodyPr/>
          <a:p/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609600" y="304800"/>
            <a:ext cx="1295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 spc="75">
                <a:solidFill>
                  <a:srgbClr val="8EA47C"/>
                </a:solidFill>
                <a:latin typeface="Caveat"/>
                <a:ea typeface="Caveat"/>
              </a:rPr>
              <a:t>05 · Solution</a:t>
            </a:r>
            <a:endParaRPr/>
          </a:p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609600" y="542925"/>
            <a:ext cx="1295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3C342C"/>
                </a:solidFill>
                <a:latin typeface="Noto Serif SC"/>
                <a:ea typeface="Noto Serif SC"/>
              </a:rPr>
              <a:t>解决方案</a:t>
            </a:r>
            <a:endParaRPr/>
          </a:p>
        </p:txBody>
      </p:sp>
      <p:sp>
        <p:nvSpPr>
          <p:cNvPr id="406" name=""/>
          <p:cNvSpPr/>
          <p:nvPr/>
        </p:nvSpPr>
        <p:spPr>
          <a:xfrm rot="0" flipH="0" flipV="0">
            <a:off x="609600" y="1028700"/>
            <a:ext cx="533400" cy="57150"/>
          </a:xfrm>
          <a:prstGeom prst="roundRect">
            <a:avLst>
              <a:gd name="adj" fmla="val 50000"/>
            </a:avLst>
          </a:prstGeom>
          <a:solidFill>
            <a:srgbClr val="8EA47C"/>
          </a:solidFill>
          <a:ln/>
        </p:spPr>
        <p:txBody>
          <a:bodyPr/>
          <a:p/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7200900" y="752475"/>
            <a:ext cx="4381500" cy="390525"/>
          </a:xfrm>
          <a:prstGeom prst="rect"/>
        </p:spPr>
        <p:txBody>
          <a:bodyPr wrap="none" lIns="0" tIns="0" rIns="0" bIns="71438"/>
          <a:p>
            <a:pPr algn="r">
              <a:lnSpc>
                <a:spcPct val="170000"/>
              </a:lnSpc>
            </a:pPr>
            <a:r>
              <a:rPr lang="zh-CN" sz="1125">
                <a:solidFill>
                  <a:srgbClr val="8F8376"/>
                </a:solidFill>
                <a:latin typeface="Noto Sans SC"/>
                <a:ea typeface="Noto Sans SC"/>
              </a:rPr>
              <a:t>把复杂的旅行规划，折叠成一次有回应的开盒。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609600" y="1981200"/>
            <a:ext cx="10972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8EA47C"/>
                </a:solidFill>
                <a:latin typeface="Caveat"/>
                <a:ea typeface="Caveat"/>
              </a:rPr>
              <a:t>How it works — </a:t>
            </a:r>
            <a:r>
              <a:rPr lang="zh-CN" sz="1650" b="1">
                <a:solidFill>
                  <a:srgbClr val="8EA47C"/>
                </a:solidFill>
                <a:latin typeface="Caveat"/>
                <a:ea typeface="Caveat"/>
              </a:rPr>
              <a:t>一次开盒的五步</a:t>
            </a:r>
            <a:endParaRPr/>
          </a:p>
        </p:txBody>
      </p:sp>
      <p:sp>
        <p:nvSpPr>
          <p:cNvPr id="409" name=""/>
          <p:cNvSpPr/>
          <p:nvPr/>
        </p:nvSpPr>
        <p:spPr>
          <a:xfrm rot="0" flipH="0" flipV="0">
            <a:off x="1209675" y="2619375"/>
            <a:ext cx="609600" cy="609600"/>
          </a:xfrm>
          <a:custGeom>
            <a:pathLst>
              <a:path w="64" h="64">
                <a:moveTo>
                  <a:pt x="32" y="0"/>
                </a:moveTo>
                <a:lnTo>
                  <a:pt x="32" y="0"/>
                </a:lnTo>
                <a:cubicBezTo>
                  <a:pt x="50" y="0"/>
                  <a:pt x="64" y="14"/>
                  <a:pt x="64" y="32"/>
                </a:cubicBezTo>
                <a:lnTo>
                  <a:pt x="64" y="32"/>
                </a:lnTo>
                <a:cubicBezTo>
                  <a:pt x="64" y="50"/>
                  <a:pt x="50" y="64"/>
                  <a:pt x="32" y="64"/>
                </a:cubicBezTo>
                <a:lnTo>
                  <a:pt x="32" y="64"/>
                </a:lnTo>
                <a:cubicBezTo>
                  <a:pt x="14" y="64"/>
                  <a:pt x="0" y="50"/>
                  <a:pt x="0" y="32"/>
                </a:cubicBezTo>
                <a:lnTo>
                  <a:pt x="0" y="32"/>
                </a:lnTo>
                <a:cubicBezTo>
                  <a:pt x="0" y="14"/>
                  <a:pt x="14" y="0"/>
                  <a:pt x="32" y="0"/>
                </a:cubicBezTo>
                <a:close/>
              </a:path>
            </a:pathLst>
          </a:custGeom>
          <a:gradFill>
            <a:gsLst>
              <a:gs pos="0">
                <a:srgbClr val="8EA47C"/>
              </a:gs>
              <a:gs pos="100000">
                <a:srgbClr val="6C7E58"/>
              </a:gs>
            </a:gsLst>
            <a:lin ang="2700000" scaled="1"/>
          </a:gradFill>
          <a:ln/>
          <a:effectLst>
            <a:outerShdw blurRad="171450" dist="76200" dir="5400000">
              <a:srgbClr val="6C7E5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1457325" y="2771775"/>
            <a:ext cx="1238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DF8"/>
                </a:solidFill>
                <a:latin typeface="Noto Serif SC"/>
                <a:ea typeface="Noto Serif SC"/>
              </a:rPr>
              <a:t>1</a:t>
            </a:r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1228725" y="3343275"/>
            <a:ext cx="571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3C342C"/>
                </a:solidFill>
                <a:latin typeface="Noto Serif SC"/>
                <a:ea typeface="Noto Serif SC"/>
              </a:rPr>
              <a:t>选心情</a:t>
            </a:r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609600" y="3686175"/>
            <a:ext cx="1809750" cy="47625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60000"/>
              </a:lnSpc>
            </a:pP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开心</a:t>
            </a:r>
            <a:r>
              <a:rPr lang="en-US" sz="975">
                <a:solidFill>
                  <a:srgbClr val="8F8376"/>
                </a:solidFill>
                <a:latin typeface="Noto Sans SC"/>
                <a:ea typeface="Noto Sans SC"/>
              </a:rPr>
              <a:t> / emo / </a:t>
            </a: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无聊</a:t>
            </a:r>
            <a:r>
              <a:rPr lang="en-US" sz="975">
                <a:solidFill>
                  <a:srgbClr val="8F8376"/>
                </a:solidFill>
                <a:latin typeface="Noto Sans SC"/>
                <a:ea typeface="Noto Sans SC"/>
              </a:rPr>
              <a:t> / </a:t>
            </a: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迷茫，先说心情，再说目的地</a:t>
            </a:r>
            <a:endParaRPr/>
          </a:p>
        </p:txBody>
      </p:sp>
      <p:pic>
        <p:nvPicPr>
          <p:cNvPr id="41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2466975" y="2828925"/>
            <a:ext cx="190500" cy="190500"/>
          </a:xfrm>
          <a:prstGeom prst="rect">
            <a:avLst/>
          </a:prstGeom>
          <a:ln/>
        </p:spPr>
      </p:pic>
      <p:sp>
        <p:nvSpPr>
          <p:cNvPr id="414" name=""/>
          <p:cNvSpPr/>
          <p:nvPr/>
        </p:nvSpPr>
        <p:spPr>
          <a:xfrm rot="0" flipH="0" flipV="0">
            <a:off x="3505200" y="2619375"/>
            <a:ext cx="609600" cy="609600"/>
          </a:xfrm>
          <a:custGeom>
            <a:pathLst>
              <a:path w="64" h="64">
                <a:moveTo>
                  <a:pt x="32" y="0"/>
                </a:moveTo>
                <a:lnTo>
                  <a:pt x="32" y="0"/>
                </a:lnTo>
                <a:cubicBezTo>
                  <a:pt x="50" y="0"/>
                  <a:pt x="64" y="14"/>
                  <a:pt x="64" y="32"/>
                </a:cubicBezTo>
                <a:lnTo>
                  <a:pt x="64" y="32"/>
                </a:lnTo>
                <a:cubicBezTo>
                  <a:pt x="64" y="50"/>
                  <a:pt x="50" y="64"/>
                  <a:pt x="32" y="64"/>
                </a:cubicBezTo>
                <a:lnTo>
                  <a:pt x="32" y="64"/>
                </a:lnTo>
                <a:cubicBezTo>
                  <a:pt x="14" y="64"/>
                  <a:pt x="0" y="50"/>
                  <a:pt x="0" y="32"/>
                </a:cubicBezTo>
                <a:lnTo>
                  <a:pt x="0" y="32"/>
                </a:lnTo>
                <a:cubicBezTo>
                  <a:pt x="0" y="14"/>
                  <a:pt x="14" y="0"/>
                  <a:pt x="32" y="0"/>
                </a:cubicBezTo>
                <a:close/>
              </a:path>
            </a:pathLst>
          </a:custGeom>
          <a:gradFill>
            <a:gsLst>
              <a:gs pos="0">
                <a:srgbClr val="8EA47C"/>
              </a:gs>
              <a:gs pos="100000">
                <a:srgbClr val="6C7E58"/>
              </a:gs>
            </a:gsLst>
            <a:lin ang="2700000" scaled="1"/>
          </a:gradFill>
          <a:ln/>
          <a:effectLst>
            <a:outerShdw blurRad="171450" dist="76200" dir="5400000">
              <a:srgbClr val="6C7E5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3752850" y="2771775"/>
            <a:ext cx="1238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DF8"/>
                </a:solidFill>
                <a:latin typeface="Noto Serif SC"/>
                <a:ea typeface="Noto Serif SC"/>
              </a:rPr>
              <a:t>2</a:t>
            </a:r>
            <a:endParaRPr/>
          </a:p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3524250" y="3343275"/>
            <a:ext cx="571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3C342C"/>
                </a:solidFill>
                <a:latin typeface="Noto Serif SC"/>
                <a:ea typeface="Noto Serif SC"/>
              </a:rPr>
              <a:t>挑盲盒</a:t>
            </a:r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3009900" y="3686175"/>
            <a:ext cx="1609725" cy="238125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按分类浏览，几十秒做完决定</a:t>
            </a:r>
            <a:endParaRPr/>
          </a:p>
        </p:txBody>
      </p:sp>
      <p:pic>
        <p:nvPicPr>
          <p:cNvPr id="41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762500" y="2828925"/>
            <a:ext cx="190500" cy="190500"/>
          </a:xfrm>
          <a:prstGeom prst="rect">
            <a:avLst/>
          </a:prstGeom>
          <a:ln/>
        </p:spPr>
      </p:pic>
      <p:sp>
        <p:nvSpPr>
          <p:cNvPr id="419" name=""/>
          <p:cNvSpPr/>
          <p:nvPr/>
        </p:nvSpPr>
        <p:spPr>
          <a:xfrm rot="0" flipH="0" flipV="0">
            <a:off x="5791200" y="2619375"/>
            <a:ext cx="609600" cy="609600"/>
          </a:xfrm>
          <a:custGeom>
            <a:pathLst>
              <a:path w="64" h="64">
                <a:moveTo>
                  <a:pt x="32" y="0"/>
                </a:moveTo>
                <a:lnTo>
                  <a:pt x="32" y="0"/>
                </a:lnTo>
                <a:cubicBezTo>
                  <a:pt x="50" y="0"/>
                  <a:pt x="64" y="14"/>
                  <a:pt x="64" y="32"/>
                </a:cubicBezTo>
                <a:lnTo>
                  <a:pt x="64" y="32"/>
                </a:lnTo>
                <a:cubicBezTo>
                  <a:pt x="64" y="50"/>
                  <a:pt x="50" y="64"/>
                  <a:pt x="32" y="64"/>
                </a:cubicBezTo>
                <a:lnTo>
                  <a:pt x="32" y="64"/>
                </a:lnTo>
                <a:cubicBezTo>
                  <a:pt x="14" y="64"/>
                  <a:pt x="0" y="50"/>
                  <a:pt x="0" y="32"/>
                </a:cubicBezTo>
                <a:lnTo>
                  <a:pt x="0" y="32"/>
                </a:lnTo>
                <a:cubicBezTo>
                  <a:pt x="0" y="14"/>
                  <a:pt x="14" y="0"/>
                  <a:pt x="32" y="0"/>
                </a:cubicBezTo>
                <a:close/>
              </a:path>
            </a:pathLst>
          </a:custGeom>
          <a:gradFill>
            <a:gsLst>
              <a:gs pos="0">
                <a:srgbClr val="8EA47C"/>
              </a:gs>
              <a:gs pos="100000">
                <a:srgbClr val="6C7E58"/>
              </a:gs>
            </a:gsLst>
            <a:lin ang="2700000" scaled="1"/>
          </a:gradFill>
          <a:ln/>
          <a:effectLst>
            <a:outerShdw blurRad="171450" dist="76200" dir="5400000">
              <a:srgbClr val="6C7E5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6038850" y="2771775"/>
            <a:ext cx="1238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DF8"/>
                </a:solidFill>
                <a:latin typeface="Noto Serif SC"/>
                <a:ea typeface="Noto Serif SC"/>
              </a:rPr>
              <a:t>3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5810250" y="3343275"/>
            <a:ext cx="571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3C342C"/>
                </a:solidFill>
                <a:latin typeface="Noto Serif SC"/>
                <a:ea typeface="Noto Serif SC"/>
              </a:rPr>
              <a:t>开惊喜</a:t>
            </a:r>
            <a:endParaRPr/>
          </a:p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5419725" y="3686175"/>
            <a:ext cx="1362075" cy="238125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随机解锁一条结构化路线</a:t>
            </a:r>
            <a:endParaRPr/>
          </a:p>
        </p:txBody>
      </p:sp>
      <p:pic>
        <p:nvPicPr>
          <p:cNvPr id="42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048500" y="2828925"/>
            <a:ext cx="190500" cy="190500"/>
          </a:xfrm>
          <a:prstGeom prst="rect">
            <a:avLst/>
          </a:prstGeom>
          <a:ln/>
        </p:spPr>
      </p:pic>
      <p:sp>
        <p:nvSpPr>
          <p:cNvPr id="424" name=""/>
          <p:cNvSpPr/>
          <p:nvPr/>
        </p:nvSpPr>
        <p:spPr>
          <a:xfrm rot="0" flipH="0" flipV="0">
            <a:off x="8086725" y="2619375"/>
            <a:ext cx="609600" cy="609600"/>
          </a:xfrm>
          <a:custGeom>
            <a:pathLst>
              <a:path w="64" h="64">
                <a:moveTo>
                  <a:pt x="32" y="0"/>
                </a:moveTo>
                <a:lnTo>
                  <a:pt x="32" y="0"/>
                </a:lnTo>
                <a:cubicBezTo>
                  <a:pt x="50" y="0"/>
                  <a:pt x="64" y="14"/>
                  <a:pt x="64" y="32"/>
                </a:cubicBezTo>
                <a:lnTo>
                  <a:pt x="64" y="32"/>
                </a:lnTo>
                <a:cubicBezTo>
                  <a:pt x="64" y="50"/>
                  <a:pt x="50" y="64"/>
                  <a:pt x="32" y="64"/>
                </a:cubicBezTo>
                <a:lnTo>
                  <a:pt x="32" y="64"/>
                </a:lnTo>
                <a:cubicBezTo>
                  <a:pt x="14" y="64"/>
                  <a:pt x="0" y="50"/>
                  <a:pt x="0" y="32"/>
                </a:cubicBezTo>
                <a:lnTo>
                  <a:pt x="0" y="32"/>
                </a:lnTo>
                <a:cubicBezTo>
                  <a:pt x="0" y="14"/>
                  <a:pt x="14" y="0"/>
                  <a:pt x="32" y="0"/>
                </a:cubicBezTo>
                <a:close/>
              </a:path>
            </a:pathLst>
          </a:custGeom>
          <a:gradFill>
            <a:gsLst>
              <a:gs pos="0">
                <a:srgbClr val="8EA47C"/>
              </a:gs>
              <a:gs pos="100000">
                <a:srgbClr val="6C7E58"/>
              </a:gs>
            </a:gsLst>
            <a:lin ang="2700000" scaled="1"/>
          </a:gradFill>
          <a:ln/>
          <a:effectLst>
            <a:outerShdw blurRad="171450" dist="76200" dir="5400000">
              <a:srgbClr val="6C7E5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8334375" y="2771775"/>
            <a:ext cx="1238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DF8"/>
                </a:solidFill>
                <a:latin typeface="Noto Serif SC"/>
                <a:ea typeface="Noto Serif SC"/>
              </a:rPr>
              <a:t>4</a:t>
            </a:r>
            <a:endParaRPr/>
          </a:p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8105775" y="3343275"/>
            <a:ext cx="571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3C342C"/>
                </a:solidFill>
                <a:latin typeface="Noto Serif SC"/>
                <a:ea typeface="Noto Serif SC"/>
              </a:rPr>
              <a:t>去旅行</a:t>
            </a:r>
            <a:endParaRPr/>
          </a:p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7648575" y="3686175"/>
            <a:ext cx="1485900" cy="238125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行程、徽章、日记一路沉淀</a:t>
            </a:r>
            <a:endParaRPr/>
          </a:p>
        </p:txBody>
      </p:sp>
      <p:pic>
        <p:nvPicPr>
          <p:cNvPr id="42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344025" y="2828925"/>
            <a:ext cx="190500" cy="190500"/>
          </a:xfrm>
          <a:prstGeom prst="rect">
            <a:avLst/>
          </a:prstGeom>
          <a:ln/>
        </p:spPr>
      </p:pic>
      <p:sp>
        <p:nvSpPr>
          <p:cNvPr id="429" name=""/>
          <p:cNvSpPr/>
          <p:nvPr/>
        </p:nvSpPr>
        <p:spPr>
          <a:xfrm rot="0" flipH="0" flipV="0">
            <a:off x="10372725" y="2619375"/>
            <a:ext cx="609600" cy="609600"/>
          </a:xfrm>
          <a:custGeom>
            <a:pathLst>
              <a:path w="64" h="64">
                <a:moveTo>
                  <a:pt x="32" y="0"/>
                </a:moveTo>
                <a:lnTo>
                  <a:pt x="32" y="0"/>
                </a:lnTo>
                <a:cubicBezTo>
                  <a:pt x="50" y="0"/>
                  <a:pt x="64" y="14"/>
                  <a:pt x="64" y="32"/>
                </a:cubicBezTo>
                <a:lnTo>
                  <a:pt x="64" y="32"/>
                </a:lnTo>
                <a:cubicBezTo>
                  <a:pt x="64" y="50"/>
                  <a:pt x="50" y="64"/>
                  <a:pt x="32" y="64"/>
                </a:cubicBezTo>
                <a:lnTo>
                  <a:pt x="32" y="64"/>
                </a:lnTo>
                <a:cubicBezTo>
                  <a:pt x="14" y="64"/>
                  <a:pt x="0" y="50"/>
                  <a:pt x="0" y="32"/>
                </a:cubicBezTo>
                <a:lnTo>
                  <a:pt x="0" y="32"/>
                </a:lnTo>
                <a:cubicBezTo>
                  <a:pt x="0" y="14"/>
                  <a:pt x="14" y="0"/>
                  <a:pt x="32" y="0"/>
                </a:cubicBezTo>
                <a:close/>
              </a:path>
            </a:pathLst>
          </a:custGeom>
          <a:gradFill>
            <a:gsLst>
              <a:gs pos="0">
                <a:srgbClr val="8EA47C"/>
              </a:gs>
              <a:gs pos="100000">
                <a:srgbClr val="6C7E58"/>
              </a:gs>
            </a:gsLst>
            <a:lin ang="2700000" scaled="1"/>
          </a:gradFill>
          <a:ln/>
          <a:effectLst>
            <a:outerShdw blurRad="171450" dist="76200" dir="5400000">
              <a:srgbClr val="6C7E5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10620375" y="2771775"/>
            <a:ext cx="1238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DF8"/>
                </a:solidFill>
                <a:latin typeface="Noto Serif SC"/>
                <a:ea typeface="Noto Serif SC"/>
              </a:rPr>
              <a:t>5</a:t>
            </a:r>
            <a:endParaRPr/>
          </a:p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10391775" y="3343275"/>
            <a:ext cx="571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3C342C"/>
                </a:solidFill>
                <a:latin typeface="Noto Serif SC"/>
                <a:ea typeface="Noto Serif SC"/>
              </a:rPr>
              <a:t>再回来</a:t>
            </a:r>
            <a:endParaRPr/>
          </a:p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9925050" y="3686175"/>
            <a:ext cx="1514475" cy="238125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en-US" sz="975">
                <a:solidFill>
                  <a:srgbClr val="8F8376"/>
                </a:solidFill>
                <a:latin typeface="Noto Sans SC"/>
                <a:ea typeface="Noto Sans SC"/>
              </a:rPr>
              <a:t>AI </a:t>
            </a: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搭子和兴趣同好把你留住</a:t>
            </a:r>
            <a:endParaRPr/>
          </a:p>
        </p:txBody>
      </p:sp>
      <p:sp>
        <p:nvSpPr>
          <p:cNvPr id="433" name=""/>
          <p:cNvSpPr/>
          <p:nvPr/>
        </p:nvSpPr>
        <p:spPr>
          <a:xfrm rot="0" flipH="0" flipV="0">
            <a:off x="609600" y="4543425"/>
            <a:ext cx="10972800" cy="723900"/>
          </a:xfrm>
          <a:prstGeom prst="roundRect">
            <a:avLst>
              <a:gd name="adj" fmla="val 21053"/>
            </a:avLst>
          </a:prstGeom>
          <a:gradFill>
            <a:gsLst>
              <a:gs pos="0">
                <a:srgbClr val="8EA47C"/>
              </a:gs>
              <a:gs pos="100000">
                <a:srgbClr val="6C7E58"/>
              </a:gs>
            </a:gsLst>
            <a:lin ang="2700000" scaled="1"/>
          </a:gradFill>
          <a:ln/>
          <a:effectLst>
            <a:outerShdw blurRad="228600" dist="95250" dir="5400000">
              <a:srgbClr val="6C7E58">
                <a:alpha val="26000"/>
              </a:srgbClr>
            </a:outerShdw>
          </a:effectLst>
        </p:spPr>
        <p:txBody>
          <a:bodyPr/>
          <a:p/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876300" y="4810125"/>
            <a:ext cx="809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DF8"/>
                </a:solidFill>
                <a:latin typeface="Noto Serif SC"/>
                <a:ea typeface="Noto Serif SC"/>
              </a:rPr>
              <a:t>我们的做法</a:t>
            </a:r>
            <a:endParaRPr/>
          </a:p>
        </p:txBody>
      </p:sp>
      <p:sp>
        <p:nvSpPr>
          <p:cNvPr id="435" name=""/>
          <p:cNvSpPr/>
          <p:nvPr/>
        </p:nvSpPr>
        <p:spPr>
          <a:xfrm rot="0" flipH="0" flipV="0">
            <a:off x="1857375" y="4772025"/>
            <a:ext cx="9525" cy="266700"/>
          </a:xfrm>
          <a:prstGeom prst="rect">
            <a:avLst/>
          </a:prstGeom>
          <a:solidFill>
            <a:srgbClr val="FFFDF8">
              <a:alpha val="40000"/>
            </a:srgbClr>
          </a:solidFill>
          <a:ln/>
        </p:spPr>
        <p:txBody>
          <a:bodyPr/>
          <a:p/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2038350" y="4810125"/>
            <a:ext cx="3714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FFFDF8"/>
                </a:solidFill>
                <a:latin typeface="Noto Sans SC"/>
                <a:ea typeface="Noto Sans SC"/>
              </a:rPr>
              <a:t>盲盒轻量化</a:t>
            </a:r>
            <a:r>
              <a:rPr lang="en-US" sz="1200" spc="75">
                <a:solidFill>
                  <a:srgbClr val="FFFDF8"/>
                </a:solidFill>
                <a:latin typeface="Noto Sans SC"/>
                <a:ea typeface="Noto Sans SC"/>
              </a:rPr>
              <a:t> · </a:t>
            </a:r>
            <a:r>
              <a:rPr lang="zh-CN" sz="1200" spc="75">
                <a:solidFill>
                  <a:srgbClr val="FFFDF8"/>
                </a:solidFill>
                <a:latin typeface="Noto Sans SC"/>
                <a:ea typeface="Noto Sans SC"/>
              </a:rPr>
              <a:t>兴趣垂直化</a:t>
            </a:r>
            <a:r>
              <a:rPr lang="en-US" sz="1200" spc="75">
                <a:solidFill>
                  <a:srgbClr val="FFFDF8"/>
                </a:solidFill>
                <a:latin typeface="Noto Sans SC"/>
                <a:ea typeface="Noto Sans SC"/>
              </a:rPr>
              <a:t> · </a:t>
            </a:r>
            <a:r>
              <a:rPr lang="zh-CN" sz="1200" spc="75">
                <a:solidFill>
                  <a:srgbClr val="FFFDF8"/>
                </a:solidFill>
                <a:latin typeface="Noto Sans SC"/>
                <a:ea typeface="Noto Sans SC"/>
              </a:rPr>
              <a:t>视觉潮玩化</a:t>
            </a:r>
            <a:r>
              <a:rPr lang="en-US" sz="1200" spc="75">
                <a:solidFill>
                  <a:srgbClr val="FFFDF8"/>
                </a:solidFill>
                <a:latin typeface="Noto Sans SC"/>
                <a:ea typeface="Noto Sans SC"/>
              </a:rPr>
              <a:t> · </a:t>
            </a:r>
            <a:r>
              <a:rPr lang="zh-CN" sz="1200" spc="75">
                <a:solidFill>
                  <a:srgbClr val="FFFDF8"/>
                </a:solidFill>
                <a:latin typeface="Noto Sans SC"/>
                <a:ea typeface="Noto Sans SC"/>
              </a:rPr>
              <a:t>社交合规化</a:t>
            </a:r>
            <a:endParaRPr/>
          </a:p>
        </p:txBody>
      </p:sp>
      <p:sp>
        <p:nvSpPr>
          <p:cNvPr id="437" name=""/>
          <p:cNvSpPr/>
          <p:nvPr/>
        </p:nvSpPr>
        <p:spPr>
          <a:xfrm rot="0" flipH="0" flipV="0">
            <a:off x="609600" y="6096000"/>
            <a:ext cx="10972800" cy="571500"/>
          </a:xfrm>
          <a:custGeom>
            <a:pathLst>
              <a:path w="1152" h="6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7DCCE"/>
          </a:solidFill>
          <a:ln/>
        </p:spPr>
        <p:txBody>
          <a:bodyPr/>
          <a:p/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609600" y="6315075"/>
            <a:ext cx="1095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途个惊喜</a:t>
            </a:r>
            <a:r>
              <a:rPr lang="en-US" sz="975">
                <a:solidFill>
                  <a:srgbClr val="8F8376"/>
                </a:solidFill>
                <a:latin typeface="Noto Sans SC"/>
                <a:ea typeface="Noto Sans SC"/>
              </a:rPr>
              <a:t> · </a:t>
            </a: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随盒出发</a:t>
            </a:r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11201400" y="6315075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F8376"/>
                </a:solidFill>
                <a:latin typeface="Noto Sans SC"/>
                <a:ea typeface="Noto Sans SC"/>
              </a:rPr>
              <a:t>06 / 15</a:t>
            </a:r>
            <a:endParaRPr/>
          </a:p>
        </p:txBody>
      </p:sp>
    </p:spTree>
  </p:cSld>
</p:sld>
</file>

<file path=ppt/slides/slide7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440" name="" descr="&lt;Slide style={{ width: 1280, height: 720, background: '#F6F1E6', padding: '20px 64px', position: 'relative', overflow: 'hidden' }}&gt;&#10;    &lt;Box style={{ position: 'absolute', top: -80, right: -60, width: 300, height: 190, borderRadius: '50%', background: '#E4EDD8', opacity: 0.45 }} /&gt;&#10;    &lt;Box style={{ position: 'absolute', bottom: -120, left: -80, width: 340, height: 210, borderRadius: '50%', background: '#EFE6D6', opacity: 0.5 }} /&gt;&#10;&#10;    {/* A 标题块 */}&#10;    &lt;Box style={{ height: 100, flexDirection: 'row', alignItems: 'flex-end', justifyContent: 'space-between', position: 'relative', zIndex: 1 }}&gt;&#10;        &lt;Box style={{ gap: 4, paddingBottom: 6 }}&gt;&#10;            &lt;Text style={{ fontFamily: 'Caveat, cursive', fontSize: 17, fontWeight: 700, color: '#8EA47C', letterSpacing: 1 }}&gt;06 · Product&lt;/Text&gt;&#10;            &lt;Text style={{ fontFamily: 'Noto Serif SC, serif', fontSize: 34, fontWeight: 900, color: '#3C342C' }}&gt;产品结构&lt;/Text&gt;&#10;            &lt;Box style={{ width: 56, height: 6, borderRadius: 3, background: '#8EA47C', marginTop: 6 }} /&gt;&#10;        &lt;/Box&gt;&#10;        &lt;Text style={{ fontFamily: 'Noto Sans SC, sans-serif', fontSize: 15, color: '#8F8376', width: 460, textAlign: 'right', lineHeight: 1.7, paddingBottom: 10 }}&gt;&#10;            内容不是随机拼接，而是被结构化、分级、校验后才进入盲盒。&#10;        &lt;/Text&gt;&#10;    &lt;/Box&gt;&#10;&#10;    {/* B 内容区 */}&#10;    &lt;Box style={{ height: 520, flexDirection: 'row', gap: 28, position: 'relative', zIndex: 1 }}&gt;&#10;        {/* 左：内容流水线 */}&#10;        &lt;Box style={{ width: '55%', background: '#FFFDF8', borderRadius: 20, border: '1px solid #E7DCCE', boxShadow: '0 4px 16px rgba(60,52,44,0.06)', padding: 26, gap: 22 }}&gt;&#10;            &lt;Text style={{ fontFamily: 'Noto Serif SC, serif', fontSize: 19, fontWeight: 700, color: '#3C342C' }}&gt;一条内容，如何进入一个盲盒&lt;/Text&gt;&#10;&#10;            {/* 流水线 */}&#10;            &lt;Box style={{ flexDirection: 'row', alignItems: 'center', justifyContent: 'space-between' }}&gt;&#10;                {['内容池', '盲盒标签', '情绪匹配', '路线解锁'].map((step, idx) =&gt; (&#10;                    &lt;Box key={idx} style={{ flexDirection: 'row', alignItems: 'center', gap: 8 }}&gt;&#10;                        &lt;Box style={{&#10;                            background: idx === 3 ? 'linear-gradient(135deg, #8EA47C 0%, #6C7E58 100%)' : '#E4EDD8',&#10;                            borderRadius: 14,&#10;                            padding: '14px 16px',&#10;                            minWidth: 96,&#10;                            alignItems: 'center',&#10;                        }}&gt;&#10;                            &lt;Text style={{ fontFamily: 'Noto Serif SC, serif', fontSize: 16, fontWeight: 700, color: idx === 3 ? '#FFFDF8' : '#6C7E58' }}&gt;{step}&lt;/Text&gt;&#10;                        &lt;/Box&gt;&#10;                        {idx &lt; 3 &amp;&amp; &lt;FAIcon name=&quot;arrow-right&quot; style={{ fill: '#C9D6B8', width: 16, height: 16 }} /&gt;}&#10;                    &lt;/Box&gt;&#10;                ))}&#10;            &lt;/Box&gt;&#10;&#10;            &lt;Box style={{ height: 1, background: '#E7DCCE' }} /&gt;&#10;&#10;            {/* 四大主题盒 */}&#10;            &lt;Text style={{ fontFamily: 'Noto Sans SC, sans-serif', fontSize: 14, fontWeight: 600, color: '#6C7E58', letterSpacing: 2 }}&gt;四大主题盲盒&lt;/Text&gt;&#10;            &lt;Box style={{ flexDirection: 'row', flexWrap: 'wrap', gap: 14 }}&gt;&#10;                {[&#10;                    { icon: 'hiking', t: '户外徒步', d: '自然探索' },&#10;                    { icon: 'utensils', t: '美食逛吃', d: '城市烟火' },&#10;                    { icon: 'spa', t: '休闲治愈', d: '放空与恢复' },&#10;                    { icon: 'camera', t: '拍照打卡', d: '审美与分享' },&#10;                ].map((item, idx) =&gt; (&#10;                    &lt;Box key={idx} style={{&#10;                        width: '47%',&#10;                        flexDirection: 'row',&#10;                        alignItems: 'center',&#10;                        gap: 14,&#10;                        background: '#F6F1E6',&#10;                        borderRadius: 14,&#10;                        padding: '14px 16px',&#10;                    }}&gt;&#10;                        &lt;Box style={{ width: 44, height: 44, borderRadius: 12, background: '#E4EDD8', alignItems: 'center', justifyContent: 'center' }}&gt;&#10;                            &lt;FAIcon name={item.icon} style={{ fill: '#6C7E58', width: 22, height: 22 }} /&gt;&#10;                        &lt;/Box&gt;&#10;                        &lt;Box style={{ gap: 2 }}&gt;&#10;                            &lt;Text style={{ fontFamily: 'Noto Serif SC, serif', fontSize: 16, fontWeight: 700, color: '#3C342C' }}&gt;{item.t}&lt;/Text&gt;&#10;                            &lt;Text style={{ fontFamily: 'Noto Sans SC, sans-serif', fontSize: 12, color: '#8F8376' }}&gt;{item.d}&lt;/Text&gt;&#10;                        &lt;/Box&gt;&#10;                    &lt;/Box&gt;&#10;                ))}&#10;            &lt;/Box&gt;&#10;        &lt;/Box&gt;&#10;&#10;        {/* 右：结构化字段 */}&#10;        &lt;Box style={{ flex: 1, gap: 14 }}&gt;&#10;            &lt;Text style={{ fontFamily: 'Noto Serif SC, serif', fontSize: 19, fontWeight: 700, color: '#3C342C' }}&gt;结构化攻略内容&lt;/Text&gt;&#10;            &lt;Box style={{ flex: 1, justifyContent: 'space-between' }}&gt;&#10;                {[&#10;                    { f: '景点', q: '去哪儿' },&#10;                    { f: '交通', q: '怎么到' },&#10;                    { f: '预算', q: '花多少' },&#10;                    { f: '美食', q: '吃什么' },&#10;                    { f: '避雷', q: '少踩坑' },&#10;                    { f: '穿搭', q: '怎么拍' },&#10;                ].map((item, idx) =&gt; (&#10;                    &lt;Box key={idx} style={{&#10;                        flexDirection: 'row',&#10;                        alignItems: 'center',&#10;                        gap: 14,&#10;                        background: '#FFFDF8',&#10;                        borderRadius: 12,&#10;                        border: '1px solid #E7DCCE',&#10;                        padding: '0 16px',&#10;                        height: 52,&#10;                    }}&gt;&#10;                        &lt;Box style={{ background: '#E4EDD8', borderRadius: 999, padding: '4px 14px', width: 64, alignItems: 'center' }}&gt;&#10;                            &lt;Text style={{ fontFamily: 'Noto Sans SC, sans-serif', fontSize: 14, fontWeight: 700, color: '#6C7E58' }}&gt;{item.f}&lt;/Text&gt;&#10;                        &lt;/Box&gt;&#10;                        &lt;Text style={{ fontFamily: 'Noto Sans SC, sans-serif', fontSize: 15, color: '#3C342C' }}&gt;{item.q}&lt;/Text&gt;&#10;                    &lt;/Box&gt;&#10;                ))}&#10;            &lt;/Box&gt;&#10;            &lt;Box style={{ flexDirection: 'row', gap: 10, marginTop: 4 }}&gt;&#10;                {['轻量化', '可复制', '低决策'].map((tag, idx) =&gt; (&#10;                    &lt;Box key={idx} style={{ background: 'linear-gradient(135deg, #8EA47C 0%, #6C7E58 100%)', borderRadius: 999, padding: '6px 18px' }}&gt;&#10;                        &lt;Text style={{ fontFamily: 'Noto Sans SC, sans-serif', fontSize: 13, fontWeight: 600, color: '#FFFDF8' }}&gt;{tag}&lt;/Text&gt;&#10;                    &lt;/Box&gt;&#10;                ))}&#10;            &lt;/Box&gt;&#10;        &lt;/Box&gt;&#10;    &lt;/Box&gt;&#10;&#10;    {/* C 页脚 */}&#10;    &lt;Box style={{ height: 60, flexDirection: 'row', alignItems: 'center', justifyContent: 'space-between', borderTop: '1px solid #E7DCCE', position: 'relative', zIndex: 1 }}&gt;&#10;        &lt;Text style={{ fontFamily: 'Noto Sans SC, sans-serif', fontSize: 13, color: '#8F8376' }}&gt;途个惊喜 · 随盒出发&lt;/Text&gt;&#10;        &lt;Text style={{ fontFamily: 'Noto Sans SC, sans-serif', fontSize: 13, color: '#8F8376' }}&gt;07 / 1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6F1E6"/>
          </a:solidFill>
          <a:ln/>
        </p:spPr>
        <p:txBody>
          <a:bodyPr/>
          <a:p/>
        </p:txBody>
      </p:sp>
      <p:sp>
        <p:nvSpPr>
          <p:cNvPr id="442" name=""/>
          <p:cNvSpPr/>
          <p:nvPr/>
        </p:nvSpPr>
        <p:spPr>
          <a:xfrm rot="0" flipH="0" flipV="0">
            <a:off x="9906000" y="-762000"/>
            <a:ext cx="2857500" cy="1809750"/>
          </a:xfrm>
          <a:custGeom>
            <a:pathLst>
              <a:path w="300" h="190">
                <a:moveTo>
                  <a:pt x="240" y="171"/>
                </a:moveTo>
                <a:cubicBezTo>
                  <a:pt x="161" y="211"/>
                  <a:pt x="66" y="192"/>
                  <a:pt x="8" y="125"/>
                </a:cubicBezTo>
                <a:cubicBezTo>
                  <a:pt x="0" y="112"/>
                  <a:pt x="-2" y="95"/>
                  <a:pt x="2" y="80"/>
                </a:cubicBezTo>
                <a:lnTo>
                  <a:pt x="240" y="80"/>
                </a:lnTo>
                <a:close/>
              </a:path>
            </a:pathLst>
          </a:custGeom>
          <a:solidFill>
            <a:srgbClr val="E4EDD8">
              <a:alpha val="45000"/>
            </a:srgbClr>
          </a:solidFill>
          <a:ln/>
        </p:spPr>
        <p:txBody>
          <a:bodyPr/>
          <a:p/>
        </p:txBody>
      </p:sp>
      <p:sp>
        <p:nvSpPr>
          <p:cNvPr id="443" name=""/>
          <p:cNvSpPr/>
          <p:nvPr/>
        </p:nvSpPr>
        <p:spPr>
          <a:xfrm rot="0" flipH="0" flipV="0">
            <a:off x="-762000" y="6000750"/>
            <a:ext cx="3238500" cy="2000250"/>
          </a:xfrm>
          <a:custGeom>
            <a:pathLst>
              <a:path w="340" h="210">
                <a:moveTo>
                  <a:pt x="174" y="0"/>
                </a:moveTo>
                <a:cubicBezTo>
                  <a:pt x="241" y="-7"/>
                  <a:pt x="306" y="27"/>
                  <a:pt x="337" y="86"/>
                </a:cubicBezTo>
                <a:lnTo>
                  <a:pt x="338" y="89"/>
                </a:lnTo>
                <a:lnTo>
                  <a:pt x="338" y="90"/>
                </a:lnTo>
                <a:lnTo>
                  <a:pt x="80" y="90"/>
                </a:lnTo>
                <a:lnTo>
                  <a:pt x="80" y="16"/>
                </a:lnTo>
                <a:cubicBezTo>
                  <a:pt x="109" y="5"/>
                  <a:pt x="139" y="0"/>
                  <a:pt x="170" y="0"/>
                </a:cubicBezTo>
                <a:close/>
              </a:path>
            </a:pathLst>
          </a:custGeom>
          <a:solidFill>
            <a:srgbClr val="EFE6D6">
              <a:alpha val="50000"/>
            </a:srgbClr>
          </a:solidFill>
          <a:ln/>
        </p:spPr>
        <p:txBody>
          <a:bodyPr/>
          <a:p/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609600" y="304800"/>
            <a:ext cx="1295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 spc="75">
                <a:solidFill>
                  <a:srgbClr val="8EA47C"/>
                </a:solidFill>
                <a:latin typeface="Caveat"/>
                <a:ea typeface="Caveat"/>
              </a:rPr>
              <a:t>06 · Product</a:t>
            </a:r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609600" y="542925"/>
            <a:ext cx="1295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3C342C"/>
                </a:solidFill>
                <a:latin typeface="Noto Serif SC"/>
                <a:ea typeface="Noto Serif SC"/>
              </a:rPr>
              <a:t>产品结构</a:t>
            </a:r>
            <a:endParaRPr/>
          </a:p>
        </p:txBody>
      </p:sp>
      <p:sp>
        <p:nvSpPr>
          <p:cNvPr id="446" name=""/>
          <p:cNvSpPr/>
          <p:nvPr/>
        </p:nvSpPr>
        <p:spPr>
          <a:xfrm rot="0" flipH="0" flipV="0">
            <a:off x="609600" y="1028700"/>
            <a:ext cx="533400" cy="57150"/>
          </a:xfrm>
          <a:prstGeom prst="roundRect">
            <a:avLst>
              <a:gd name="adj" fmla="val 50000"/>
            </a:avLst>
          </a:prstGeom>
          <a:solidFill>
            <a:srgbClr val="8EA47C"/>
          </a:solidFill>
          <a:ln/>
        </p:spPr>
        <p:txBody>
          <a:bodyPr/>
          <a:p/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7200900" y="752475"/>
            <a:ext cx="4381500" cy="390525"/>
          </a:xfrm>
          <a:prstGeom prst="rect"/>
        </p:spPr>
        <p:txBody>
          <a:bodyPr wrap="none" lIns="0" tIns="0" rIns="0" bIns="71438"/>
          <a:p>
            <a:pPr algn="r">
              <a:lnSpc>
                <a:spcPct val="170000"/>
              </a:lnSpc>
            </a:pPr>
            <a:r>
              <a:rPr lang="zh-CN" sz="1125">
                <a:solidFill>
                  <a:srgbClr val="8F8376"/>
                </a:solidFill>
                <a:latin typeface="Noto Sans SC"/>
                <a:ea typeface="Noto Sans SC"/>
              </a:rPr>
              <a:t>内容不是随机拼接，而是被结构化、分级、校验后才进入盲盒。</a:t>
            </a:r>
            <a:endParaRPr/>
          </a:p>
        </p:txBody>
      </p:sp>
      <p:sp>
        <p:nvSpPr>
          <p:cNvPr id="448" name=""/>
          <p:cNvSpPr/>
          <p:nvPr/>
        </p:nvSpPr>
        <p:spPr>
          <a:xfrm rot="0" flipH="0" flipV="0">
            <a:off x="609600" y="1143000"/>
            <a:ext cx="6038850" cy="4953000"/>
          </a:xfrm>
          <a:prstGeom prst="roundRect">
            <a:avLst>
              <a:gd name="adj" fmla="val 3846"/>
            </a:avLst>
          </a:prstGeom>
          <a:solidFill>
            <a:srgbClr val="FFFDF8"/>
          </a:solidFill>
          <a:ln w="12700">
            <a:solidFill>
              <a:srgbClr val="E7DCCE"/>
            </a:solidFill>
            <a:prstDash val="solid"/>
          </a:ln>
          <a:effectLst>
            <a:outerShdw blurRad="152400" dist="38100" dir="5400000">
              <a:srgbClr val="3C342C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857250" y="1390650"/>
            <a:ext cx="55435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3C342C"/>
                </a:solidFill>
                <a:latin typeface="Noto Serif SC"/>
                <a:ea typeface="Noto Serif SC"/>
              </a:rPr>
              <a:t>一条内容，如何进入一个盲盒</a:t>
            </a:r>
            <a:endParaRPr/>
          </a:p>
        </p:txBody>
      </p:sp>
      <p:sp>
        <p:nvSpPr>
          <p:cNvPr id="450" name=""/>
          <p:cNvSpPr/>
          <p:nvPr/>
        </p:nvSpPr>
        <p:spPr>
          <a:xfrm rot="0" flipH="0" flipV="0">
            <a:off x="857250" y="1819275"/>
            <a:ext cx="914400" cy="457200"/>
          </a:xfrm>
          <a:prstGeom prst="roundRect">
            <a:avLst>
              <a:gd name="adj" fmla="val 29167"/>
            </a:avLst>
          </a:prstGeom>
          <a:solidFill>
            <a:srgbClr val="E4EDD8"/>
          </a:solidFill>
          <a:ln/>
        </p:spPr>
        <p:txBody>
          <a:bodyPr/>
          <a:p/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1085850" y="1952625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6C7E58"/>
                </a:solidFill>
                <a:latin typeface="Noto Serif SC"/>
                <a:ea typeface="Noto Serif SC"/>
              </a:rPr>
              <a:t>内容池</a:t>
            </a:r>
            <a:endParaRPr/>
          </a:p>
        </p:txBody>
      </p:sp>
      <p:pic>
        <p:nvPicPr>
          <p:cNvPr id="45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847850" y="1971675"/>
            <a:ext cx="152400" cy="152400"/>
          </a:xfrm>
          <a:prstGeom prst="rect">
            <a:avLst/>
          </a:prstGeom>
          <a:ln/>
        </p:spPr>
      </p:pic>
      <p:sp>
        <p:nvSpPr>
          <p:cNvPr id="453" name=""/>
          <p:cNvSpPr/>
          <p:nvPr/>
        </p:nvSpPr>
        <p:spPr>
          <a:xfrm rot="0" flipH="0" flipV="0">
            <a:off x="2400300" y="1819275"/>
            <a:ext cx="914400" cy="457200"/>
          </a:xfrm>
          <a:prstGeom prst="roundRect">
            <a:avLst>
              <a:gd name="adj" fmla="val 29167"/>
            </a:avLst>
          </a:prstGeom>
          <a:solidFill>
            <a:srgbClr val="E4EDD8"/>
          </a:solidFill>
          <a:ln/>
        </p:spPr>
        <p:txBody>
          <a:bodyPr/>
          <a:p/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2552700" y="195262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6C7E58"/>
                </a:solidFill>
                <a:latin typeface="Noto Serif SC"/>
                <a:ea typeface="Noto Serif SC"/>
              </a:rPr>
              <a:t>盲盒标签</a:t>
            </a:r>
            <a:endParaRPr/>
          </a:p>
        </p:txBody>
      </p:sp>
      <p:pic>
        <p:nvPicPr>
          <p:cNvPr id="45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390900" y="1971675"/>
            <a:ext cx="152400" cy="152400"/>
          </a:xfrm>
          <a:prstGeom prst="rect">
            <a:avLst/>
          </a:prstGeom>
          <a:ln/>
        </p:spPr>
      </p:pic>
      <p:sp>
        <p:nvSpPr>
          <p:cNvPr id="456" name=""/>
          <p:cNvSpPr/>
          <p:nvPr/>
        </p:nvSpPr>
        <p:spPr>
          <a:xfrm rot="0" flipH="0" flipV="0">
            <a:off x="3943350" y="1819275"/>
            <a:ext cx="914400" cy="457200"/>
          </a:xfrm>
          <a:prstGeom prst="roundRect">
            <a:avLst>
              <a:gd name="adj" fmla="val 29167"/>
            </a:avLst>
          </a:prstGeom>
          <a:solidFill>
            <a:srgbClr val="E4EDD8"/>
          </a:solidFill>
          <a:ln/>
        </p:spPr>
        <p:txBody>
          <a:bodyPr/>
          <a:p/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4095750" y="195262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6C7E58"/>
                </a:solidFill>
                <a:latin typeface="Noto Serif SC"/>
                <a:ea typeface="Noto Serif SC"/>
              </a:rPr>
              <a:t>情绪匹配</a:t>
            </a:r>
            <a:endParaRPr/>
          </a:p>
        </p:txBody>
      </p:sp>
      <p:pic>
        <p:nvPicPr>
          <p:cNvPr id="45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933950" y="1971675"/>
            <a:ext cx="152400" cy="152400"/>
          </a:xfrm>
          <a:prstGeom prst="rect">
            <a:avLst/>
          </a:prstGeom>
          <a:ln/>
        </p:spPr>
      </p:pic>
      <p:sp>
        <p:nvSpPr>
          <p:cNvPr id="459" name=""/>
          <p:cNvSpPr/>
          <p:nvPr/>
        </p:nvSpPr>
        <p:spPr>
          <a:xfrm rot="0" flipH="0" flipV="0">
            <a:off x="5486400" y="1819275"/>
            <a:ext cx="914400" cy="457200"/>
          </a:xfrm>
          <a:prstGeom prst="roundRect">
            <a:avLst>
              <a:gd name="adj" fmla="val 29167"/>
            </a:avLst>
          </a:prstGeom>
          <a:gradFill>
            <a:gsLst>
              <a:gs pos="0">
                <a:srgbClr val="8EA47C"/>
              </a:gs>
              <a:gs pos="100000">
                <a:srgbClr val="6C7E58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5638800" y="195262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DF8"/>
                </a:solidFill>
                <a:latin typeface="Noto Serif SC"/>
                <a:ea typeface="Noto Serif SC"/>
              </a:rPr>
              <a:t>路线解锁</a:t>
            </a:r>
            <a:endParaRPr/>
          </a:p>
        </p:txBody>
      </p:sp>
      <p:sp>
        <p:nvSpPr>
          <p:cNvPr id="461" name=""/>
          <p:cNvSpPr/>
          <p:nvPr/>
        </p:nvSpPr>
        <p:spPr>
          <a:xfrm rot="0" flipH="0" flipV="0">
            <a:off x="857250" y="2486025"/>
            <a:ext cx="5543550" cy="9525"/>
          </a:xfrm>
          <a:prstGeom prst="rect">
            <a:avLst/>
          </a:prstGeom>
          <a:solidFill>
            <a:srgbClr val="E7DCCE"/>
          </a:solidFill>
          <a:ln/>
        </p:spPr>
        <p:txBody>
          <a:bodyPr/>
          <a:p/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857250" y="2705100"/>
            <a:ext cx="5543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150">
                <a:solidFill>
                  <a:srgbClr val="6C7E58"/>
                </a:solidFill>
                <a:latin typeface="Noto Sans SC"/>
                <a:ea typeface="Noto Sans SC"/>
              </a:rPr>
              <a:t>四大主题盲盒</a:t>
            </a:r>
            <a:endParaRPr/>
          </a:p>
        </p:txBody>
      </p:sp>
      <p:sp>
        <p:nvSpPr>
          <p:cNvPr id="463" name=""/>
          <p:cNvSpPr/>
          <p:nvPr/>
        </p:nvSpPr>
        <p:spPr>
          <a:xfrm rot="0" flipH="0" flipV="0">
            <a:off x="857250" y="3076575"/>
            <a:ext cx="2609850" cy="685800"/>
          </a:xfrm>
          <a:prstGeom prst="roundRect">
            <a:avLst>
              <a:gd name="adj" fmla="val 19444"/>
            </a:avLst>
          </a:prstGeom>
          <a:solidFill>
            <a:srgbClr val="F6F1E6"/>
          </a:solidFill>
          <a:ln/>
        </p:spPr>
        <p:txBody>
          <a:bodyPr/>
          <a:p/>
        </p:txBody>
      </p:sp>
      <p:sp>
        <p:nvSpPr>
          <p:cNvPr id="464" name=""/>
          <p:cNvSpPr/>
          <p:nvPr/>
        </p:nvSpPr>
        <p:spPr>
          <a:xfrm rot="0" flipH="0" flipV="0">
            <a:off x="1009650" y="3209925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E4EDD8"/>
          </a:solidFill>
          <a:ln/>
        </p:spPr>
        <p:txBody>
          <a:bodyPr/>
          <a:p/>
        </p:txBody>
      </p:sp>
      <p:pic>
        <p:nvPicPr>
          <p:cNvPr id="46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114425" y="3314700"/>
            <a:ext cx="209550" cy="209550"/>
          </a:xfrm>
          <a:prstGeom prst="rect">
            <a:avLst/>
          </a:prstGeom>
          <a:ln/>
        </p:spPr>
      </p:pic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1562100" y="324802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C342C"/>
                </a:solidFill>
                <a:latin typeface="Noto Serif SC"/>
                <a:ea typeface="Noto Serif SC"/>
              </a:rPr>
              <a:t>户外徒步</a:t>
            </a:r>
            <a:endParaRPr/>
          </a:p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1562100" y="3457575"/>
            <a:ext cx="609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8376"/>
                </a:solidFill>
                <a:latin typeface="Noto Sans SC"/>
                <a:ea typeface="Noto Sans SC"/>
              </a:rPr>
              <a:t>自然探索</a:t>
            </a:r>
            <a:endParaRPr/>
          </a:p>
        </p:txBody>
      </p:sp>
      <p:sp>
        <p:nvSpPr>
          <p:cNvPr id="468" name=""/>
          <p:cNvSpPr/>
          <p:nvPr/>
        </p:nvSpPr>
        <p:spPr>
          <a:xfrm rot="0" flipH="0" flipV="0">
            <a:off x="3600450" y="3076575"/>
            <a:ext cx="2600325" cy="685800"/>
          </a:xfrm>
          <a:prstGeom prst="roundRect">
            <a:avLst>
              <a:gd name="adj" fmla="val 19444"/>
            </a:avLst>
          </a:prstGeom>
          <a:solidFill>
            <a:srgbClr val="F6F1E6"/>
          </a:solidFill>
          <a:ln/>
        </p:spPr>
        <p:txBody>
          <a:bodyPr/>
          <a:p/>
        </p:txBody>
      </p:sp>
      <p:sp>
        <p:nvSpPr>
          <p:cNvPr id="469" name=""/>
          <p:cNvSpPr/>
          <p:nvPr/>
        </p:nvSpPr>
        <p:spPr>
          <a:xfrm rot="0" flipH="0" flipV="0">
            <a:off x="3752850" y="3209925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E4EDD8"/>
          </a:solidFill>
          <a:ln/>
        </p:spPr>
        <p:txBody>
          <a:bodyPr/>
          <a:p/>
        </p:txBody>
      </p:sp>
      <p:pic>
        <p:nvPicPr>
          <p:cNvPr id="47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3857625" y="3314700"/>
            <a:ext cx="209550" cy="209550"/>
          </a:xfrm>
          <a:prstGeom prst="rect">
            <a:avLst/>
          </a:prstGeom>
          <a:ln/>
        </p:spPr>
      </p:pic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4305300" y="324802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C342C"/>
                </a:solidFill>
                <a:latin typeface="Noto Serif SC"/>
                <a:ea typeface="Noto Serif SC"/>
              </a:rPr>
              <a:t>美食逛吃</a:t>
            </a:r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4305300" y="3457575"/>
            <a:ext cx="609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8376"/>
                </a:solidFill>
                <a:latin typeface="Noto Sans SC"/>
                <a:ea typeface="Noto Sans SC"/>
              </a:rPr>
              <a:t>城市烟火</a:t>
            </a:r>
            <a:endParaRPr/>
          </a:p>
        </p:txBody>
      </p:sp>
      <p:sp>
        <p:nvSpPr>
          <p:cNvPr id="473" name=""/>
          <p:cNvSpPr/>
          <p:nvPr/>
        </p:nvSpPr>
        <p:spPr>
          <a:xfrm rot="0" flipH="0" flipV="0">
            <a:off x="857250" y="3895725"/>
            <a:ext cx="2609850" cy="685800"/>
          </a:xfrm>
          <a:prstGeom prst="roundRect">
            <a:avLst>
              <a:gd name="adj" fmla="val 19444"/>
            </a:avLst>
          </a:prstGeom>
          <a:solidFill>
            <a:srgbClr val="F6F1E6"/>
          </a:solidFill>
          <a:ln/>
        </p:spPr>
        <p:txBody>
          <a:bodyPr/>
          <a:p/>
        </p:txBody>
      </p:sp>
      <p:sp>
        <p:nvSpPr>
          <p:cNvPr id="474" name=""/>
          <p:cNvSpPr/>
          <p:nvPr/>
        </p:nvSpPr>
        <p:spPr>
          <a:xfrm rot="0" flipH="0" flipV="0">
            <a:off x="1009650" y="4029075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E4EDD8"/>
          </a:solidFill>
          <a:ln/>
        </p:spPr>
        <p:txBody>
          <a:bodyPr/>
          <a:p/>
        </p:txBody>
      </p:sp>
      <p:pic>
        <p:nvPicPr>
          <p:cNvPr id="47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1114425" y="4133850"/>
            <a:ext cx="209550" cy="209550"/>
          </a:xfrm>
          <a:prstGeom prst="rect">
            <a:avLst/>
          </a:prstGeom>
          <a:ln/>
        </p:spPr>
      </p:pic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1562100" y="406717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C342C"/>
                </a:solidFill>
                <a:latin typeface="Noto Serif SC"/>
                <a:ea typeface="Noto Serif SC"/>
              </a:rPr>
              <a:t>休闲治愈</a:t>
            </a:r>
            <a:endParaRPr/>
          </a:p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1562100" y="4276725"/>
            <a:ext cx="609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8376"/>
                </a:solidFill>
                <a:latin typeface="Noto Sans SC"/>
                <a:ea typeface="Noto Sans SC"/>
              </a:rPr>
              <a:t>放空与恢复</a:t>
            </a:r>
            <a:endParaRPr/>
          </a:p>
        </p:txBody>
      </p:sp>
      <p:sp>
        <p:nvSpPr>
          <p:cNvPr id="478" name=""/>
          <p:cNvSpPr/>
          <p:nvPr/>
        </p:nvSpPr>
        <p:spPr>
          <a:xfrm rot="0" flipH="0" flipV="0">
            <a:off x="3600450" y="3895725"/>
            <a:ext cx="2600325" cy="685800"/>
          </a:xfrm>
          <a:prstGeom prst="roundRect">
            <a:avLst>
              <a:gd name="adj" fmla="val 19444"/>
            </a:avLst>
          </a:prstGeom>
          <a:solidFill>
            <a:srgbClr val="F6F1E6"/>
          </a:solidFill>
          <a:ln/>
        </p:spPr>
        <p:txBody>
          <a:bodyPr/>
          <a:p/>
        </p:txBody>
      </p:sp>
      <p:sp>
        <p:nvSpPr>
          <p:cNvPr id="479" name=""/>
          <p:cNvSpPr/>
          <p:nvPr/>
        </p:nvSpPr>
        <p:spPr>
          <a:xfrm rot="0" flipH="0" flipV="0">
            <a:off x="3752850" y="4029075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E4EDD8"/>
          </a:solidFill>
          <a:ln/>
        </p:spPr>
        <p:txBody>
          <a:bodyPr/>
          <a:p/>
        </p:txBody>
      </p:sp>
      <p:pic>
        <p:nvPicPr>
          <p:cNvPr id="48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3857625" y="4133850"/>
            <a:ext cx="209550" cy="209550"/>
          </a:xfrm>
          <a:prstGeom prst="rect">
            <a:avLst/>
          </a:prstGeom>
          <a:ln/>
        </p:spPr>
      </p:pic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4305300" y="406717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C342C"/>
                </a:solidFill>
                <a:latin typeface="Noto Serif SC"/>
                <a:ea typeface="Noto Serif SC"/>
              </a:rPr>
              <a:t>拍照打卡</a:t>
            </a:r>
            <a:endParaRPr/>
          </a:p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4305300" y="4276725"/>
            <a:ext cx="609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8376"/>
                </a:solidFill>
                <a:latin typeface="Noto Sans SC"/>
                <a:ea typeface="Noto Sans SC"/>
              </a:rPr>
              <a:t>审美与分享</a:t>
            </a:r>
            <a:endParaRPr/>
          </a:p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6915150" y="1143000"/>
            <a:ext cx="4667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3C342C"/>
                </a:solidFill>
                <a:latin typeface="Noto Serif SC"/>
                <a:ea typeface="Noto Serif SC"/>
              </a:rPr>
              <a:t>结构化攻略内容</a:t>
            </a:r>
            <a:endParaRPr/>
          </a:p>
        </p:txBody>
      </p:sp>
      <p:sp>
        <p:nvSpPr>
          <p:cNvPr id="484" name=""/>
          <p:cNvSpPr/>
          <p:nvPr/>
        </p:nvSpPr>
        <p:spPr>
          <a:xfrm rot="0" flipH="0" flipV="0">
            <a:off x="6915150" y="1495425"/>
            <a:ext cx="4667250" cy="495300"/>
          </a:xfrm>
          <a:prstGeom prst="roundRect">
            <a:avLst>
              <a:gd name="adj" fmla="val 23077"/>
            </a:avLst>
          </a:prstGeom>
          <a:solidFill>
            <a:srgbClr val="FFFDF8"/>
          </a:solidFill>
          <a:ln w="12700">
            <a:solidFill>
              <a:srgbClr val="E7DCCE"/>
            </a:solidFill>
            <a:prstDash val="solid"/>
          </a:ln>
        </p:spPr>
        <p:txBody>
          <a:bodyPr/>
          <a:p/>
        </p:txBody>
      </p:sp>
      <p:sp>
        <p:nvSpPr>
          <p:cNvPr id="485" name=""/>
          <p:cNvSpPr/>
          <p:nvPr/>
        </p:nvSpPr>
        <p:spPr>
          <a:xfrm rot="0" flipH="0" flipV="0">
            <a:off x="7067550" y="1628775"/>
            <a:ext cx="609600" cy="238125"/>
          </a:xfrm>
          <a:prstGeom prst="roundRect">
            <a:avLst>
              <a:gd name="adj" fmla="val 3996000"/>
            </a:avLst>
          </a:prstGeom>
          <a:solidFill>
            <a:srgbClr val="E4EDD8"/>
          </a:solidFill>
          <a:ln/>
        </p:spPr>
        <p:txBody>
          <a:bodyPr/>
          <a:p/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7239000" y="1666875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6C7E58"/>
                </a:solidFill>
                <a:latin typeface="Noto Sans SC"/>
                <a:ea typeface="Noto Sans SC"/>
              </a:rPr>
              <a:t>景点</a:t>
            </a:r>
            <a:endParaRPr/>
          </a:p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7810500" y="1657350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3C342C"/>
                </a:solidFill>
                <a:latin typeface="Noto Sans SC"/>
                <a:ea typeface="Noto Sans SC"/>
              </a:rPr>
              <a:t>去哪儿</a:t>
            </a:r>
            <a:endParaRPr/>
          </a:p>
        </p:txBody>
      </p:sp>
      <p:sp>
        <p:nvSpPr>
          <p:cNvPr id="488" name=""/>
          <p:cNvSpPr/>
          <p:nvPr/>
        </p:nvSpPr>
        <p:spPr>
          <a:xfrm rot="0" flipH="0" flipV="0">
            <a:off x="6915150" y="2228850"/>
            <a:ext cx="4667250" cy="495300"/>
          </a:xfrm>
          <a:prstGeom prst="roundRect">
            <a:avLst>
              <a:gd name="adj" fmla="val 23077"/>
            </a:avLst>
          </a:prstGeom>
          <a:solidFill>
            <a:srgbClr val="FFFDF8"/>
          </a:solidFill>
          <a:ln w="12700">
            <a:solidFill>
              <a:srgbClr val="E7DCCE"/>
            </a:solidFill>
            <a:prstDash val="solid"/>
          </a:ln>
        </p:spPr>
        <p:txBody>
          <a:bodyPr/>
          <a:p/>
        </p:txBody>
      </p:sp>
      <p:sp>
        <p:nvSpPr>
          <p:cNvPr id="489" name=""/>
          <p:cNvSpPr/>
          <p:nvPr/>
        </p:nvSpPr>
        <p:spPr>
          <a:xfrm rot="0" flipH="0" flipV="0">
            <a:off x="7067550" y="2362200"/>
            <a:ext cx="609600" cy="238125"/>
          </a:xfrm>
          <a:prstGeom prst="roundRect">
            <a:avLst>
              <a:gd name="adj" fmla="val 3996000"/>
            </a:avLst>
          </a:prstGeom>
          <a:solidFill>
            <a:srgbClr val="E4EDD8"/>
          </a:solidFill>
          <a:ln/>
        </p:spPr>
        <p:txBody>
          <a:bodyPr/>
          <a:p/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7239000" y="240030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6C7E58"/>
                </a:solidFill>
                <a:latin typeface="Noto Sans SC"/>
                <a:ea typeface="Noto Sans SC"/>
              </a:rPr>
              <a:t>交通</a:t>
            </a:r>
            <a:endParaRPr/>
          </a:p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7810500" y="2390775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3C342C"/>
                </a:solidFill>
                <a:latin typeface="Noto Sans SC"/>
                <a:ea typeface="Noto Sans SC"/>
              </a:rPr>
              <a:t>怎么到</a:t>
            </a:r>
            <a:endParaRPr/>
          </a:p>
        </p:txBody>
      </p:sp>
      <p:sp>
        <p:nvSpPr>
          <p:cNvPr id="492" name=""/>
          <p:cNvSpPr/>
          <p:nvPr/>
        </p:nvSpPr>
        <p:spPr>
          <a:xfrm rot="0" flipH="0" flipV="0">
            <a:off x="6915150" y="2962275"/>
            <a:ext cx="4667250" cy="495300"/>
          </a:xfrm>
          <a:prstGeom prst="roundRect">
            <a:avLst>
              <a:gd name="adj" fmla="val 23077"/>
            </a:avLst>
          </a:prstGeom>
          <a:solidFill>
            <a:srgbClr val="FFFDF8"/>
          </a:solidFill>
          <a:ln w="12700">
            <a:solidFill>
              <a:srgbClr val="E7DCCE"/>
            </a:solidFill>
            <a:prstDash val="solid"/>
          </a:ln>
        </p:spPr>
        <p:txBody>
          <a:bodyPr/>
          <a:p/>
        </p:txBody>
      </p:sp>
      <p:sp>
        <p:nvSpPr>
          <p:cNvPr id="493" name=""/>
          <p:cNvSpPr/>
          <p:nvPr/>
        </p:nvSpPr>
        <p:spPr>
          <a:xfrm rot="0" flipH="0" flipV="0">
            <a:off x="7067550" y="3095625"/>
            <a:ext cx="609600" cy="238125"/>
          </a:xfrm>
          <a:prstGeom prst="roundRect">
            <a:avLst>
              <a:gd name="adj" fmla="val 3996000"/>
            </a:avLst>
          </a:prstGeom>
          <a:solidFill>
            <a:srgbClr val="E4EDD8"/>
          </a:solidFill>
          <a:ln/>
        </p:spPr>
        <p:txBody>
          <a:bodyPr/>
          <a:p/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7239000" y="3133725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6C7E58"/>
                </a:solidFill>
                <a:latin typeface="Noto Sans SC"/>
                <a:ea typeface="Noto Sans SC"/>
              </a:rPr>
              <a:t>预算</a:t>
            </a:r>
            <a:endParaRPr/>
          </a:p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7810500" y="3124200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3C342C"/>
                </a:solidFill>
                <a:latin typeface="Noto Sans SC"/>
                <a:ea typeface="Noto Sans SC"/>
              </a:rPr>
              <a:t>花多少</a:t>
            </a:r>
            <a:endParaRPr/>
          </a:p>
        </p:txBody>
      </p:sp>
      <p:sp>
        <p:nvSpPr>
          <p:cNvPr id="496" name=""/>
          <p:cNvSpPr/>
          <p:nvPr/>
        </p:nvSpPr>
        <p:spPr>
          <a:xfrm rot="0" flipH="0" flipV="0">
            <a:off x="6915150" y="3695700"/>
            <a:ext cx="4667250" cy="495300"/>
          </a:xfrm>
          <a:prstGeom prst="roundRect">
            <a:avLst>
              <a:gd name="adj" fmla="val 23077"/>
            </a:avLst>
          </a:prstGeom>
          <a:solidFill>
            <a:srgbClr val="FFFDF8"/>
          </a:solidFill>
          <a:ln w="12700">
            <a:solidFill>
              <a:srgbClr val="E7DCCE"/>
            </a:solidFill>
            <a:prstDash val="solid"/>
          </a:ln>
        </p:spPr>
        <p:txBody>
          <a:bodyPr/>
          <a:p/>
        </p:txBody>
      </p:sp>
      <p:sp>
        <p:nvSpPr>
          <p:cNvPr id="497" name=""/>
          <p:cNvSpPr/>
          <p:nvPr/>
        </p:nvSpPr>
        <p:spPr>
          <a:xfrm rot="0" flipH="0" flipV="0">
            <a:off x="7067550" y="3829050"/>
            <a:ext cx="609600" cy="238125"/>
          </a:xfrm>
          <a:prstGeom prst="roundRect">
            <a:avLst>
              <a:gd name="adj" fmla="val 3996000"/>
            </a:avLst>
          </a:prstGeom>
          <a:solidFill>
            <a:srgbClr val="E4EDD8"/>
          </a:solidFill>
          <a:ln/>
        </p:spPr>
        <p:txBody>
          <a:bodyPr/>
          <a:p/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7239000" y="386715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6C7E58"/>
                </a:solidFill>
                <a:latin typeface="Noto Sans SC"/>
                <a:ea typeface="Noto Sans SC"/>
              </a:rPr>
              <a:t>美食</a:t>
            </a:r>
            <a:endParaRPr/>
          </a:p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7810500" y="3857625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3C342C"/>
                </a:solidFill>
                <a:latin typeface="Noto Sans SC"/>
                <a:ea typeface="Noto Sans SC"/>
              </a:rPr>
              <a:t>吃什么</a:t>
            </a:r>
            <a:endParaRPr/>
          </a:p>
        </p:txBody>
      </p:sp>
      <p:sp>
        <p:nvSpPr>
          <p:cNvPr id="500" name=""/>
          <p:cNvSpPr/>
          <p:nvPr/>
        </p:nvSpPr>
        <p:spPr>
          <a:xfrm rot="0" flipH="0" flipV="0">
            <a:off x="6915150" y="4429125"/>
            <a:ext cx="4667250" cy="495300"/>
          </a:xfrm>
          <a:prstGeom prst="roundRect">
            <a:avLst>
              <a:gd name="adj" fmla="val 23077"/>
            </a:avLst>
          </a:prstGeom>
          <a:solidFill>
            <a:srgbClr val="FFFDF8"/>
          </a:solidFill>
          <a:ln w="12700">
            <a:solidFill>
              <a:srgbClr val="E7DCCE"/>
            </a:solidFill>
            <a:prstDash val="solid"/>
          </a:ln>
        </p:spPr>
        <p:txBody>
          <a:bodyPr/>
          <a:p/>
        </p:txBody>
      </p:sp>
      <p:sp>
        <p:nvSpPr>
          <p:cNvPr id="501" name=""/>
          <p:cNvSpPr/>
          <p:nvPr/>
        </p:nvSpPr>
        <p:spPr>
          <a:xfrm rot="0" flipH="0" flipV="0">
            <a:off x="7067550" y="4562475"/>
            <a:ext cx="609600" cy="238125"/>
          </a:xfrm>
          <a:prstGeom prst="roundRect">
            <a:avLst>
              <a:gd name="adj" fmla="val 3996000"/>
            </a:avLst>
          </a:prstGeom>
          <a:solidFill>
            <a:srgbClr val="E4EDD8"/>
          </a:solidFill>
          <a:ln/>
        </p:spPr>
        <p:txBody>
          <a:bodyPr/>
          <a:p/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7239000" y="4600575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6C7E58"/>
                </a:solidFill>
                <a:latin typeface="Noto Sans SC"/>
                <a:ea typeface="Noto Sans SC"/>
              </a:rPr>
              <a:t>避雷</a:t>
            </a:r>
            <a:endParaRPr/>
          </a:p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7810500" y="4591050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3C342C"/>
                </a:solidFill>
                <a:latin typeface="Noto Sans SC"/>
                <a:ea typeface="Noto Sans SC"/>
              </a:rPr>
              <a:t>少踩坑</a:t>
            </a:r>
            <a:endParaRPr/>
          </a:p>
        </p:txBody>
      </p:sp>
      <p:sp>
        <p:nvSpPr>
          <p:cNvPr id="504" name=""/>
          <p:cNvSpPr/>
          <p:nvPr/>
        </p:nvSpPr>
        <p:spPr>
          <a:xfrm rot="0" flipH="0" flipV="0">
            <a:off x="6915150" y="5162550"/>
            <a:ext cx="4667250" cy="495300"/>
          </a:xfrm>
          <a:prstGeom prst="roundRect">
            <a:avLst>
              <a:gd name="adj" fmla="val 23077"/>
            </a:avLst>
          </a:prstGeom>
          <a:solidFill>
            <a:srgbClr val="FFFDF8"/>
          </a:solidFill>
          <a:ln w="12700">
            <a:solidFill>
              <a:srgbClr val="E7DCCE"/>
            </a:solidFill>
            <a:prstDash val="solid"/>
          </a:ln>
        </p:spPr>
        <p:txBody>
          <a:bodyPr/>
          <a:p/>
        </p:txBody>
      </p:sp>
      <p:sp>
        <p:nvSpPr>
          <p:cNvPr id="505" name=""/>
          <p:cNvSpPr/>
          <p:nvPr/>
        </p:nvSpPr>
        <p:spPr>
          <a:xfrm rot="0" flipH="0" flipV="0">
            <a:off x="7067550" y="5295900"/>
            <a:ext cx="609600" cy="238125"/>
          </a:xfrm>
          <a:prstGeom prst="roundRect">
            <a:avLst>
              <a:gd name="adj" fmla="val 3996000"/>
            </a:avLst>
          </a:prstGeom>
          <a:solidFill>
            <a:srgbClr val="E4EDD8"/>
          </a:solidFill>
          <a:ln/>
        </p:spPr>
        <p:txBody>
          <a:bodyPr/>
          <a:p/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7239000" y="533400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6C7E58"/>
                </a:solidFill>
                <a:latin typeface="Noto Sans SC"/>
                <a:ea typeface="Noto Sans SC"/>
              </a:rPr>
              <a:t>穿搭</a:t>
            </a:r>
            <a:endParaRPr/>
          </a:p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7810500" y="5324475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3C342C"/>
                </a:solidFill>
                <a:latin typeface="Noto Sans SC"/>
                <a:ea typeface="Noto Sans SC"/>
              </a:rPr>
              <a:t>怎么拍</a:t>
            </a:r>
            <a:endParaRPr/>
          </a:p>
        </p:txBody>
      </p:sp>
      <p:sp>
        <p:nvSpPr>
          <p:cNvPr id="508" name=""/>
          <p:cNvSpPr/>
          <p:nvPr/>
        </p:nvSpPr>
        <p:spPr>
          <a:xfrm rot="0" flipH="0" flipV="0">
            <a:off x="6915150" y="5829300"/>
            <a:ext cx="714375" cy="266700"/>
          </a:xfrm>
          <a:prstGeom prst="roundRect">
            <a:avLst>
              <a:gd name="adj" fmla="val 3567857"/>
            </a:avLst>
          </a:prstGeom>
          <a:gradFill>
            <a:gsLst>
              <a:gs pos="0">
                <a:srgbClr val="8EA47C"/>
              </a:gs>
              <a:gs pos="100000">
                <a:srgbClr val="6C7E58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7086600" y="5886450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DF8"/>
                </a:solidFill>
                <a:latin typeface="Noto Sans SC"/>
                <a:ea typeface="Noto Sans SC"/>
              </a:rPr>
              <a:t>轻量化</a:t>
            </a:r>
            <a:endParaRPr/>
          </a:p>
        </p:txBody>
      </p:sp>
      <p:sp>
        <p:nvSpPr>
          <p:cNvPr id="510" name=""/>
          <p:cNvSpPr/>
          <p:nvPr/>
        </p:nvSpPr>
        <p:spPr>
          <a:xfrm rot="0" flipH="0" flipV="0">
            <a:off x="7724775" y="5829300"/>
            <a:ext cx="714375" cy="266700"/>
          </a:xfrm>
          <a:prstGeom prst="roundRect">
            <a:avLst>
              <a:gd name="adj" fmla="val 3567857"/>
            </a:avLst>
          </a:prstGeom>
          <a:gradFill>
            <a:gsLst>
              <a:gs pos="0">
                <a:srgbClr val="8EA47C"/>
              </a:gs>
              <a:gs pos="100000">
                <a:srgbClr val="6C7E58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7896225" y="5886450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DF8"/>
                </a:solidFill>
                <a:latin typeface="Noto Sans SC"/>
                <a:ea typeface="Noto Sans SC"/>
              </a:rPr>
              <a:t>可复制</a:t>
            </a:r>
            <a:endParaRPr/>
          </a:p>
        </p:txBody>
      </p:sp>
      <p:sp>
        <p:nvSpPr>
          <p:cNvPr id="512" name=""/>
          <p:cNvSpPr/>
          <p:nvPr/>
        </p:nvSpPr>
        <p:spPr>
          <a:xfrm rot="0" flipH="0" flipV="0">
            <a:off x="8534400" y="5829300"/>
            <a:ext cx="714375" cy="266700"/>
          </a:xfrm>
          <a:prstGeom prst="roundRect">
            <a:avLst>
              <a:gd name="adj" fmla="val 3567857"/>
            </a:avLst>
          </a:prstGeom>
          <a:gradFill>
            <a:gsLst>
              <a:gs pos="0">
                <a:srgbClr val="8EA47C"/>
              </a:gs>
              <a:gs pos="100000">
                <a:srgbClr val="6C7E58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8705850" y="5886450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DF8"/>
                </a:solidFill>
                <a:latin typeface="Noto Sans SC"/>
                <a:ea typeface="Noto Sans SC"/>
              </a:rPr>
              <a:t>低决策</a:t>
            </a:r>
            <a:endParaRPr/>
          </a:p>
        </p:txBody>
      </p:sp>
      <p:sp>
        <p:nvSpPr>
          <p:cNvPr id="514" name=""/>
          <p:cNvSpPr/>
          <p:nvPr/>
        </p:nvSpPr>
        <p:spPr>
          <a:xfrm rot="0" flipH="0" flipV="0">
            <a:off x="609600" y="6096000"/>
            <a:ext cx="10972800" cy="571500"/>
          </a:xfrm>
          <a:custGeom>
            <a:pathLst>
              <a:path w="1152" h="6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7DCCE"/>
          </a:solidFill>
          <a:ln/>
        </p:spPr>
        <p:txBody>
          <a:bodyPr/>
          <a:p/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609600" y="6315075"/>
            <a:ext cx="1095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途个惊喜</a:t>
            </a:r>
            <a:r>
              <a:rPr lang="en-US" sz="975">
                <a:solidFill>
                  <a:srgbClr val="8F8376"/>
                </a:solidFill>
                <a:latin typeface="Noto Sans SC"/>
                <a:ea typeface="Noto Sans SC"/>
              </a:rPr>
              <a:t> · </a:t>
            </a: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随盒出发</a:t>
            </a:r>
            <a:endParaRPr/>
          </a:p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11201400" y="6315075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F8376"/>
                </a:solidFill>
                <a:latin typeface="Noto Sans SC"/>
                <a:ea typeface="Noto Sans SC"/>
              </a:rPr>
              <a:t>07 / 15</a:t>
            </a:r>
            <a:endParaRPr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7" name="" descr="&lt;Slide style={{ width: 1280, height: 720, background: '#F6F1E6', padding: '20px 64px', position: 'relative', overflow: 'hidden' }}&gt;&#10;    &lt;Box style={{ position: 'absolute', top: -80, right: -60, width: 300, height: 190, borderRadius: '50%', background: '#E4EDD8', opacity: 0.45 }} /&gt;&#10;    &lt;Box style={{ position: 'absolute', bottom: -120, left: -80, width: 340, height: 210, borderRadius: '50%', background: '#EFE6D6', opacity: 0.5 }} /&gt;&#10;&#10;    {/* A 标题块 */}&#10;    &lt;Box style={{ height: 100, flexDirection: 'row', alignItems: 'flex-end', justifyContent: 'space-between', position: 'relative', zIndex: 1 }}&gt;&#10;        &lt;Box style={{ gap: 4, paddingBottom: 6 }}&gt;&#10;            &lt;Text style={{ fontFamily: 'Caveat, cursive', fontSize: 17, fontWeight: 700, color: '#8EA47C', letterSpacing: 1 }}&gt;07 · Prototype&lt;/Text&gt;&#10;            &lt;Text style={{ fontFamily: 'Noto Serif SC, serif', fontSize: 34, fontWeight: 900, color: '#3C342C' }}&gt;原型体验&lt;/Text&gt;&#10;            &lt;Box style={{ width: 56, height: 6, borderRadius: 3, background: '#8EA47C', marginTop: 6 }} /&gt;&#10;        &lt;/Box&gt;&#10;        &lt;Text style={{ fontFamily: 'Noto Sans SC, sans-serif', fontSize: 15, color: '#8F8376', width: 460, textAlign: 'right', lineHeight: 1.7, paddingBottom: 10 }}&gt;&#10;            用户看到的不是一张信息表，而是一种「打开它」的期待。&#10;        &lt;/Text&gt;&#10;    &lt;/Box&gt;&#10;&#10;    {/* B 内容区 */}&#10;    &lt;Box style={{ height: 520, flexDirection: 'row', gap: 36, position: 'relative', zIndex: 1, alignItems: 'center' }}&gt;&#10;        {/* 左：三屏手机 */}&#10;        &lt;Box style={{ flexDirection: 'row', gap: 22 }}&gt;&#10;            {[&#10;                { img: 'assets/proto_home.png', label: '首页 · 选心情，挑盲盒' },&#10;                { img: 'assets/proto_ai.png', label: 'AI 搭子 · 把心情交给小途' },&#10;                { img: 'assets/proto_badges.png', label: '图鉴 · 收集旅途印章' },&#10;            ].map((item, idx) =&gt; (&#10;                &lt;Box key={idx} style={{ alignItems: 'center', gap: 14 }}&gt;&#10;                    &lt;Box style={{&#10;                        width: 178,&#10;                        height: 386,&#10;                        borderRadius: 22,&#10;                        overflow: 'hidden',&#10;                        border: '1px solid #E7DCCE',&#10;                        boxShadow: '0 16px 32px rgba(60,52,44,0.14)',&#10;                        background: '#FFFDF8',&#10;                    }}&gt;&#10;                        &lt;Image src={item.img} style={{ width: '100%', height: '100%', objectFit: 'cover' }} /&gt;&#10;                    &lt;/Box&gt;&#10;                    &lt;Text style={{ fontFamily: 'Noto Sans SC, sans-serif', fontSize: 13, fontWeight: 600, color: '#6C7E58' }}&gt;{item.label}&lt;/Text&gt;&#10;                &lt;/Box&gt;&#10;            ))}&#10;        &lt;/Box&gt;&#10;&#10;        {/* 右：Web 端 + 视觉语言 */}&#10;        &lt;Box style={{ flex: 1, gap: 18 }}&gt;&#10;            &lt;Box style={{&#10;                width: '100%',&#10;                height: 236,&#10;                borderRadius: 16,&#10;                overflow: 'hidden',&#10;                border: '1px solid #E7DCCE',&#10;                boxShadow: '0 12px 26px rgba(60,52,44,0.12)',&#10;                background: '#FFFDF8',&#10;            }}&gt;&#10;                &lt;Image src=&quot;assets/web_home.png&quot; style={{ width: '100%', height: '100%', objectFit: 'cover' }} /&gt;&#10;            &lt;/Box&gt;&#10;            &lt;Text style={{ fontFamily: 'Noto Sans SC, sans-serif', fontSize: 13, fontWeight: 600, color: '#6C7E58' }}&gt;Web 端 · 同一套语言&lt;/Text&gt;&#10;            &lt;Box style={{ height: 1, background: '#E7DCCE' }} /&gt;&#10;            &lt;Text style={{ fontFamily: 'Noto Serif SC, serif', fontSize: 18, fontWeight: 700, color: '#3C342C' }}&gt;视觉语言就是产品识别度&lt;/Text&gt;&#10;            &lt;Box style={{ flexDirection: 'row', gap: 10, flexWrap: 'wrap' }}&gt;&#10;                {['奶油白', '鼠尾草绿', '纸张纹理', '杂志式排版'].map((tag, idx) =&gt; (&#10;                    &lt;Box key={idx} style={{ background: '#E4EDD8', borderRadius: 999, padding: '6px 16px' }}&gt;&#10;                        &lt;Text style={{ fontFamily: 'Noto Sans SC, sans-serif', fontSize: 13, fontWeight: 600, color: '#6C7E58' }}&gt;{tag}&lt;/Text&gt;&#10;                    &lt;/Box&gt;&#10;                ))}&#10;            &lt;/Box&gt;&#10;            &lt;Text style={{ fontFamily: 'Noto Sans SC, sans-serif', fontSize: 14, color: '#8F8376', lineHeight: 1.75 }}&gt;&#10;                界面、文案和动效，都在为「打开它」的期待服务——这些不是装饰，是把旅行从工具感拉回到情绪体验。&#10;            &lt;/Text&gt;&#10;        &lt;/Box&gt;&#10;    &lt;/Box&gt;&#10;&#10;    {/* C 页脚 */}&#10;    &lt;Box style={{ height: 60, flexDirection: 'row', alignItems: 'center', justifyContent: 'space-between', borderTop: '1px solid #E7DCCE', position: 'relative', zIndex: 1 }}&gt;&#10;        &lt;Text style={{ fontFamily: 'Noto Sans SC, sans-serif', fontSize: 13, color: '#8F8376' }}&gt;途个惊喜 · 随盒出发&lt;/Text&gt;&#10;        &lt;Text style={{ fontFamily: 'Noto Sans SC, sans-serif', fontSize: 13, color: '#8F8376' }}&gt;08 / 1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6F1E6"/>
          </a:solidFill>
          <a:ln/>
        </p:spPr>
        <p:txBody>
          <a:bodyPr/>
          <a:p/>
        </p:txBody>
      </p:sp>
      <p:sp>
        <p:nvSpPr>
          <p:cNvPr id="519" name=""/>
          <p:cNvSpPr/>
          <p:nvPr/>
        </p:nvSpPr>
        <p:spPr>
          <a:xfrm rot="0" flipH="0" flipV="0">
            <a:off x="9906000" y="-762000"/>
            <a:ext cx="2857500" cy="1809750"/>
          </a:xfrm>
          <a:custGeom>
            <a:pathLst>
              <a:path w="300" h="190">
                <a:moveTo>
                  <a:pt x="240" y="171"/>
                </a:moveTo>
                <a:cubicBezTo>
                  <a:pt x="161" y="211"/>
                  <a:pt x="66" y="192"/>
                  <a:pt x="8" y="125"/>
                </a:cubicBezTo>
                <a:cubicBezTo>
                  <a:pt x="0" y="112"/>
                  <a:pt x="-2" y="95"/>
                  <a:pt x="2" y="80"/>
                </a:cubicBezTo>
                <a:lnTo>
                  <a:pt x="240" y="80"/>
                </a:lnTo>
                <a:close/>
              </a:path>
            </a:pathLst>
          </a:custGeom>
          <a:solidFill>
            <a:srgbClr val="E4EDD8">
              <a:alpha val="45000"/>
            </a:srgbClr>
          </a:solidFill>
          <a:ln/>
        </p:spPr>
        <p:txBody>
          <a:bodyPr/>
          <a:p/>
        </p:txBody>
      </p:sp>
      <p:sp>
        <p:nvSpPr>
          <p:cNvPr id="520" name=""/>
          <p:cNvSpPr/>
          <p:nvPr/>
        </p:nvSpPr>
        <p:spPr>
          <a:xfrm rot="0" flipH="0" flipV="0">
            <a:off x="-762000" y="6000750"/>
            <a:ext cx="3238500" cy="2000250"/>
          </a:xfrm>
          <a:custGeom>
            <a:pathLst>
              <a:path w="340" h="210">
                <a:moveTo>
                  <a:pt x="174" y="0"/>
                </a:moveTo>
                <a:cubicBezTo>
                  <a:pt x="241" y="-7"/>
                  <a:pt x="306" y="27"/>
                  <a:pt x="337" y="86"/>
                </a:cubicBezTo>
                <a:lnTo>
                  <a:pt x="338" y="89"/>
                </a:lnTo>
                <a:lnTo>
                  <a:pt x="338" y="90"/>
                </a:lnTo>
                <a:lnTo>
                  <a:pt x="80" y="90"/>
                </a:lnTo>
                <a:lnTo>
                  <a:pt x="80" y="16"/>
                </a:lnTo>
                <a:cubicBezTo>
                  <a:pt x="109" y="5"/>
                  <a:pt x="139" y="0"/>
                  <a:pt x="170" y="0"/>
                </a:cubicBezTo>
                <a:close/>
              </a:path>
            </a:pathLst>
          </a:custGeom>
          <a:solidFill>
            <a:srgbClr val="EFE6D6">
              <a:alpha val="50000"/>
            </a:srgbClr>
          </a:solidFill>
          <a:ln/>
        </p:spPr>
        <p:txBody>
          <a:bodyPr/>
          <a:p/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609600" y="304800"/>
            <a:ext cx="1295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 spc="75">
                <a:solidFill>
                  <a:srgbClr val="8EA47C"/>
                </a:solidFill>
                <a:latin typeface="Caveat"/>
                <a:ea typeface="Caveat"/>
              </a:rPr>
              <a:t>07 · Prototype</a:t>
            </a:r>
            <a:endParaRPr/>
          </a:p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609600" y="542925"/>
            <a:ext cx="1295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3C342C"/>
                </a:solidFill>
                <a:latin typeface="Noto Serif SC"/>
                <a:ea typeface="Noto Serif SC"/>
              </a:rPr>
              <a:t>原型体验</a:t>
            </a:r>
            <a:endParaRPr/>
          </a:p>
        </p:txBody>
      </p:sp>
      <p:sp>
        <p:nvSpPr>
          <p:cNvPr id="523" name=""/>
          <p:cNvSpPr/>
          <p:nvPr/>
        </p:nvSpPr>
        <p:spPr>
          <a:xfrm rot="0" flipH="0" flipV="0">
            <a:off x="609600" y="1028700"/>
            <a:ext cx="533400" cy="57150"/>
          </a:xfrm>
          <a:prstGeom prst="roundRect">
            <a:avLst>
              <a:gd name="adj" fmla="val 50000"/>
            </a:avLst>
          </a:prstGeom>
          <a:solidFill>
            <a:srgbClr val="8EA47C"/>
          </a:solidFill>
          <a:ln/>
        </p:spPr>
        <p:txBody>
          <a:bodyPr/>
          <a:p/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7200900" y="752475"/>
            <a:ext cx="4381500" cy="390525"/>
          </a:xfrm>
          <a:prstGeom prst="rect"/>
        </p:spPr>
        <p:txBody>
          <a:bodyPr wrap="none" lIns="0" tIns="0" rIns="0" bIns="71438"/>
          <a:p>
            <a:pPr algn="r">
              <a:lnSpc>
                <a:spcPct val="170000"/>
              </a:lnSpc>
            </a:pPr>
            <a:r>
              <a:rPr lang="zh-CN" sz="1125">
                <a:solidFill>
                  <a:srgbClr val="8F8376"/>
                </a:solidFill>
                <a:latin typeface="Noto Sans SC"/>
                <a:ea typeface="Noto Sans SC"/>
              </a:rPr>
              <a:t>用户看到的不是一张信息表，而是一种「打开它」的期待。</a:t>
            </a:r>
            <a:endParaRPr/>
          </a:p>
        </p:txBody>
      </p:sp>
      <p:sp>
        <p:nvSpPr>
          <p:cNvPr id="525" name=""/>
          <p:cNvSpPr/>
          <p:nvPr/>
        </p:nvSpPr>
        <p:spPr>
          <a:xfrm rot="0" flipH="0" flipV="0">
            <a:off x="609600" y="1638300"/>
            <a:ext cx="1695450" cy="3676650"/>
          </a:xfrm>
          <a:prstGeom prst="roundRect">
            <a:avLst>
              <a:gd name="adj" fmla="val 12360"/>
            </a:avLst>
          </a:prstGeom>
          <a:solidFill>
            <a:srgbClr val="FFFDF8"/>
          </a:solidFill>
          <a:ln w="12700">
            <a:solidFill>
              <a:srgbClr val="E7DCCE"/>
            </a:solidFill>
            <a:prstDash val="solid"/>
          </a:ln>
          <a:effectLst>
            <a:outerShdw blurRad="304800" dist="152400" dir="5400000">
              <a:srgbClr val="3C342C">
                <a:alpha val="14000"/>
              </a:srgbClr>
            </a:outerShdw>
          </a:effectLst>
        </p:spPr>
        <p:txBody>
          <a:bodyPr/>
          <a:p/>
        </p:txBody>
      </p:sp>
      <p:pic>
        <p:nvPicPr>
          <p:cNvPr id="526" name=""/>
          <p:cNvPicPr>
            <a:picLocks noChangeAspect="1"/>
          </p:cNvPicPr>
          <p:nvPr/>
        </p:nvPicPr>
        <p:blipFill>
          <a:blip r:embed="rId1"/>
          <a:srcRect l="102" t="0" r="102" b="0"/>
          <a:stretch>
            <a:fillRect/>
          </a:stretch>
        </p:blipFill>
        <p:spPr>
          <a:xfrm rot="0" flipH="0" flipV="0">
            <a:off x="609600" y="1638300"/>
            <a:ext cx="1695450" cy="3676650"/>
          </a:xfrm>
          <a:custGeom>
            <a:pathLst>
              <a:path w="178" h="386">
                <a:moveTo>
                  <a:pt x="157" y="0"/>
                </a:moveTo>
                <a:cubicBezTo>
                  <a:pt x="168" y="0"/>
                  <a:pt x="178" y="10"/>
                  <a:pt x="178" y="22"/>
                </a:cubicBezTo>
                <a:lnTo>
                  <a:pt x="178" y="364"/>
                </a:lnTo>
                <a:cubicBezTo>
                  <a:pt x="178" y="376"/>
                  <a:pt x="168" y="386"/>
                  <a:pt x="156" y="386"/>
                </a:cubicBezTo>
                <a:lnTo>
                  <a:pt x="22" y="386"/>
                </a:lnTo>
                <a:cubicBezTo>
                  <a:pt x="10" y="386"/>
                  <a:pt x="0" y="376"/>
                  <a:pt x="0" y="364"/>
                </a:cubicBezTo>
                <a:lnTo>
                  <a:pt x="0" y="22"/>
                </a:lnTo>
                <a:cubicBezTo>
                  <a:pt x="0" y="10"/>
                  <a:pt x="10" y="0"/>
                  <a:pt x="22" y="0"/>
                </a:cubicBezTo>
                <a:lnTo>
                  <a:pt x="156" y="0"/>
                </a:lnTo>
                <a:close/>
              </a:path>
            </a:pathLst>
          </a:custGeom>
          <a:ln/>
        </p:spPr>
      </p:pic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847725" y="5448300"/>
            <a:ext cx="1219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6C7E58"/>
                </a:solidFill>
                <a:latin typeface="Noto Sans SC"/>
                <a:ea typeface="Noto Sans SC"/>
              </a:rPr>
              <a:t>首页</a:t>
            </a:r>
            <a:r>
              <a:rPr lang="en-US" sz="975" b="1">
                <a:solidFill>
                  <a:srgbClr val="6C7E58"/>
                </a:solidFill>
                <a:latin typeface="Noto Sans SC"/>
                <a:ea typeface="Noto Sans SC"/>
              </a:rPr>
              <a:t> · </a:t>
            </a:r>
            <a:r>
              <a:rPr lang="zh-CN" sz="975" b="1">
                <a:solidFill>
                  <a:srgbClr val="6C7E58"/>
                </a:solidFill>
                <a:latin typeface="Noto Sans SC"/>
                <a:ea typeface="Noto Sans SC"/>
              </a:rPr>
              <a:t>选心情，挑盲盒</a:t>
            </a:r>
            <a:endParaRPr/>
          </a:p>
        </p:txBody>
      </p:sp>
      <p:sp>
        <p:nvSpPr>
          <p:cNvPr id="528" name=""/>
          <p:cNvSpPr/>
          <p:nvPr/>
        </p:nvSpPr>
        <p:spPr>
          <a:xfrm rot="0" flipH="0" flipV="0">
            <a:off x="2514600" y="1638300"/>
            <a:ext cx="1695450" cy="3676650"/>
          </a:xfrm>
          <a:prstGeom prst="roundRect">
            <a:avLst>
              <a:gd name="adj" fmla="val 12360"/>
            </a:avLst>
          </a:prstGeom>
          <a:solidFill>
            <a:srgbClr val="FFFDF8"/>
          </a:solidFill>
          <a:ln w="12700">
            <a:solidFill>
              <a:srgbClr val="E7DCCE"/>
            </a:solidFill>
            <a:prstDash val="solid"/>
          </a:ln>
          <a:effectLst>
            <a:outerShdw blurRad="304800" dist="152400" dir="5400000">
              <a:srgbClr val="3C342C">
                <a:alpha val="14000"/>
              </a:srgbClr>
            </a:outerShdw>
          </a:effectLst>
        </p:spPr>
        <p:txBody>
          <a:bodyPr/>
          <a:p/>
        </p:txBody>
      </p:sp>
      <p:pic>
        <p:nvPicPr>
          <p:cNvPr id="529" name=""/>
          <p:cNvPicPr>
            <a:picLocks noChangeAspect="1"/>
          </p:cNvPicPr>
          <p:nvPr/>
        </p:nvPicPr>
        <p:blipFill>
          <a:blip r:embed="rId2"/>
          <a:srcRect l="102" t="0" r="102" b="0"/>
          <a:stretch>
            <a:fillRect/>
          </a:stretch>
        </p:blipFill>
        <p:spPr>
          <a:xfrm rot="0" flipH="0" flipV="0">
            <a:off x="2514600" y="1638300"/>
            <a:ext cx="1695450" cy="3676650"/>
          </a:xfrm>
          <a:custGeom>
            <a:pathLst>
              <a:path w="178" h="386">
                <a:moveTo>
                  <a:pt x="157" y="0"/>
                </a:moveTo>
                <a:cubicBezTo>
                  <a:pt x="168" y="0"/>
                  <a:pt x="178" y="10"/>
                  <a:pt x="178" y="22"/>
                </a:cubicBezTo>
                <a:lnTo>
                  <a:pt x="178" y="364"/>
                </a:lnTo>
                <a:cubicBezTo>
                  <a:pt x="178" y="376"/>
                  <a:pt x="168" y="386"/>
                  <a:pt x="156" y="386"/>
                </a:cubicBezTo>
                <a:lnTo>
                  <a:pt x="22" y="386"/>
                </a:lnTo>
                <a:cubicBezTo>
                  <a:pt x="10" y="386"/>
                  <a:pt x="0" y="376"/>
                  <a:pt x="0" y="364"/>
                </a:cubicBezTo>
                <a:lnTo>
                  <a:pt x="0" y="22"/>
                </a:lnTo>
                <a:cubicBezTo>
                  <a:pt x="0" y="10"/>
                  <a:pt x="10" y="0"/>
                  <a:pt x="22" y="0"/>
                </a:cubicBezTo>
                <a:lnTo>
                  <a:pt x="156" y="0"/>
                </a:lnTo>
                <a:close/>
              </a:path>
            </a:pathLst>
          </a:custGeom>
          <a:ln/>
        </p:spPr>
      </p:pic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2676525" y="5448300"/>
            <a:ext cx="1381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6C7E58"/>
                </a:solidFill>
                <a:latin typeface="Noto Sans SC"/>
                <a:ea typeface="Noto Sans SC"/>
              </a:rPr>
              <a:t>AI </a:t>
            </a:r>
            <a:r>
              <a:rPr lang="zh-CN" sz="975" b="1">
                <a:solidFill>
                  <a:srgbClr val="6C7E58"/>
                </a:solidFill>
                <a:latin typeface="Noto Sans SC"/>
                <a:ea typeface="Noto Sans SC"/>
              </a:rPr>
              <a:t>搭子</a:t>
            </a:r>
            <a:r>
              <a:rPr lang="en-US" sz="975" b="1">
                <a:solidFill>
                  <a:srgbClr val="6C7E58"/>
                </a:solidFill>
                <a:latin typeface="Noto Sans SC"/>
                <a:ea typeface="Noto Sans SC"/>
              </a:rPr>
              <a:t> · </a:t>
            </a:r>
            <a:r>
              <a:rPr lang="zh-CN" sz="975" b="1">
                <a:solidFill>
                  <a:srgbClr val="6C7E58"/>
                </a:solidFill>
                <a:latin typeface="Noto Sans SC"/>
                <a:ea typeface="Noto Sans SC"/>
              </a:rPr>
              <a:t>把心情交给小途</a:t>
            </a:r>
            <a:endParaRPr/>
          </a:p>
        </p:txBody>
      </p:sp>
      <p:sp>
        <p:nvSpPr>
          <p:cNvPr id="531" name=""/>
          <p:cNvSpPr/>
          <p:nvPr/>
        </p:nvSpPr>
        <p:spPr>
          <a:xfrm rot="0" flipH="0" flipV="0">
            <a:off x="4419600" y="1638300"/>
            <a:ext cx="1695450" cy="3676650"/>
          </a:xfrm>
          <a:prstGeom prst="roundRect">
            <a:avLst>
              <a:gd name="adj" fmla="val 12360"/>
            </a:avLst>
          </a:prstGeom>
          <a:solidFill>
            <a:srgbClr val="FFFDF8"/>
          </a:solidFill>
          <a:ln w="12700">
            <a:solidFill>
              <a:srgbClr val="E7DCCE"/>
            </a:solidFill>
            <a:prstDash val="solid"/>
          </a:ln>
          <a:effectLst>
            <a:outerShdw blurRad="304800" dist="152400" dir="5400000">
              <a:srgbClr val="3C342C">
                <a:alpha val="14000"/>
              </a:srgbClr>
            </a:outerShdw>
          </a:effectLst>
        </p:spPr>
        <p:txBody>
          <a:bodyPr/>
          <a:p/>
        </p:txBody>
      </p:sp>
      <p:pic>
        <p:nvPicPr>
          <p:cNvPr id="532" name=""/>
          <p:cNvPicPr>
            <a:picLocks noChangeAspect="1"/>
          </p:cNvPicPr>
          <p:nvPr/>
        </p:nvPicPr>
        <p:blipFill>
          <a:blip r:embed="rId3"/>
          <a:srcRect l="102" t="0" r="102" b="0"/>
          <a:stretch>
            <a:fillRect/>
          </a:stretch>
        </p:blipFill>
        <p:spPr>
          <a:xfrm rot="0" flipH="0" flipV="0">
            <a:off x="4419600" y="1638300"/>
            <a:ext cx="1695450" cy="3676650"/>
          </a:xfrm>
          <a:custGeom>
            <a:pathLst>
              <a:path w="178" h="386">
                <a:moveTo>
                  <a:pt x="157" y="0"/>
                </a:moveTo>
                <a:cubicBezTo>
                  <a:pt x="168" y="0"/>
                  <a:pt x="178" y="10"/>
                  <a:pt x="178" y="22"/>
                </a:cubicBezTo>
                <a:lnTo>
                  <a:pt x="178" y="364"/>
                </a:lnTo>
                <a:cubicBezTo>
                  <a:pt x="178" y="376"/>
                  <a:pt x="168" y="386"/>
                  <a:pt x="156" y="386"/>
                </a:cubicBezTo>
                <a:lnTo>
                  <a:pt x="22" y="386"/>
                </a:lnTo>
                <a:cubicBezTo>
                  <a:pt x="10" y="386"/>
                  <a:pt x="0" y="376"/>
                  <a:pt x="0" y="364"/>
                </a:cubicBezTo>
                <a:lnTo>
                  <a:pt x="0" y="22"/>
                </a:lnTo>
                <a:cubicBezTo>
                  <a:pt x="0" y="10"/>
                  <a:pt x="10" y="0"/>
                  <a:pt x="22" y="0"/>
                </a:cubicBezTo>
                <a:lnTo>
                  <a:pt x="156" y="0"/>
                </a:lnTo>
                <a:close/>
              </a:path>
            </a:pathLst>
          </a:custGeom>
          <a:ln/>
        </p:spPr>
      </p:pic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4724400" y="5448300"/>
            <a:ext cx="1095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6C7E58"/>
                </a:solidFill>
                <a:latin typeface="Noto Sans SC"/>
                <a:ea typeface="Noto Sans SC"/>
              </a:rPr>
              <a:t>图鉴</a:t>
            </a:r>
            <a:r>
              <a:rPr lang="en-US" sz="975" b="1">
                <a:solidFill>
                  <a:srgbClr val="6C7E58"/>
                </a:solidFill>
                <a:latin typeface="Noto Sans SC"/>
                <a:ea typeface="Noto Sans SC"/>
              </a:rPr>
              <a:t> · </a:t>
            </a:r>
            <a:r>
              <a:rPr lang="zh-CN" sz="975" b="1">
                <a:solidFill>
                  <a:srgbClr val="6C7E58"/>
                </a:solidFill>
                <a:latin typeface="Noto Sans SC"/>
                <a:ea typeface="Noto Sans SC"/>
              </a:rPr>
              <a:t>收集旅途印章</a:t>
            </a:r>
            <a:endParaRPr/>
          </a:p>
        </p:txBody>
      </p:sp>
      <p:sp>
        <p:nvSpPr>
          <p:cNvPr id="534" name=""/>
          <p:cNvSpPr/>
          <p:nvPr/>
        </p:nvSpPr>
        <p:spPr>
          <a:xfrm rot="0" flipH="0" flipV="0">
            <a:off x="6457950" y="1609725"/>
            <a:ext cx="5124450" cy="2247900"/>
          </a:xfrm>
          <a:prstGeom prst="roundRect">
            <a:avLst>
              <a:gd name="adj" fmla="val 6780"/>
            </a:avLst>
          </a:prstGeom>
          <a:solidFill>
            <a:srgbClr val="FFFDF8"/>
          </a:solidFill>
          <a:ln w="12700">
            <a:solidFill>
              <a:srgbClr val="E7DCCE"/>
            </a:solidFill>
            <a:prstDash val="solid"/>
          </a:ln>
          <a:effectLst>
            <a:outerShdw blurRad="247650" dist="114300" dir="5400000">
              <a:srgbClr val="3C342C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535" name=""/>
          <p:cNvPicPr>
            <a:picLocks noChangeAspect="1"/>
          </p:cNvPicPr>
          <p:nvPr/>
        </p:nvPicPr>
        <p:blipFill>
          <a:blip r:embed="rId4"/>
          <a:srcRect l="0" t="1344" r="0" b="1344"/>
          <a:stretch>
            <a:fillRect/>
          </a:stretch>
        </p:blipFill>
        <p:spPr>
          <a:xfrm rot="0" flipH="0" flipV="0">
            <a:off x="6457950" y="1609725"/>
            <a:ext cx="5124450" cy="2247900"/>
          </a:xfrm>
          <a:custGeom>
            <a:pathLst>
              <a:path w="538" h="236">
                <a:moveTo>
                  <a:pt x="522" y="0"/>
                </a:moveTo>
                <a:cubicBezTo>
                  <a:pt x="531" y="0"/>
                  <a:pt x="538" y="7"/>
                  <a:pt x="538" y="16"/>
                </a:cubicBezTo>
                <a:lnTo>
                  <a:pt x="538" y="220"/>
                </a:lnTo>
                <a:cubicBezTo>
                  <a:pt x="538" y="229"/>
                  <a:pt x="531" y="236"/>
                  <a:pt x="522" y="236"/>
                </a:cubicBezTo>
                <a:lnTo>
                  <a:pt x="16" y="236"/>
                </a:lnTo>
                <a:cubicBezTo>
                  <a:pt x="7" y="236"/>
                  <a:pt x="0" y="229"/>
                  <a:pt x="0" y="220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lnTo>
                  <a:pt x="522" y="0"/>
                </a:lnTo>
                <a:close/>
              </a:path>
            </a:pathLst>
          </a:custGeom>
          <a:ln/>
        </p:spPr>
      </p:pic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6457950" y="4029075"/>
            <a:ext cx="5124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6C7E58"/>
                </a:solidFill>
                <a:latin typeface="Noto Sans SC"/>
                <a:ea typeface="Noto Sans SC"/>
              </a:rPr>
              <a:t>Web </a:t>
            </a:r>
            <a:r>
              <a:rPr lang="zh-CN" sz="975" b="1">
                <a:solidFill>
                  <a:srgbClr val="6C7E58"/>
                </a:solidFill>
                <a:latin typeface="Noto Sans SC"/>
                <a:ea typeface="Noto Sans SC"/>
              </a:rPr>
              <a:t>端</a:t>
            </a:r>
            <a:r>
              <a:rPr lang="en-US" sz="975" b="1">
                <a:solidFill>
                  <a:srgbClr val="6C7E58"/>
                </a:solidFill>
                <a:latin typeface="Noto Sans SC"/>
                <a:ea typeface="Noto Sans SC"/>
              </a:rPr>
              <a:t> · </a:t>
            </a:r>
            <a:r>
              <a:rPr lang="zh-CN" sz="975" b="1">
                <a:solidFill>
                  <a:srgbClr val="6C7E58"/>
                </a:solidFill>
                <a:latin typeface="Noto Sans SC"/>
                <a:ea typeface="Noto Sans SC"/>
              </a:rPr>
              <a:t>同一套语言</a:t>
            </a:r>
            <a:endParaRPr/>
          </a:p>
        </p:txBody>
      </p:sp>
      <p:sp>
        <p:nvSpPr>
          <p:cNvPr id="537" name=""/>
          <p:cNvSpPr/>
          <p:nvPr/>
        </p:nvSpPr>
        <p:spPr>
          <a:xfrm rot="0" flipH="0" flipV="0">
            <a:off x="6457950" y="4352925"/>
            <a:ext cx="5124450" cy="9525"/>
          </a:xfrm>
          <a:prstGeom prst="rect">
            <a:avLst/>
          </a:prstGeom>
          <a:solidFill>
            <a:srgbClr val="E7DCCE"/>
          </a:solidFill>
          <a:ln/>
        </p:spPr>
        <p:txBody>
          <a:bodyPr/>
          <a:p/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6457950" y="4533900"/>
            <a:ext cx="5124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C342C"/>
                </a:solidFill>
                <a:latin typeface="Noto Serif SC"/>
                <a:ea typeface="Noto Serif SC"/>
              </a:rPr>
              <a:t>视觉语言就是产品识别度</a:t>
            </a:r>
            <a:endParaRPr/>
          </a:p>
        </p:txBody>
      </p:sp>
      <p:sp>
        <p:nvSpPr>
          <p:cNvPr id="539" name=""/>
          <p:cNvSpPr/>
          <p:nvPr/>
        </p:nvSpPr>
        <p:spPr>
          <a:xfrm rot="0" flipH="0" flipV="0">
            <a:off x="6457950" y="4914900"/>
            <a:ext cx="676275" cy="266700"/>
          </a:xfrm>
          <a:prstGeom prst="roundRect">
            <a:avLst>
              <a:gd name="adj" fmla="val 3567857"/>
            </a:avLst>
          </a:prstGeom>
          <a:solidFill>
            <a:srgbClr val="E4EDD8"/>
          </a:solidFill>
          <a:ln/>
        </p:spPr>
        <p:txBody>
          <a:bodyPr/>
          <a:p/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6610350" y="4972050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6C7E58"/>
                </a:solidFill>
                <a:latin typeface="Noto Sans SC"/>
                <a:ea typeface="Noto Sans SC"/>
              </a:rPr>
              <a:t>奶油白</a:t>
            </a:r>
            <a:endParaRPr/>
          </a:p>
        </p:txBody>
      </p:sp>
      <p:sp>
        <p:nvSpPr>
          <p:cNvPr id="541" name=""/>
          <p:cNvSpPr/>
          <p:nvPr/>
        </p:nvSpPr>
        <p:spPr>
          <a:xfrm rot="0" flipH="0" flipV="0">
            <a:off x="7229475" y="4914900"/>
            <a:ext cx="800100" cy="266700"/>
          </a:xfrm>
          <a:prstGeom prst="roundRect">
            <a:avLst>
              <a:gd name="adj" fmla="val 3567857"/>
            </a:avLst>
          </a:prstGeom>
          <a:solidFill>
            <a:srgbClr val="E4EDD8"/>
          </a:solidFill>
          <a:ln/>
        </p:spPr>
        <p:txBody>
          <a:bodyPr/>
          <a:p/>
        </p:txBody>
      </p:sp>
      <p:sp>
        <p:nvSpPr>
          <p:cNvPr id="542" name="" descr="{&quot;isTemplate&quot;:true,&quot;type&quot;:&quot;text&quot;}"/>
          <p:cNvSpPr txBox="1"/>
          <p:nvPr/>
        </p:nvSpPr>
        <p:spPr>
          <a:xfrm rot="0" flipH="0" flipV="0">
            <a:off x="7381875" y="497205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6C7E58"/>
                </a:solidFill>
                <a:latin typeface="Noto Sans SC"/>
                <a:ea typeface="Noto Sans SC"/>
              </a:rPr>
              <a:t>鼠尾草绿</a:t>
            </a:r>
            <a:endParaRPr/>
          </a:p>
        </p:txBody>
      </p:sp>
      <p:sp>
        <p:nvSpPr>
          <p:cNvPr id="543" name=""/>
          <p:cNvSpPr/>
          <p:nvPr/>
        </p:nvSpPr>
        <p:spPr>
          <a:xfrm rot="0" flipH="0" flipV="0">
            <a:off x="8124825" y="4914900"/>
            <a:ext cx="800100" cy="266700"/>
          </a:xfrm>
          <a:prstGeom prst="roundRect">
            <a:avLst>
              <a:gd name="adj" fmla="val 3567857"/>
            </a:avLst>
          </a:prstGeom>
          <a:solidFill>
            <a:srgbClr val="E4EDD8"/>
          </a:solidFill>
          <a:ln/>
        </p:spPr>
        <p:txBody>
          <a:bodyPr/>
          <a:p/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8277225" y="497205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6C7E58"/>
                </a:solidFill>
                <a:latin typeface="Noto Sans SC"/>
                <a:ea typeface="Noto Sans SC"/>
              </a:rPr>
              <a:t>纸张纹理</a:t>
            </a:r>
            <a:endParaRPr/>
          </a:p>
        </p:txBody>
      </p:sp>
      <p:sp>
        <p:nvSpPr>
          <p:cNvPr id="545" name=""/>
          <p:cNvSpPr/>
          <p:nvPr/>
        </p:nvSpPr>
        <p:spPr>
          <a:xfrm rot="0" flipH="0" flipV="0">
            <a:off x="9020175" y="4914900"/>
            <a:ext cx="923925" cy="266700"/>
          </a:xfrm>
          <a:prstGeom prst="roundRect">
            <a:avLst>
              <a:gd name="adj" fmla="val 3567857"/>
            </a:avLst>
          </a:prstGeom>
          <a:solidFill>
            <a:srgbClr val="E4EDD8"/>
          </a:solidFill>
          <a:ln/>
        </p:spPr>
        <p:txBody>
          <a:bodyPr/>
          <a:p/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9172575" y="4972050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6C7E58"/>
                </a:solidFill>
                <a:latin typeface="Noto Sans SC"/>
                <a:ea typeface="Noto Sans SC"/>
              </a:rPr>
              <a:t>杂志式排版</a:t>
            </a:r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6457950" y="5353050"/>
            <a:ext cx="5124450" cy="561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8F8376"/>
                </a:solidFill>
                <a:latin typeface="Noto Sans SC"/>
                <a:ea typeface="Noto Sans SC"/>
              </a:rPr>
              <a:t>界面、文案和动效，都在为「打开它」的期待服务——这些不是装饰，是把旅行从工具感拉回到情绪体验。</a:t>
            </a:r>
            <a:endParaRPr/>
          </a:p>
        </p:txBody>
      </p:sp>
      <p:sp>
        <p:nvSpPr>
          <p:cNvPr id="548" name=""/>
          <p:cNvSpPr/>
          <p:nvPr/>
        </p:nvSpPr>
        <p:spPr>
          <a:xfrm rot="0" flipH="0" flipV="0">
            <a:off x="609600" y="6096000"/>
            <a:ext cx="10972800" cy="571500"/>
          </a:xfrm>
          <a:custGeom>
            <a:pathLst>
              <a:path w="1152" h="6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7DCCE"/>
          </a:solidFill>
          <a:ln/>
        </p:spPr>
        <p:txBody>
          <a:bodyPr/>
          <a:p/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609600" y="6315075"/>
            <a:ext cx="1095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途个惊喜</a:t>
            </a:r>
            <a:r>
              <a:rPr lang="en-US" sz="975">
                <a:solidFill>
                  <a:srgbClr val="8F8376"/>
                </a:solidFill>
                <a:latin typeface="Noto Sans SC"/>
                <a:ea typeface="Noto Sans SC"/>
              </a:rPr>
              <a:t> · </a:t>
            </a: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随盒出发</a:t>
            </a:r>
            <a:endParaRPr/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11201400" y="6315075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F8376"/>
                </a:solidFill>
                <a:latin typeface="Noto Sans SC"/>
                <a:ea typeface="Noto Sans SC"/>
              </a:rPr>
              <a:t>08 / 15</a:t>
            </a:r>
            <a:endParaRPr/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551" name="" descr="&lt;Slide style={{ width: 1280, height: 720, background: '#F6F1E6', padding: '20px 64px', position: 'relative', overflow: 'hidden' }}&gt;&#10;    &lt;Box style={{ position: 'absolute', top: -80, right: -60, width: 300, height: 190, borderRadius: '50%', background: '#E4EDD8', opacity: 0.45 }} /&gt;&#10;    &lt;Box style={{ position: 'absolute', bottom: -120, left: -80, width: 340, height: 210, borderRadius: '50%', background: '#EFE6D6', opacity: 0.5 }} /&gt;&#10;&#10;    {/* A 标题块 */}&#10;    &lt;Box style={{ height: 100, flexDirection: 'row', alignItems: 'flex-end', justifyContent: 'space-between', position: 'relative', zIndex: 1 }}&gt;&#10;        &lt;Box style={{ gap: 4, paddingBottom: 6 }}&gt;&#10;            &lt;Text style={{ fontFamily: 'Caveat, cursive', fontSize: 17, fontWeight: 700, color: '#8EA47C', letterSpacing: 1 }}&gt;08 · Innovation&lt;/Text&gt;&#10;            &lt;Text style={{ fontFamily: 'Noto Serif SC, serif', fontSize: 34, fontWeight: 900, color: '#3C342C' }}&gt;三大创新&lt;/Text&gt;&#10;            &lt;Box style={{ width: 56, height: 6, borderRadius: 3, background: '#8EA47C', marginTop: 6 }} /&gt;&#10;        &lt;/Box&gt;&#10;        &lt;Text style={{ fontFamily: 'Noto Sans SC, sans-serif', fontSize: 15, color: '#8F8376', width: 460, textAlign: 'right', lineHeight: 1.7, paddingBottom: 10 }}&gt;&#10;            创新不只在界面，更在产品逻辑、内容方法和关系边界。&#10;        &lt;/Text&gt;&#10;    &lt;/Box&gt;&#10;&#10;    {/* B 内容区：三条大数字横带 */}&#10;    &lt;Box style={{ height: 520, justifyContent: 'space-between', position: 'relative', zIndex: 1 }}&gt;&#10;        {[&#10;            { n: '01', t: '玩法创新 · 攻略盲盒化', d: '把被动搜索变成一次开箱：随机、稀有度、动效和收集，凑齐一次出发的仪式感。', k: '惊喜感' },&#10;            { n: '02', t: '内容创新 · 结构化萃取', d: '把景点、交通、预算、美食、避雷、穿搭拆成可组合的原创内容单元，越用越厚。', k: '内容壁垒' },&#10;            { n: '03', t: '模式创新 · 合规轻社交', d: '内容付费为核心、兴趣交流为增值；不做隐私交换，不做恶意撮合。', k: '信任感' },&#10;        ].map((item, idx) =&gt; (&#10;            &lt;Box key={idx} style={{&#10;                flexDirection: 'row',&#10;                alignItems: 'center',&#10;                background: '#FFFDF8',&#10;                borderRadius: 20,&#10;                border: '1px solid #E7DCCE',&#10;                boxShadow: '0 4px 16px rgba(60,52,44,0.06)',&#10;                padding: '0 34px',&#10;                height: 158,&#10;                gap: 30,&#10;            }}&gt;&#10;                &lt;Text style={{ fontFamily: 'Noto Serif SC, serif', fontSize: 76, fontWeight: 900, color: idx === 0 ? '#E8B4A2' : '#C9D6B8', lineHeight: 1, width: 130 }}&gt;&#10;                    {item.n}&#10;                &lt;/Text&gt;&#10;                &lt;Box style={{ flex: 1, gap: 8 }}&gt;&#10;                    &lt;Text style={{ fontFamily: 'Noto Serif SC, serif', fontSize: 23, fontWeight: 700, color: '#3C342C' }}&gt;{item.t}&lt;/Text&gt;&#10;                    &lt;Text style={{ fontFamily: 'Noto Sans SC, sans-serif', fontSize: 15, color: '#8F8376', lineHeight: 1.65 }}&gt;{item.d}&lt;/Text&gt;&#10;                &lt;/Box&gt;&#10;                &lt;Box style={{&#10;                    background: '#E4EDD8',&#10;                    borderRadius: 999,&#10;                    padding: '10px 24px',&#10;                    border: '1px solid #C9D6B8',&#10;                }}&gt;&#10;                    &lt;Text style={{ fontFamily: 'Noto Serif SC, serif', fontSize: 18, fontWeight: 900, color: '#6C7E58' }}&gt;{item.k}&lt;/Text&gt;&#10;                &lt;/Box&gt;&#10;            &lt;/Box&gt;&#10;        ))}&#10;    &lt;/Box&gt;&#10;&#10;    {/* C 页脚 */}&#10;    &lt;Box style={{ height: 60, flexDirection: 'row', alignItems: 'center', justifyContent: 'space-between', borderTop: '1px solid #E7DCCE', position: 'relative', zIndex: 1 }}&gt;&#10;        &lt;Text style={{ fontFamily: 'Noto Sans SC, sans-serif', fontSize: 13, color: '#8F8376' }}&gt;途个惊喜 · 随盒出发&lt;/Text&gt;&#10;        &lt;Text style={{ fontFamily: 'Noto Sans SC, sans-serif', fontSize: 13, color: '#8F8376' }}&gt;09 / 1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6F1E6"/>
          </a:solidFill>
          <a:ln/>
        </p:spPr>
        <p:txBody>
          <a:bodyPr/>
          <a:p/>
        </p:txBody>
      </p:sp>
      <p:sp>
        <p:nvSpPr>
          <p:cNvPr id="553" name=""/>
          <p:cNvSpPr/>
          <p:nvPr/>
        </p:nvSpPr>
        <p:spPr>
          <a:xfrm rot="0" flipH="0" flipV="0">
            <a:off x="9906000" y="-762000"/>
            <a:ext cx="2857500" cy="1809750"/>
          </a:xfrm>
          <a:custGeom>
            <a:pathLst>
              <a:path w="300" h="190">
                <a:moveTo>
                  <a:pt x="240" y="171"/>
                </a:moveTo>
                <a:cubicBezTo>
                  <a:pt x="161" y="211"/>
                  <a:pt x="66" y="192"/>
                  <a:pt x="8" y="125"/>
                </a:cubicBezTo>
                <a:cubicBezTo>
                  <a:pt x="0" y="112"/>
                  <a:pt x="-2" y="95"/>
                  <a:pt x="2" y="80"/>
                </a:cubicBezTo>
                <a:lnTo>
                  <a:pt x="240" y="80"/>
                </a:lnTo>
                <a:close/>
              </a:path>
            </a:pathLst>
          </a:custGeom>
          <a:solidFill>
            <a:srgbClr val="E4EDD8">
              <a:alpha val="45000"/>
            </a:srgbClr>
          </a:solidFill>
          <a:ln/>
        </p:spPr>
        <p:txBody>
          <a:bodyPr/>
          <a:p/>
        </p:txBody>
      </p:sp>
      <p:sp>
        <p:nvSpPr>
          <p:cNvPr id="554" name=""/>
          <p:cNvSpPr/>
          <p:nvPr/>
        </p:nvSpPr>
        <p:spPr>
          <a:xfrm rot="0" flipH="0" flipV="0">
            <a:off x="-762000" y="6000750"/>
            <a:ext cx="3238500" cy="2000250"/>
          </a:xfrm>
          <a:custGeom>
            <a:pathLst>
              <a:path w="340" h="210">
                <a:moveTo>
                  <a:pt x="174" y="0"/>
                </a:moveTo>
                <a:cubicBezTo>
                  <a:pt x="241" y="-7"/>
                  <a:pt x="306" y="27"/>
                  <a:pt x="337" y="86"/>
                </a:cubicBezTo>
                <a:lnTo>
                  <a:pt x="338" y="89"/>
                </a:lnTo>
                <a:lnTo>
                  <a:pt x="338" y="90"/>
                </a:lnTo>
                <a:lnTo>
                  <a:pt x="80" y="90"/>
                </a:lnTo>
                <a:lnTo>
                  <a:pt x="80" y="16"/>
                </a:lnTo>
                <a:cubicBezTo>
                  <a:pt x="109" y="5"/>
                  <a:pt x="139" y="0"/>
                  <a:pt x="170" y="0"/>
                </a:cubicBezTo>
                <a:close/>
              </a:path>
            </a:pathLst>
          </a:custGeom>
          <a:solidFill>
            <a:srgbClr val="EFE6D6">
              <a:alpha val="50000"/>
            </a:srgbClr>
          </a:solidFill>
          <a:ln/>
        </p:spPr>
        <p:txBody>
          <a:bodyPr/>
          <a:p/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609600" y="304800"/>
            <a:ext cx="1295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 spc="75">
                <a:solidFill>
                  <a:srgbClr val="8EA47C"/>
                </a:solidFill>
                <a:latin typeface="Caveat"/>
                <a:ea typeface="Caveat"/>
              </a:rPr>
              <a:t>08 · Innovation</a:t>
            </a:r>
            <a:endParaRPr/>
          </a:p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609600" y="542925"/>
            <a:ext cx="1295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3C342C"/>
                </a:solidFill>
                <a:latin typeface="Noto Serif SC"/>
                <a:ea typeface="Noto Serif SC"/>
              </a:rPr>
              <a:t>三大创新</a:t>
            </a:r>
            <a:endParaRPr/>
          </a:p>
        </p:txBody>
      </p:sp>
      <p:sp>
        <p:nvSpPr>
          <p:cNvPr id="557" name=""/>
          <p:cNvSpPr/>
          <p:nvPr/>
        </p:nvSpPr>
        <p:spPr>
          <a:xfrm rot="0" flipH="0" flipV="0">
            <a:off x="609600" y="1028700"/>
            <a:ext cx="533400" cy="57150"/>
          </a:xfrm>
          <a:prstGeom prst="roundRect">
            <a:avLst>
              <a:gd name="adj" fmla="val 50000"/>
            </a:avLst>
          </a:prstGeom>
          <a:solidFill>
            <a:srgbClr val="8EA47C"/>
          </a:solidFill>
          <a:ln/>
        </p:spPr>
        <p:txBody>
          <a:bodyPr/>
          <a:p/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7200900" y="752475"/>
            <a:ext cx="4381500" cy="390525"/>
          </a:xfrm>
          <a:prstGeom prst="rect"/>
        </p:spPr>
        <p:txBody>
          <a:bodyPr wrap="none" lIns="0" tIns="0" rIns="0" bIns="71438"/>
          <a:p>
            <a:pPr algn="r">
              <a:lnSpc>
                <a:spcPct val="170000"/>
              </a:lnSpc>
            </a:pPr>
            <a:r>
              <a:rPr lang="zh-CN" sz="1125">
                <a:solidFill>
                  <a:srgbClr val="8F8376"/>
                </a:solidFill>
                <a:latin typeface="Noto Sans SC"/>
                <a:ea typeface="Noto Sans SC"/>
              </a:rPr>
              <a:t>创新不只在界面，更在产品逻辑、内容方法和关系边界。</a:t>
            </a:r>
            <a:endParaRPr/>
          </a:p>
        </p:txBody>
      </p:sp>
      <p:sp>
        <p:nvSpPr>
          <p:cNvPr id="559" name=""/>
          <p:cNvSpPr/>
          <p:nvPr/>
        </p:nvSpPr>
        <p:spPr>
          <a:xfrm rot="0" flipH="0" flipV="0">
            <a:off x="609600" y="1143000"/>
            <a:ext cx="10972800" cy="1504950"/>
          </a:xfrm>
          <a:prstGeom prst="roundRect">
            <a:avLst>
              <a:gd name="adj" fmla="val 12658"/>
            </a:avLst>
          </a:prstGeom>
          <a:solidFill>
            <a:srgbClr val="FFFDF8"/>
          </a:solidFill>
          <a:ln w="12700">
            <a:solidFill>
              <a:srgbClr val="E7DCCE"/>
            </a:solidFill>
            <a:prstDash val="solid"/>
          </a:ln>
          <a:effectLst>
            <a:outerShdw blurRad="152400" dist="38100" dir="5400000">
              <a:srgbClr val="3C342C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933450" y="1457325"/>
            <a:ext cx="123825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E8B4A2"/>
                </a:solidFill>
                <a:latin typeface="Noto Serif SC"/>
                <a:ea typeface="Noto Serif SC"/>
              </a:rPr>
              <a:t>01</a:t>
            </a:r>
            <a:endParaRPr/>
          </a:p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2457450" y="1581150"/>
            <a:ext cx="75438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3C342C"/>
                </a:solidFill>
                <a:latin typeface="Noto Serif SC"/>
                <a:ea typeface="Noto Serif SC"/>
              </a:rPr>
              <a:t>玩法创新</a:t>
            </a:r>
            <a:r>
              <a:rPr lang="en-US" sz="1725" b="1">
                <a:solidFill>
                  <a:srgbClr val="3C342C"/>
                </a:solidFill>
                <a:latin typeface="Noto Serif SC"/>
                <a:ea typeface="Noto Serif SC"/>
              </a:rPr>
              <a:t> · </a:t>
            </a:r>
            <a:r>
              <a:rPr lang="zh-CN" sz="1725" b="1">
                <a:solidFill>
                  <a:srgbClr val="3C342C"/>
                </a:solidFill>
                <a:latin typeface="Noto Serif SC"/>
                <a:ea typeface="Noto Serif SC"/>
              </a:rPr>
              <a:t>攻略盲盒化</a:t>
            </a:r>
            <a:endParaRPr/>
          </a:p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2457450" y="1924050"/>
            <a:ext cx="7543800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8F8376"/>
                </a:solidFill>
                <a:latin typeface="Noto Sans SC"/>
                <a:ea typeface="Noto Sans SC"/>
              </a:rPr>
              <a:t>把被动搜索变成一次开箱：随机、稀有度、动效和收集，凑齐一次出发的仪式感。</a:t>
            </a:r>
            <a:endParaRPr/>
          </a:p>
        </p:txBody>
      </p:sp>
      <p:sp>
        <p:nvSpPr>
          <p:cNvPr id="563" name=""/>
          <p:cNvSpPr/>
          <p:nvPr/>
        </p:nvSpPr>
        <p:spPr>
          <a:xfrm rot="0" flipH="0" flipV="0">
            <a:off x="10287000" y="1695450"/>
            <a:ext cx="971550" cy="400050"/>
          </a:xfrm>
          <a:prstGeom prst="roundRect">
            <a:avLst>
              <a:gd name="adj" fmla="val 2378571"/>
            </a:avLst>
          </a:prstGeom>
          <a:solidFill>
            <a:srgbClr val="E4EDD8"/>
          </a:solidFill>
          <a:ln w="12700">
            <a:solidFill>
              <a:srgbClr val="C9D6B8"/>
            </a:solidFill>
            <a:prstDash val="solid"/>
          </a:ln>
        </p:spPr>
        <p:txBody>
          <a:bodyPr/>
          <a:p/>
        </p:txBody>
      </p:sp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10515600" y="1790700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6C7E58"/>
                </a:solidFill>
                <a:latin typeface="Noto Serif SC"/>
                <a:ea typeface="Noto Serif SC"/>
              </a:rPr>
              <a:t>惊喜感</a:t>
            </a:r>
            <a:endParaRPr/>
          </a:p>
        </p:txBody>
      </p:sp>
      <p:sp>
        <p:nvSpPr>
          <p:cNvPr id="565" name=""/>
          <p:cNvSpPr/>
          <p:nvPr/>
        </p:nvSpPr>
        <p:spPr>
          <a:xfrm rot="0" flipH="0" flipV="0">
            <a:off x="609600" y="2867025"/>
            <a:ext cx="10972800" cy="1504950"/>
          </a:xfrm>
          <a:prstGeom prst="roundRect">
            <a:avLst>
              <a:gd name="adj" fmla="val 12658"/>
            </a:avLst>
          </a:prstGeom>
          <a:solidFill>
            <a:srgbClr val="FFFDF8"/>
          </a:solidFill>
          <a:ln w="12700">
            <a:solidFill>
              <a:srgbClr val="E7DCCE"/>
            </a:solidFill>
            <a:prstDash val="solid"/>
          </a:ln>
          <a:effectLst>
            <a:outerShdw blurRad="152400" dist="38100" dir="5400000">
              <a:srgbClr val="3C342C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933450" y="3181350"/>
            <a:ext cx="123825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C9D6B8"/>
                </a:solidFill>
                <a:latin typeface="Noto Serif SC"/>
                <a:ea typeface="Noto Serif SC"/>
              </a:rPr>
              <a:t>02</a:t>
            </a:r>
            <a:endParaRPr/>
          </a:p>
        </p:txBody>
      </p:sp>
      <p:sp>
        <p:nvSpPr>
          <p:cNvPr id="567" name="" descr="{&quot;isTemplate&quot;:true,&quot;type&quot;:&quot;text&quot;}"/>
          <p:cNvSpPr txBox="1"/>
          <p:nvPr/>
        </p:nvSpPr>
        <p:spPr>
          <a:xfrm rot="0" flipH="0" flipV="0">
            <a:off x="2457450" y="3305175"/>
            <a:ext cx="73723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3C342C"/>
                </a:solidFill>
                <a:latin typeface="Noto Serif SC"/>
                <a:ea typeface="Noto Serif SC"/>
              </a:rPr>
              <a:t>内容创新</a:t>
            </a:r>
            <a:r>
              <a:rPr lang="en-US" sz="1725" b="1">
                <a:solidFill>
                  <a:srgbClr val="3C342C"/>
                </a:solidFill>
                <a:latin typeface="Noto Serif SC"/>
                <a:ea typeface="Noto Serif SC"/>
              </a:rPr>
              <a:t> · </a:t>
            </a:r>
            <a:r>
              <a:rPr lang="zh-CN" sz="1725" b="1">
                <a:solidFill>
                  <a:srgbClr val="3C342C"/>
                </a:solidFill>
                <a:latin typeface="Noto Serif SC"/>
                <a:ea typeface="Noto Serif SC"/>
              </a:rPr>
              <a:t>结构化萃取</a:t>
            </a:r>
            <a:endParaRPr/>
          </a:p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2457450" y="3648075"/>
            <a:ext cx="7372350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8F8376"/>
                </a:solidFill>
                <a:latin typeface="Noto Sans SC"/>
                <a:ea typeface="Noto Sans SC"/>
              </a:rPr>
              <a:t>把景点、交通、预算、美食、避雷、穿搭拆成可组合的原创内容单元，越用越厚。</a:t>
            </a:r>
            <a:endParaRPr/>
          </a:p>
        </p:txBody>
      </p:sp>
      <p:sp>
        <p:nvSpPr>
          <p:cNvPr id="569" name=""/>
          <p:cNvSpPr/>
          <p:nvPr/>
        </p:nvSpPr>
        <p:spPr>
          <a:xfrm rot="0" flipH="0" flipV="0">
            <a:off x="10115550" y="3419475"/>
            <a:ext cx="1143000" cy="400050"/>
          </a:xfrm>
          <a:prstGeom prst="roundRect">
            <a:avLst>
              <a:gd name="adj" fmla="val 2378571"/>
            </a:avLst>
          </a:prstGeom>
          <a:solidFill>
            <a:srgbClr val="E4EDD8"/>
          </a:solidFill>
          <a:ln w="12700">
            <a:solidFill>
              <a:srgbClr val="C9D6B8"/>
            </a:solidFill>
            <a:prstDash val="solid"/>
          </a:ln>
        </p:spPr>
        <p:txBody>
          <a:bodyPr/>
          <a:p/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10344150" y="351472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6C7E58"/>
                </a:solidFill>
                <a:latin typeface="Noto Serif SC"/>
                <a:ea typeface="Noto Serif SC"/>
              </a:rPr>
              <a:t>内容壁垒</a:t>
            </a:r>
            <a:endParaRPr/>
          </a:p>
        </p:txBody>
      </p:sp>
      <p:sp>
        <p:nvSpPr>
          <p:cNvPr id="571" name=""/>
          <p:cNvSpPr/>
          <p:nvPr/>
        </p:nvSpPr>
        <p:spPr>
          <a:xfrm rot="0" flipH="0" flipV="0">
            <a:off x="609600" y="4591050"/>
            <a:ext cx="10972800" cy="1504950"/>
          </a:xfrm>
          <a:prstGeom prst="roundRect">
            <a:avLst>
              <a:gd name="adj" fmla="val 12658"/>
            </a:avLst>
          </a:prstGeom>
          <a:solidFill>
            <a:srgbClr val="FFFDF8"/>
          </a:solidFill>
          <a:ln w="12700">
            <a:solidFill>
              <a:srgbClr val="E7DCCE"/>
            </a:solidFill>
            <a:prstDash val="solid"/>
          </a:ln>
          <a:effectLst>
            <a:outerShdw blurRad="152400" dist="38100" dir="5400000">
              <a:srgbClr val="3C342C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933450" y="4905375"/>
            <a:ext cx="123825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C9D6B8"/>
                </a:solidFill>
                <a:latin typeface="Noto Serif SC"/>
                <a:ea typeface="Noto Serif SC"/>
              </a:rPr>
              <a:t>03</a:t>
            </a:r>
            <a:endParaRPr/>
          </a:p>
        </p:txBody>
      </p:sp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2457450" y="5029200"/>
            <a:ext cx="75438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3C342C"/>
                </a:solidFill>
                <a:latin typeface="Noto Serif SC"/>
                <a:ea typeface="Noto Serif SC"/>
              </a:rPr>
              <a:t>模式创新</a:t>
            </a:r>
            <a:r>
              <a:rPr lang="en-US" sz="1725" b="1">
                <a:solidFill>
                  <a:srgbClr val="3C342C"/>
                </a:solidFill>
                <a:latin typeface="Noto Serif SC"/>
                <a:ea typeface="Noto Serif SC"/>
              </a:rPr>
              <a:t> · </a:t>
            </a:r>
            <a:r>
              <a:rPr lang="zh-CN" sz="1725" b="1">
                <a:solidFill>
                  <a:srgbClr val="3C342C"/>
                </a:solidFill>
                <a:latin typeface="Noto Serif SC"/>
                <a:ea typeface="Noto Serif SC"/>
              </a:rPr>
              <a:t>合规轻社交</a:t>
            </a:r>
            <a:endParaRPr/>
          </a:p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2457450" y="5372100"/>
            <a:ext cx="7543800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8F8376"/>
                </a:solidFill>
                <a:latin typeface="Noto Sans SC"/>
                <a:ea typeface="Noto Sans SC"/>
              </a:rPr>
              <a:t>内容付费为核心、兴趣交流为增值；不做隐私交换，不做恶意撮合。</a:t>
            </a:r>
            <a:endParaRPr/>
          </a:p>
        </p:txBody>
      </p:sp>
      <p:sp>
        <p:nvSpPr>
          <p:cNvPr id="575" name=""/>
          <p:cNvSpPr/>
          <p:nvPr/>
        </p:nvSpPr>
        <p:spPr>
          <a:xfrm rot="0" flipH="0" flipV="0">
            <a:off x="10287000" y="5143500"/>
            <a:ext cx="971550" cy="400050"/>
          </a:xfrm>
          <a:prstGeom prst="roundRect">
            <a:avLst>
              <a:gd name="adj" fmla="val 2378571"/>
            </a:avLst>
          </a:prstGeom>
          <a:solidFill>
            <a:srgbClr val="E4EDD8"/>
          </a:solidFill>
          <a:ln w="12700">
            <a:solidFill>
              <a:srgbClr val="C9D6B8"/>
            </a:solidFill>
            <a:prstDash val="solid"/>
          </a:ln>
        </p:spPr>
        <p:txBody>
          <a:bodyPr/>
          <a:p/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10515600" y="5238750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6C7E58"/>
                </a:solidFill>
                <a:latin typeface="Noto Serif SC"/>
                <a:ea typeface="Noto Serif SC"/>
              </a:rPr>
              <a:t>信任感</a:t>
            </a:r>
            <a:endParaRPr/>
          </a:p>
        </p:txBody>
      </p:sp>
      <p:sp>
        <p:nvSpPr>
          <p:cNvPr id="577" name=""/>
          <p:cNvSpPr/>
          <p:nvPr/>
        </p:nvSpPr>
        <p:spPr>
          <a:xfrm rot="0" flipH="0" flipV="0">
            <a:off x="609600" y="6096000"/>
            <a:ext cx="10972800" cy="571500"/>
          </a:xfrm>
          <a:custGeom>
            <a:pathLst>
              <a:path w="1152" h="6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7DCCE"/>
          </a:solidFill>
          <a:ln/>
        </p:spPr>
        <p:txBody>
          <a:bodyPr/>
          <a:p/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609600" y="6315075"/>
            <a:ext cx="1095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途个惊喜</a:t>
            </a:r>
            <a:r>
              <a:rPr lang="en-US" sz="975">
                <a:solidFill>
                  <a:srgbClr val="8F8376"/>
                </a:solidFill>
                <a:latin typeface="Noto Sans SC"/>
                <a:ea typeface="Noto Sans SC"/>
              </a:rPr>
              <a:t> · </a:t>
            </a: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随盒出发</a:t>
            </a:r>
            <a:endParaRPr/>
          </a:p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11201400" y="6315075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F8376"/>
                </a:solidFill>
                <a:latin typeface="Noto Sans SC"/>
                <a:ea typeface="Noto Sans SC"/>
              </a:rPr>
              <a:t>09 / 15</a:t>
            </a:r>
            <a:endParaRPr/>
          </a:p>
        </p:txBody>
      </p:sp>
    </p:spTree>
  </p:cSld>
</p:sld>
</file>

<file path=ppt/slides/slide10.xml><?xml version="1.0" encoding="utf-8"?>
<p:sld xmlns:a16="http://schemas.microsoft.com/office/drawing/2014/main" xmlns:a="http://schemas.openxmlformats.org/drawingml/2006/main" xmlns:p="http://schemas.openxmlformats.org/presentationml/2006/main" xmlns:mc="http://schemas.openxmlformats.org/markup-compatibility/2006" mc:Ignorable="a16">
  <p:cSld>
    <p:spTree>
      <p:nvGrpSpPr>
        <p:cNvPr id="17" name="" descr="&lt;Slide style={{ width: 1280, height: 720, background: '#F6F1E6', padding: '20px 64px', position: 'relative', overflow: 'hidden' }}&gt;&#10;    &lt;Box style={{ position: 'absolute', top: -80, right: -60, width: 300, height: 190, borderRadius: '50%', background: '#E4EDD8', opacity: 0.45 }} /&gt;&#10;    &lt;Box style={{ position: 'absolute', bottom: -120, left: -80, width: 340, height: 210, borderRadius: '50%', background: '#EFE6D6', opacity: 0.5 }} /&gt;&#10;&#10;    {/* A 标题块 */}&#10;    &lt;Box style={{ height: 100, flexDirection: 'row', alignItems: 'flex-end', justifyContent: 'space-between', position: 'relative', zIndex: 1 }}&gt;&#10;        &lt;Box style={{ gap: 4, paddingBottom: 6 }}&gt;&#10;            &lt;Text style={{ fontFamily: 'Caveat, cursive', fontSize: 17, fontWeight: 700, color: '#8EA47C', letterSpacing: 1 }}&gt;09 · Competition&lt;/Text&gt;&#10;            &lt;Text style={{ fontFamily: 'Noto Serif SC, serif', fontSize: 34, fontWeight: 900, color: '#3C342C' }}&gt;竞品差异&lt;/Text&gt;&#10;            &lt;Box style={{ width: 56, height: 6, borderRadius: 3, background: '#8EA47C', marginTop: 6 }} /&gt;&#10;        &lt;/Box&gt;&#10;        &lt;Text style={{ fontFamily: 'Noto Sans SC, sans-serif', fontSize: 15, color: '#8F8376', width: 460, textAlign: 'right', lineHeight: 1.7, paddingBottom: 10 }}&gt;&#10;            避开传统攻略红海，切入盲盒、兴趣匹配与合规轻社交的交叉空白。&#10;        &lt;/Text&gt;&#10;    &lt;/Box&gt;&#10;&#10;    {/* B 内容区 */}&#10;    &lt;Box style={{ height: 520, gap: 18, position: 'relative', zIndex: 1 }}&gt;&#10;        &lt;Table&#10;            style={{ width: '100%', height: 396 }}&#10;            defaultTextStyle={{ fontSize: 15, textAlign: 'center', color: '#3C342C', fontFamily: 'Noto Sans SC, sans-serif' }}&#10;            defaultCellStyle={{&#10;                background: { color: '#FFFDF8' },&#10;                border: {&#10;                    left: { width: 1, color: '#E7DCCE' },&#10;                    right: { width: 1, color: '#E7DCCE' },&#10;                    top: { width: 1, color: '#E7DCCE' },&#10;                    bottom: { width: 1, color: '#E7DCCE' },&#10;                },&#10;            }}&#10;            cells={[&#10;                [&#10;                    { text: '对比维度', textStyle: { bold: true, color: '#FFFDF8', fontSize: 15 }, cellStyle: { background: { color: '#6C7E58' } } },&#10;                    { text: '传统攻略平台', textStyle: { bold: true, color: '#FFFDF8', fontSize: 15 }, cellStyle: { background: { color: '#6C7E58' } } },&#10;                    { text: '线下实体旅游盲盒', textStyle: { bold: true, color: '#FFFDF8', fontSize: 15 }, cellStyle: { background: { color: '#6C7E58' } } },&#10;                    { text: '旅行社交平台', textStyle: { bold: true, color: '#FFFDF8', fontSize: 15 }, cellStyle: { background: { color: '#6C7E58' } } },&#10;                    { text: '途个惊喜', textStyle: { bold: true, color: '#FFFDF8', fontSize: 16 }, cellStyle: { background: { color: '#8EA47C' } } },&#10;                ],&#10;                [&#10;                    { text: '产品属性', textStyle: { bold: true, color: '#6C7E58' }, cellStyle: { background: { color: '#F6F1E6' } } },&#10;                    '信息资讯工具',&#10;                    '线下套餐，重资产',&#10;                    '社交撮合',&#10;                    { text: '轻量化内容产品', textStyle: { bold: true, color: '#6C7E58' }, cellStyle: { background: { color: '#E4EDD8' } } },&#10;                ],&#10;                [&#10;                    { text: '玩法创意', textStyle: { bold: true, color: '#6C7E58' }, cellStyle: { background: { color: '#F6F1E6' } } },&#10;                    '被动搜索',&#10;                    '有惊喜但玩法固化',&#10;                    '无开箱体验',&#10;                    { text: '开盒 + 随机 + 收集', textStyle: { bold: true, color: '#6C7E58' }, cellStyle: { background: { color: '#E4EDD8' } } },&#10;                ],&#10;                [&#10;                    { text: '内容精准度', textStyle: { bold: true, color: '#6C7E58' }, cellStyle: { background: { color: '#F6F1E6' } } },&#10;                    '通用内容',&#10;                    '固定套餐',&#10;                    '兴趣标签弱',&#10;                    { text: '四大兴趣垂直匹配', textStyle: { bold: true, color: '#6C7E58' }, cellStyle: { background: { color: '#E4EDD8' } } },&#10;                ],&#10;                [&#10;                    { text: '安全边界', textStyle: { bold: true, color: '#6C7E58' }, cellStyle: { background: { color: '#F6F1E6' } } },&#10;                    '无体系化结伴',&#10;                    '无社交属性',&#10;                    '隐私与撮合风险',&#10;                    { text: '兴趣交流、隐私脱敏', textStyle: { bold: true, color: '#6C7E58' }, cellStyle: { background: { color: '#E4EDD8' } } },&#10;                ],&#10;                [&#10;                    { text: '可复制性', textStyle: { bold: true, color: '#6C7E58' }, cellStyle: { background: { color: '#F6F1E6' } } },&#10;                    '市场饱和',&#10;                    '成本与地域约束',&#10;                    '内容治理复杂',&#10;                    { text: '线上交付、全国扩展', textStyle: { bold: true, color: '#6C7E58' }, cellStyle: { background: { color: '#E4EDD8' } } },&#10;                ],&#10;            ]}&#10;        /&gt;&#10;&#10;        {/* 结论条 */}&#10;        &lt;Box style={{&#10;            flex: 1,&#10;            borderRadius: 16,&#10;            background: 'linear-gradient(135deg, #8EA47C 0%, #6C7E58 100%)',&#10;            flexDirection: 'row',&#10;            alignItems: 'center',&#10;            padding: '0 26px',&#10;            gap: 18,&#10;            boxShadow: '0 10px 24px rgba(108,126,88,0.26)',&#10;        }}&gt;&#10;            &lt;Text style={{ fontFamily: 'Noto Serif SC, serif', fontSize: 17, fontWeight: 700, color: '#FFFDF8' }}&gt;差异化结论&lt;/Text&gt;&#10;            &lt;Box style={{ width: 1, height: 26, background: 'rgba(255,253,248,0.4)' }} /&gt;&#10;            &lt;Text style={{ fontFamily: 'Noto Sans SC, sans-serif', fontSize: 15, color: '#FFFDF8', lineHeight: 1.6, flex: 1 }}&gt;&#10;                我们拼的不是信息量——是更低的决策成本、更高的情绪价值，和更清晰的安全边界。&#10;            &lt;/Text&gt;&#10;            &lt;Text style={{ fontFamily: 'Noto Sans SC, sans-serif', fontSize: 11, color: 'rgba(255,253,248,0.7)', width: 200, textAlign: 'right', lineHeight: 1.5 }}&gt;&#10;                依据「产品详情 + 产品亮点 + 竞品分析」材料整理&#10;            &lt;/Text&gt;&#10;        &lt;/Box&gt;&#10;    &lt;/Box&gt;&#10;&#10;    {/* C 页脚 */}&#10;    &lt;Box style={{ height: 60, flexDirection: 'row', alignItems: 'center', justifyContent: 'space-between', borderTop: '1px solid #E7DCCE', position: 'relative', zIndex: 1 }}&gt;&#10;        &lt;Text style={{ fontFamily: 'Noto Sans SC, sans-serif', fontSize: 13, color: '#8F8376' }}&gt;途个惊喜 · 随盒出发&lt;/Text&gt;&#10;        &lt;Text style={{ fontFamily: 'Noto Sans SC, sans-serif', fontSize: 13, color: '#8F8376' }}&gt;10 / 1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6F1E6"/>
          </a:solidFill>
          <a:ln/>
        </p:spPr>
        <p:txBody>
          <a:bodyPr/>
          <a:p/>
        </p:txBody>
      </p:sp>
      <p:sp>
        <p:nvSpPr>
          <p:cNvPr id="19" name=""/>
          <p:cNvSpPr/>
          <p:nvPr/>
        </p:nvSpPr>
        <p:spPr>
          <a:xfrm rot="0" flipH="0" flipV="0">
            <a:off x="9906000" y="-762000"/>
            <a:ext cx="2857500" cy="1809750"/>
          </a:xfrm>
          <a:custGeom>
            <a:pathLst>
              <a:path w="300" h="190">
                <a:moveTo>
                  <a:pt x="240" y="171"/>
                </a:moveTo>
                <a:cubicBezTo>
                  <a:pt x="161" y="211"/>
                  <a:pt x="66" y="192"/>
                  <a:pt x="8" y="125"/>
                </a:cubicBezTo>
                <a:cubicBezTo>
                  <a:pt x="0" y="112"/>
                  <a:pt x="-2" y="95"/>
                  <a:pt x="2" y="80"/>
                </a:cubicBezTo>
                <a:lnTo>
                  <a:pt x="240" y="80"/>
                </a:lnTo>
                <a:close/>
              </a:path>
            </a:pathLst>
          </a:custGeom>
          <a:solidFill>
            <a:srgbClr val="E4EDD8">
              <a:alpha val="45000"/>
            </a:srgbClr>
          </a:solidFill>
          <a:ln/>
        </p:spPr>
        <p:txBody>
          <a:bodyPr/>
          <a:p/>
        </p:txBody>
      </p:sp>
      <p:sp>
        <p:nvSpPr>
          <p:cNvPr id="20" name=""/>
          <p:cNvSpPr/>
          <p:nvPr/>
        </p:nvSpPr>
        <p:spPr>
          <a:xfrm rot="0" flipH="0" flipV="0">
            <a:off x="-762000" y="6000750"/>
            <a:ext cx="3238500" cy="2000250"/>
          </a:xfrm>
          <a:custGeom>
            <a:pathLst>
              <a:path w="340" h="210">
                <a:moveTo>
                  <a:pt x="174" y="0"/>
                </a:moveTo>
                <a:cubicBezTo>
                  <a:pt x="241" y="-7"/>
                  <a:pt x="306" y="27"/>
                  <a:pt x="337" y="86"/>
                </a:cubicBezTo>
                <a:lnTo>
                  <a:pt x="338" y="89"/>
                </a:lnTo>
                <a:lnTo>
                  <a:pt x="338" y="90"/>
                </a:lnTo>
                <a:lnTo>
                  <a:pt x="80" y="90"/>
                </a:lnTo>
                <a:lnTo>
                  <a:pt x="80" y="16"/>
                </a:lnTo>
                <a:cubicBezTo>
                  <a:pt x="109" y="5"/>
                  <a:pt x="139" y="0"/>
                  <a:pt x="170" y="0"/>
                </a:cubicBezTo>
                <a:close/>
              </a:path>
            </a:pathLst>
          </a:custGeom>
          <a:solidFill>
            <a:srgbClr val="EFE6D6">
              <a:alpha val="50000"/>
            </a:srgbClr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09600" y="304800"/>
            <a:ext cx="14192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 spc="75">
                <a:solidFill>
                  <a:srgbClr val="8EA47C"/>
                </a:solidFill>
                <a:latin typeface="Caveat"/>
                <a:ea typeface="Caveat"/>
              </a:rPr>
              <a:t>09 · Competition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609600" y="542925"/>
            <a:ext cx="14192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3C342C"/>
                </a:solidFill>
                <a:latin typeface="Noto Serif SC"/>
                <a:ea typeface="Noto Serif SC"/>
              </a:rPr>
              <a:t>竞品差异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609600" y="1028700"/>
            <a:ext cx="533400" cy="57150"/>
          </a:xfrm>
          <a:prstGeom prst="roundRect">
            <a:avLst>
              <a:gd name="adj" fmla="val 50000"/>
            </a:avLst>
          </a:prstGeom>
          <a:solidFill>
            <a:srgbClr val="8EA47C"/>
          </a:solidFill>
          <a:ln/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7200900" y="752475"/>
            <a:ext cx="4381500" cy="390525"/>
          </a:xfrm>
          <a:prstGeom prst="rect"/>
        </p:spPr>
        <p:txBody>
          <a:bodyPr wrap="none" lIns="0" tIns="0" rIns="0" bIns="71438"/>
          <a:p>
            <a:pPr algn="r">
              <a:lnSpc>
                <a:spcPct val="170000"/>
              </a:lnSpc>
            </a:pPr>
            <a:r>
              <a:rPr lang="zh-CN" sz="1125">
                <a:solidFill>
                  <a:srgbClr val="8F8376"/>
                </a:solidFill>
                <a:latin typeface="Noto Sans SC"/>
                <a:ea typeface="Noto Sans SC"/>
              </a:rPr>
              <a:t>避开传统攻略红海，切入盲盒、兴趣匹配与合规轻社交的交叉空白。</a:t>
            </a:r>
            <a:endParaRPr/>
          </a:p>
        </p:txBody>
      </p:sp>
      <p:graphicFrame>
        <p:nvGraphicFramePr>
          <p:cNvPr id="25" name=""/>
          <p:cNvGraphicFramePr/>
          <p:nvPr/>
        </p:nvGraphicFramePr>
        <p:xfrm rot="0" flipH="0" flipV="0">
          <a:off x="609600" y="1143000"/>
          <a:ext cx="10972800" cy="3771900"/>
        </p:xfrm>
        <a:graphic>
          <a:graphicData uri="http://schemas.openxmlformats.org/drawingml/2006/table">
            <a:tbl>
              <a:tblGrid>
                <a:gridCol w="1620068">
                  <a:extLst>
                    <a:ext uri="{9D8B030D-6E8A-4147-A177-3AD203B41FA5}">
                      <a16:colId val="1"/>
                    </a:ext>
                  </a:extLst>
                </a:gridCol>
                <a:gridCol w="1907314">
                  <a:extLst>
                    <a:ext uri="{9D8B030D-6E8A-4147-A177-3AD203B41FA5}">
                      <a16:colId val="2"/>
                    </a:ext>
                  </a:extLst>
                </a:gridCol>
                <a:gridCol w="2481806">
                  <a:extLst>
                    <a:ext uri="{9D8B030D-6E8A-4147-A177-3AD203B41FA5}">
                      <a16:colId val="3"/>
                    </a:ext>
                  </a:extLst>
                </a:gridCol>
                <a:gridCol w="2194560">
                  <a:extLst>
                    <a:ext uri="{9D8B030D-6E8A-4147-A177-3AD203B41FA5}">
                      <a16:colId val="4"/>
                    </a:ext>
                  </a:extLst>
                </a:gridCol>
                <a:gridCol w="2769052">
                  <a:extLst>
                    <a:ext uri="{9D8B030D-6E8A-4147-A177-3AD203B41FA5}">
                      <a16:colId val="5"/>
                    </a:ext>
                  </a:extLst>
                </a:gridCol>
              </a:tblGrid>
              <a:tr h="66146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DF8"/>
                          </a:solidFill>
                          <a:latin typeface="Noto Sans SC"/>
                          <a:ea typeface="Noto Sans SC"/>
                        </a:rPr>
                        <a:t>对比维度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C7E5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DF8"/>
                          </a:solidFill>
                          <a:latin typeface="Noto Sans SC"/>
                          <a:ea typeface="Noto Sans SC"/>
                        </a:rPr>
                        <a:t>传统攻略平台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C7E5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DF8"/>
                          </a:solidFill>
                          <a:latin typeface="Noto Sans SC"/>
                          <a:ea typeface="Noto Sans SC"/>
                        </a:rPr>
                        <a:t>线下实体旅游盲盒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C7E5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DF8"/>
                          </a:solidFill>
                          <a:latin typeface="Noto Sans SC"/>
                          <a:ea typeface="Noto Sans SC"/>
                        </a:rPr>
                        <a:t>旅行社交平台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C7E5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DF8"/>
                          </a:solidFill>
                          <a:latin typeface="Noto Sans SC"/>
                          <a:ea typeface="Noto Sans SC"/>
                        </a:rPr>
                        <a:t>途个惊喜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EA47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62208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6C7E58"/>
                          </a:solidFill>
                          <a:latin typeface="Noto Sans SC"/>
                          <a:ea typeface="Noto Sans SC"/>
                        </a:rPr>
                        <a:t>产品属性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1E6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3C342C"/>
                          </a:solidFill>
                          <a:latin typeface="Noto Sans SC"/>
                          <a:ea typeface="Noto Sans SC"/>
                        </a:rPr>
                        <a:t>信息资讯工具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3C342C"/>
                          </a:solidFill>
                          <a:latin typeface="Noto Sans SC"/>
                          <a:ea typeface="Noto Sans SC"/>
                        </a:rPr>
                        <a:t>线下套餐，重资产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3C342C"/>
                          </a:solidFill>
                          <a:latin typeface="Noto Sans SC"/>
                          <a:ea typeface="Noto Sans SC"/>
                        </a:rPr>
                        <a:t>社交撮合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6C7E58"/>
                          </a:solidFill>
                          <a:latin typeface="Noto Sans SC"/>
                          <a:ea typeface="Noto Sans SC"/>
                        </a:rPr>
                        <a:t>轻量化内容产品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EDD8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62208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6C7E58"/>
                          </a:solidFill>
                          <a:latin typeface="Noto Sans SC"/>
                          <a:ea typeface="Noto Sans SC"/>
                        </a:rPr>
                        <a:t>玩法创意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1E6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3C342C"/>
                          </a:solidFill>
                          <a:latin typeface="Noto Sans SC"/>
                          <a:ea typeface="Noto Sans SC"/>
                        </a:rPr>
                        <a:t>被动搜索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3C342C"/>
                          </a:solidFill>
                          <a:latin typeface="Noto Sans SC"/>
                          <a:ea typeface="Noto Sans SC"/>
                        </a:rPr>
                        <a:t>有惊喜但玩法固化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3C342C"/>
                          </a:solidFill>
                          <a:latin typeface="Noto Sans SC"/>
                          <a:ea typeface="Noto Sans SC"/>
                        </a:rPr>
                        <a:t>无开箱体验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6C7E58"/>
                          </a:solidFill>
                          <a:latin typeface="Noto Sans SC"/>
                          <a:ea typeface="Noto Sans SC"/>
                        </a:rPr>
                        <a:t>开盒 + 随机 + 收集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EDD8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62208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6C7E58"/>
                          </a:solidFill>
                          <a:latin typeface="Noto Sans SC"/>
                          <a:ea typeface="Noto Sans SC"/>
                        </a:rPr>
                        <a:t>内容精准度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1E6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3C342C"/>
                          </a:solidFill>
                          <a:latin typeface="Noto Sans SC"/>
                          <a:ea typeface="Noto Sans SC"/>
                        </a:rPr>
                        <a:t>通用内容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3C342C"/>
                          </a:solidFill>
                          <a:latin typeface="Noto Sans SC"/>
                          <a:ea typeface="Noto Sans SC"/>
                        </a:rPr>
                        <a:t>固定套餐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3C342C"/>
                          </a:solidFill>
                          <a:latin typeface="Noto Sans SC"/>
                          <a:ea typeface="Noto Sans SC"/>
                        </a:rPr>
                        <a:t>兴趣标签弱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6C7E58"/>
                          </a:solidFill>
                          <a:latin typeface="Noto Sans SC"/>
                          <a:ea typeface="Noto Sans SC"/>
                        </a:rPr>
                        <a:t>四大兴趣垂直匹配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EDD8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62208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6C7E58"/>
                          </a:solidFill>
                          <a:latin typeface="Noto Sans SC"/>
                          <a:ea typeface="Noto Sans SC"/>
                        </a:rPr>
                        <a:t>安全边界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1E6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3C342C"/>
                          </a:solidFill>
                          <a:latin typeface="Noto Sans SC"/>
                          <a:ea typeface="Noto Sans SC"/>
                        </a:rPr>
                        <a:t>无体系化结伴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3C342C"/>
                          </a:solidFill>
                          <a:latin typeface="Noto Sans SC"/>
                          <a:ea typeface="Noto Sans SC"/>
                        </a:rPr>
                        <a:t>无社交属性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3C342C"/>
                          </a:solidFill>
                          <a:latin typeface="Noto Sans SC"/>
                          <a:ea typeface="Noto Sans SC"/>
                        </a:rPr>
                        <a:t>隐私与撮合风险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6C7E58"/>
                          </a:solidFill>
                          <a:latin typeface="Noto Sans SC"/>
                          <a:ea typeface="Noto Sans SC"/>
                        </a:rPr>
                        <a:t>兴趣交流、隐私脱敏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EDD8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62208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6C7E58"/>
                          </a:solidFill>
                          <a:latin typeface="Noto Sans SC"/>
                          <a:ea typeface="Noto Sans SC"/>
                        </a:rPr>
                        <a:t>可复制性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6F1E6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3C342C"/>
                          </a:solidFill>
                          <a:latin typeface="Noto Sans SC"/>
                          <a:ea typeface="Noto Sans SC"/>
                        </a:rPr>
                        <a:t>市场饱和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3C342C"/>
                          </a:solidFill>
                          <a:latin typeface="Noto Sans SC"/>
                          <a:ea typeface="Noto Sans SC"/>
                        </a:rPr>
                        <a:t>成本与地域约束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3C342C"/>
                          </a:solidFill>
                          <a:latin typeface="Noto Sans SC"/>
                          <a:ea typeface="Noto Sans SC"/>
                        </a:rPr>
                        <a:t>内容治理复杂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6C7E58"/>
                          </a:solidFill>
                          <a:latin typeface="Noto Sans SC"/>
                          <a:ea typeface="Noto Sans SC"/>
                        </a:rPr>
                        <a:t>线上交付、全国扩展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4EDD8"/>
                    </a:solidFill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sp>
        <p:nvSpPr>
          <p:cNvPr id="26" name=""/>
          <p:cNvSpPr/>
          <p:nvPr/>
        </p:nvSpPr>
        <p:spPr>
          <a:xfrm rot="0" flipH="0" flipV="0">
            <a:off x="609600" y="5086350"/>
            <a:ext cx="10972800" cy="1009650"/>
          </a:xfrm>
          <a:prstGeom prst="roundRect">
            <a:avLst>
              <a:gd name="adj" fmla="val 15094"/>
            </a:avLst>
          </a:prstGeom>
          <a:gradFill>
            <a:gsLst>
              <a:gs pos="0">
                <a:srgbClr val="8EA47C"/>
              </a:gs>
              <a:gs pos="100000">
                <a:srgbClr val="6C7E58"/>
              </a:gs>
            </a:gsLst>
            <a:lin ang="2700000" scaled="1"/>
          </a:gradFill>
          <a:ln/>
          <a:effectLst>
            <a:outerShdw blurRad="228600" dist="95250" dir="5400000">
              <a:srgbClr val="6C7E58">
                <a:alpha val="26000"/>
              </a:srgbClr>
            </a:outerShdw>
          </a:effectLst>
        </p:spPr>
        <p:txBody>
          <a:bodyPr/>
          <a:p/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857250" y="5495925"/>
            <a:ext cx="809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DF8"/>
                </a:solidFill>
                <a:latin typeface="Noto Serif SC"/>
                <a:ea typeface="Noto Serif SC"/>
              </a:rPr>
              <a:t>差异化结论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1838325" y="5467350"/>
            <a:ext cx="9525" cy="247650"/>
          </a:xfrm>
          <a:prstGeom prst="rect">
            <a:avLst/>
          </a:prstGeom>
          <a:solidFill>
            <a:srgbClr val="FFFDF8">
              <a:alpha val="40000"/>
            </a:srgbClr>
          </a:solidFill>
          <a:ln/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2019300" y="5457825"/>
            <a:ext cx="72390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FFFDF8"/>
                </a:solidFill>
                <a:latin typeface="Noto Sans SC"/>
                <a:ea typeface="Noto Sans SC"/>
              </a:rPr>
              <a:t>我们拼的不是信息量——是更低的决策成本、更高的情绪价值，和更清晰的安全边界。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9429750" y="5400675"/>
            <a:ext cx="1905000" cy="381000"/>
          </a:xfrm>
          <a:prstGeom prst="rect"/>
        </p:spPr>
        <p:txBody>
          <a:bodyPr wrap="square" lIns="0" tIns="0" rIns="0" bIns="0">
            <a:normAutofit/>
          </a:bodyPr>
          <a:p>
            <a:pPr algn="r">
              <a:lnSpc>
                <a:spcPct val="150000"/>
              </a:lnSpc>
            </a:pPr>
            <a:r>
              <a:rPr lang="zh-CN" sz="825">
                <a:solidFill>
                  <a:srgbClr val="FFFDF8">
                    <a:alpha val="70000"/>
                  </a:srgbClr>
                </a:solidFill>
                <a:latin typeface="Noto Sans SC"/>
                <a:ea typeface="Noto Sans SC"/>
              </a:rPr>
              <a:t>依据「产品详情</a:t>
            </a:r>
            <a:r>
              <a:rPr lang="en-US" sz="825">
                <a:solidFill>
                  <a:srgbClr val="FFFDF8">
                    <a:alpha val="70000"/>
                  </a:srgbClr>
                </a:solidFill>
                <a:latin typeface="Noto Sans SC"/>
                <a:ea typeface="Noto Sans SC"/>
              </a:rPr>
              <a:t> + </a:t>
            </a:r>
            <a:r>
              <a:rPr lang="zh-CN" sz="825">
                <a:solidFill>
                  <a:srgbClr val="FFFDF8">
                    <a:alpha val="70000"/>
                  </a:srgbClr>
                </a:solidFill>
                <a:latin typeface="Noto Sans SC"/>
                <a:ea typeface="Noto Sans SC"/>
              </a:rPr>
              <a:t>产品亮点</a:t>
            </a:r>
            <a:r>
              <a:rPr lang="en-US" sz="825">
                <a:solidFill>
                  <a:srgbClr val="FFFDF8">
                    <a:alpha val="70000"/>
                  </a:srgbClr>
                </a:solidFill>
                <a:latin typeface="Noto Sans SC"/>
                <a:ea typeface="Noto Sans SC"/>
              </a:rPr>
              <a:t> + </a:t>
            </a:r>
            <a:r>
              <a:rPr lang="zh-CN" sz="825">
                <a:solidFill>
                  <a:srgbClr val="FFFDF8">
                    <a:alpha val="70000"/>
                  </a:srgbClr>
                </a:solidFill>
                <a:latin typeface="Noto Sans SC"/>
                <a:ea typeface="Noto Sans SC"/>
              </a:rPr>
              <a:t>竞品分析」材料整理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609600" y="6096000"/>
            <a:ext cx="10972800" cy="571500"/>
          </a:xfrm>
          <a:custGeom>
            <a:pathLst>
              <a:path w="1152" h="6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7DCCE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09600" y="6315075"/>
            <a:ext cx="1095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途个惊喜</a:t>
            </a:r>
            <a:r>
              <a:rPr lang="en-US" sz="975">
                <a:solidFill>
                  <a:srgbClr val="8F8376"/>
                </a:solidFill>
                <a:latin typeface="Noto Sans SC"/>
                <a:ea typeface="Noto Sans SC"/>
              </a:rPr>
              <a:t> · </a:t>
            </a: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随盒出发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11201400" y="6315075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F8376"/>
                </a:solidFill>
                <a:latin typeface="Noto Sans SC"/>
                <a:ea typeface="Noto Sans SC"/>
              </a:rPr>
              <a:t>10 / 15</a:t>
            </a:r>
            <a:endParaRPr/>
          </a:p>
        </p:txBody>
      </p:sp>
    </p:spTree>
  </p:cSld>
</p:sld>
</file>

<file path=ppt/slides/slide11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34" name="" descr="&lt;Slide style={{ width: 1280, height: 720, background: '#F6F1E6', padding: '20px 64px', position: 'relative', overflow: 'hidden' }}&gt;&#10;    &lt;Box style={{ position: 'absolute', top: -80, right: -60, width: 300, height: 190, borderRadius: '50%', background: '#E4EDD8', opacity: 0.45 }} /&gt;&#10;    &lt;Box style={{ position: 'absolute', bottom: -120, left: -80, width: 340, height: 210, borderRadius: '50%', background: '#EFE6D6', opacity: 0.5 }} /&gt;&#10;&#10;    {/* A 标题块 */}&#10;    &lt;Box style={{ height: 100, flexDirection: 'row', alignItems: 'flex-end', justifyContent: 'space-between', position: 'relative', zIndex: 1 }}&gt;&#10;        &lt;Box style={{ gap: 4, paddingBottom: 6 }}&gt;&#10;            &lt;Text style={{ fontFamily: 'Caveat, cursive', fontSize: 17, fontWeight: 700, color: '#8EA47C', letterSpacing: 1 }}&gt;10 · Business Model&lt;/Text&gt;&#10;            &lt;Text style={{ fontFamily: 'Noto Serif SC, serif', fontSize: 34, fontWeight: 900, color: '#3C342C' }}&gt;商业模式&lt;/Text&gt;&#10;            &lt;Box style={{ width: 56, height: 6, borderRadius: 3, background: '#8EA47C', marginTop: 6 }} /&gt;&#10;        &lt;/Box&gt;&#10;        &lt;Text style={{ fontFamily: 'Noto Sans SC, sans-serif', fontSize: 15, color: '#8F8376', width: 460, textAlign: 'right', lineHeight: 1.7, paddingBottom: 10 }}&gt;&#10;            先把一次出行做得值得，再让用户愿意回来。&#10;        &lt;/Text&gt;&#10;    &lt;/Box&gt;&#10;&#10;    {/* B 内容区 */}&#10;    &lt;Box style={{ height: 520, flexDirection: 'row', gap: 28, position: 'relative', zIndex: 1 }}&gt;&#10;        {/* 左：四类资产 + 转化链 */}&#10;        &lt;Box style={{ width: '60%', gap: 16 }}&gt;&#10;            &lt;Box style={{ flexDirection: 'row', flexWrap: 'wrap', gap: 16 }}&gt;&#10;                {[&#10;                    { icon: 'gift', t: '收入引擎 · 盲盒销售', d: '单次开盒是收入起点，保底机制降低决策门槛。' },&#10;                    { icon: 'map', t: '内容资产 · 线路池', d: '线路、主题、城市持续积累，卖得越多池子越厚。' },&#10;                    { icon: 'user', t: '用户资产 · 兴趣画像', d: '偏好、徽章、日记，把行为沉淀成画像。' },&#10;                    { icon: 'chart-line', t: '运营资产 · 复购转化', d: '筛选、复购、转化，数据反过来指导选品。' },&#10;                ].map((item, idx) =&gt; (&#10;                    &lt;Box key={idx} style={{&#10;                        width: '47.5%',&#10;                        height: 158,&#10;                        background: '#FFFDF8',&#10;                        borderRadius: 16,&#10;                        border: '1px solid #E7DCCE',&#10;                        boxShadow: '0 4px 16px rgba(60,52,44,0.06)',&#10;                        padding: 18,&#10;                        gap: 8,&#10;                    }}&gt;&#10;                        &lt;Box style={{ flexDirection: 'row', alignItems: 'center', gap: 10 }}&gt;&#10;                            &lt;Box style={{ width: 36, height: 36, borderRadius: 10, background: '#E4EDD8', alignItems: 'center', justifyContent: 'center' }}&gt;&#10;                                &lt;FAIcon name={item.icon} style={{ fill: '#6C7E58', width: 18, height: 18 }} /&gt;&#10;                            &lt;/Box&gt;&#10;                            &lt;Text style={{ fontFamily: 'Noto Serif SC, serif', fontSize: 16, fontWeight: 700, color: '#3C342C' }}&gt;{item.t}&lt;/Text&gt;&#10;                        &lt;/Box&gt;&#10;                        &lt;Text style={{ fontFamily: 'Noto Sans SC, sans-serif', fontSize: 13, color: '#8F8376', lineHeight: 1.65 }}&gt;{item.d}&lt;/Text&gt;&#10;                    &lt;/Box&gt;&#10;                ))}&#10;            &lt;/Box&gt;&#10;&#10;            {/* 转化链 */}&#10;            &lt;Box style={{&#10;                flex: 1,&#10;                background: '#E4EDD8',&#10;                borderRadius: 16,&#10;                flexDirection: 'row',&#10;                alignItems: 'center',&#10;                justifyContent: 'center',&#10;                gap: 14,&#10;                padding: '0 20px',&#10;            }}&gt;&#10;                &lt;Text style={{ fontFamily: 'Noto Sans SC, sans-serif', fontSize: 14, fontWeight: 700, color: '#6C7E58' }}&gt;增长路径&lt;/Text&gt;&#10;                {['单次开盒', '复购开盒', '内容转化'].map((step, idx) =&gt; (&#10;                    &lt;Box key={idx} style={{ flexDirection: 'row', alignItems: 'center', gap: 14 }}&gt;&#10;                        &lt;Box style={{&#10;                            background: idx === 2 ? 'linear-gradient(135deg, #8EA47C 0%, #6C7E58 100%)' : '#FFFDF8',&#10;                            borderRadius: 999,&#10;                            padding: '10px 22px',&#10;                            border: idx === 2 ? 'none' : '1px solid #C9D6B8',&#10;                        }}&gt;&#10;                            &lt;Text style={{ fontFamily: 'Noto Serif SC, serif', fontSize: 16, fontWeight: 700, color: idx === 2 ? '#FFFDF8' : '#3C342C' }}&gt;{step}&lt;/Text&gt;&#10;                        &lt;/Box&gt;&#10;                        {idx &lt; 2 &amp;&amp; &lt;FAIcon name=&quot;arrow-right&quot; style={{ fill: '#6C7E58', width: 18, height: 18 }} /&gt;}&#10;                    &lt;/Box&gt;&#10;                ))}&#10;            &lt;/Box&gt;&#10;        &lt;/Box&gt;&#10;&#10;        {/* 右：商业逻辑 */}&#10;        &lt;Box style={{&#10;            flex: 1,&#10;            borderRadius: 20,&#10;            background: 'linear-gradient(160deg, #8EA47C 0%, #6C7E58 100%)',&#10;            padding: 30,&#10;            boxShadow: '0 12px 28px rgba(108,126,88,0.28)',&#10;        }}&gt;&#10;            &lt;Text style={{ fontFamily: 'Caveat, cursive', fontSize: 20, fontWeight: 700, color: 'rgba(255,253,248,0.85)', marginBottom: 16 }}&gt;Business Logic&lt;/Text&gt;&#10;            &lt;Text style={{ fontFamily: 'Noto Serif SC, serif', fontSize: 22, fontWeight: 700, color: '#FFFDF8', lineHeight: 1.75 }}&gt;&#10;                用户买到的是一次结构化的出行决策；平台沉淀的是内容资产与兴趣画像。&#10;            &lt;/Text&gt;&#10;            &lt;Text style={{ fontFamily: 'Noto Sans SC, sans-serif', fontSize: 14, color: 'rgba(255,253,248,0.88)', lineHeight: 1.8, marginTop: 14 }}&gt;&#10;                轻资产模式，让复制速度快于线下扩张——跑通一个城市，就能带着整套内容方法去下一个。&#10;            &lt;/Text&gt;&#10;            &lt;Box style={{ marginTop: 'auto' }}&gt;&#10;                &lt;Box style={{ height: 1, background: 'rgba(255,253,248,0.35)', marginBottom: 16 }} /&gt;&#10;                &lt;Text style={{ fontFamily: 'Noto Sans SC, sans-serif', fontSize: 13, fontWeight: 700, color: 'rgba(255,253,248,0.9)', marginBottom: 12 }}&gt;成本结构&lt;/Text&gt;&#10;                &lt;Box style={{ flexDirection: 'row', flexWrap: 'wrap', gap: 10 }}&gt;&#10;                    {['内容研发', '技术与模型', '渠道获客', '线路结算与售后'].map((tag, idx) =&gt; (&#10;                        &lt;Box key={idx} style={{ background: 'rgba(255,253,248,0.16)', borderRadius: 999, padding: '6px 14px' }}&gt;&#10;                            &lt;Text style={{ fontFamily: 'Noto Sans SC, sans-serif', fontSize: 13, color: '#FFFDF8' }}&gt;{tag}&lt;/Text&gt;&#10;                        &lt;/Box&gt;&#10;                    ))}&#10;                &lt;/Box&gt;&#10;            &lt;/Box&gt;&#10;        &lt;/Box&gt;&#10;    &lt;/Box&gt;&#10;&#10;    {/* C 页脚 */}&#10;    &lt;Box style={{ height: 60, flexDirection: 'row', alignItems: 'center', justifyContent: 'space-between', borderTop: '1px solid #E7DCCE', position: 'relative', zIndex: 1 }}&gt;&#10;        &lt;Text style={{ fontFamily: 'Noto Sans SC, sans-serif', fontSize: 13, color: '#8F8376' }}&gt;途个惊喜 · 随盒出发&lt;/Text&gt;&#10;        &lt;Text style={{ fontFamily: 'Noto Sans SC, sans-serif', fontSize: 13, color: '#8F8376' }}&gt;11 / 1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6F1E6"/>
          </a:solidFill>
          <a:ln/>
        </p:spPr>
        <p:txBody>
          <a:bodyPr/>
          <a:p/>
        </p:txBody>
      </p:sp>
      <p:sp>
        <p:nvSpPr>
          <p:cNvPr id="36" name=""/>
          <p:cNvSpPr/>
          <p:nvPr/>
        </p:nvSpPr>
        <p:spPr>
          <a:xfrm rot="0" flipH="0" flipV="0">
            <a:off x="9906000" y="-762000"/>
            <a:ext cx="2857500" cy="1809750"/>
          </a:xfrm>
          <a:custGeom>
            <a:pathLst>
              <a:path w="300" h="190">
                <a:moveTo>
                  <a:pt x="240" y="171"/>
                </a:moveTo>
                <a:cubicBezTo>
                  <a:pt x="161" y="211"/>
                  <a:pt x="66" y="192"/>
                  <a:pt x="8" y="125"/>
                </a:cubicBezTo>
                <a:cubicBezTo>
                  <a:pt x="0" y="112"/>
                  <a:pt x="-2" y="95"/>
                  <a:pt x="2" y="80"/>
                </a:cubicBezTo>
                <a:lnTo>
                  <a:pt x="240" y="80"/>
                </a:lnTo>
                <a:close/>
              </a:path>
            </a:pathLst>
          </a:custGeom>
          <a:solidFill>
            <a:srgbClr val="E4EDD8">
              <a:alpha val="45000"/>
            </a:srgbClr>
          </a:solidFill>
          <a:ln/>
        </p:spPr>
        <p:txBody>
          <a:bodyPr/>
          <a:p/>
        </p:txBody>
      </p:sp>
      <p:sp>
        <p:nvSpPr>
          <p:cNvPr id="37" name=""/>
          <p:cNvSpPr/>
          <p:nvPr/>
        </p:nvSpPr>
        <p:spPr>
          <a:xfrm rot="0" flipH="0" flipV="0">
            <a:off x="-762000" y="6000750"/>
            <a:ext cx="3238500" cy="2000250"/>
          </a:xfrm>
          <a:custGeom>
            <a:pathLst>
              <a:path w="340" h="210">
                <a:moveTo>
                  <a:pt x="174" y="0"/>
                </a:moveTo>
                <a:cubicBezTo>
                  <a:pt x="241" y="-7"/>
                  <a:pt x="306" y="27"/>
                  <a:pt x="337" y="86"/>
                </a:cubicBezTo>
                <a:lnTo>
                  <a:pt x="338" y="89"/>
                </a:lnTo>
                <a:lnTo>
                  <a:pt x="338" y="90"/>
                </a:lnTo>
                <a:lnTo>
                  <a:pt x="80" y="90"/>
                </a:lnTo>
                <a:lnTo>
                  <a:pt x="80" y="16"/>
                </a:lnTo>
                <a:cubicBezTo>
                  <a:pt x="109" y="5"/>
                  <a:pt x="139" y="0"/>
                  <a:pt x="170" y="0"/>
                </a:cubicBezTo>
                <a:close/>
              </a:path>
            </a:pathLst>
          </a:custGeom>
          <a:solidFill>
            <a:srgbClr val="EFE6D6">
              <a:alpha val="50000"/>
            </a:srgbClr>
          </a:solidFill>
          <a:ln/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609600" y="304800"/>
            <a:ext cx="1733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 spc="75">
                <a:solidFill>
                  <a:srgbClr val="8EA47C"/>
                </a:solidFill>
                <a:latin typeface="Caveat"/>
                <a:ea typeface="Caveat"/>
              </a:rPr>
              <a:t>10 · Business Model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609600" y="542925"/>
            <a:ext cx="17335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3C342C"/>
                </a:solidFill>
                <a:latin typeface="Noto Serif SC"/>
                <a:ea typeface="Noto Serif SC"/>
              </a:rPr>
              <a:t>商业模式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609600" y="1028700"/>
            <a:ext cx="533400" cy="57150"/>
          </a:xfrm>
          <a:prstGeom prst="roundRect">
            <a:avLst>
              <a:gd name="adj" fmla="val 50000"/>
            </a:avLst>
          </a:prstGeom>
          <a:solidFill>
            <a:srgbClr val="8EA47C"/>
          </a:soli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7200900" y="752475"/>
            <a:ext cx="4381500" cy="390525"/>
          </a:xfrm>
          <a:prstGeom prst="rect"/>
        </p:spPr>
        <p:txBody>
          <a:bodyPr wrap="none" lIns="0" tIns="0" rIns="0" bIns="71438"/>
          <a:p>
            <a:pPr algn="r">
              <a:lnSpc>
                <a:spcPct val="170000"/>
              </a:lnSpc>
            </a:pPr>
            <a:r>
              <a:rPr lang="zh-CN" sz="1125">
                <a:solidFill>
                  <a:srgbClr val="8F8376"/>
                </a:solidFill>
                <a:latin typeface="Noto Sans SC"/>
                <a:ea typeface="Noto Sans SC"/>
              </a:rPr>
              <a:t>先把一次出行做得值得，再让用户愿意回来。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609600" y="1143000"/>
            <a:ext cx="3124200" cy="1504950"/>
          </a:xfrm>
          <a:prstGeom prst="roundRect">
            <a:avLst>
              <a:gd name="adj" fmla="val 10127"/>
            </a:avLst>
          </a:prstGeom>
          <a:solidFill>
            <a:srgbClr val="FFFDF8"/>
          </a:solidFill>
          <a:ln w="12700">
            <a:solidFill>
              <a:srgbClr val="E7DCCE"/>
            </a:solidFill>
            <a:prstDash val="solid"/>
          </a:ln>
          <a:effectLst>
            <a:outerShdw blurRad="152400" dist="38100" dir="5400000">
              <a:srgbClr val="3C342C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43" name=""/>
          <p:cNvSpPr/>
          <p:nvPr/>
        </p:nvSpPr>
        <p:spPr>
          <a:xfrm rot="0" flipH="0" flipV="0">
            <a:off x="781050" y="1314450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E4EDD8"/>
          </a:solidFill>
          <a:ln/>
        </p:spPr>
        <p:txBody>
          <a:bodyPr/>
          <a:p/>
        </p:txBody>
      </p:sp>
      <p:pic>
        <p:nvPicPr>
          <p:cNvPr id="4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66775" y="1400175"/>
            <a:ext cx="171450" cy="171450"/>
          </a:xfrm>
          <a:prstGeom prst="rect">
            <a:avLst/>
          </a:prstGeom>
          <a:ln/>
        </p:spPr>
      </p:pic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1219200" y="1390650"/>
            <a:ext cx="1333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C342C"/>
                </a:solidFill>
                <a:latin typeface="Noto Serif SC"/>
                <a:ea typeface="Noto Serif SC"/>
              </a:rPr>
              <a:t>收入引擎</a:t>
            </a:r>
            <a:r>
              <a:rPr lang="en-US" sz="1200" b="1">
                <a:solidFill>
                  <a:srgbClr val="3C342C"/>
                </a:solidFill>
                <a:latin typeface="Noto Serif SC"/>
                <a:ea typeface="Noto Serif SC"/>
              </a:rPr>
              <a:t> · </a:t>
            </a:r>
            <a:r>
              <a:rPr lang="zh-CN" sz="1200" b="1">
                <a:solidFill>
                  <a:srgbClr val="3C342C"/>
                </a:solidFill>
                <a:latin typeface="Noto Serif SC"/>
                <a:ea typeface="Noto Serif SC"/>
              </a:rPr>
              <a:t>盲盒销售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781050" y="1733550"/>
            <a:ext cx="2781300" cy="2476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单次开盒是收入起点，保底机制降低决策门槛。</a:t>
            </a:r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3886200" y="1143000"/>
            <a:ext cx="3124200" cy="1504950"/>
          </a:xfrm>
          <a:prstGeom prst="roundRect">
            <a:avLst>
              <a:gd name="adj" fmla="val 10127"/>
            </a:avLst>
          </a:prstGeom>
          <a:solidFill>
            <a:srgbClr val="FFFDF8"/>
          </a:solidFill>
          <a:ln w="12700">
            <a:solidFill>
              <a:srgbClr val="E7DCCE"/>
            </a:solidFill>
            <a:prstDash val="solid"/>
          </a:ln>
          <a:effectLst>
            <a:outerShdw blurRad="152400" dist="38100" dir="5400000">
              <a:srgbClr val="3C342C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48" name=""/>
          <p:cNvSpPr/>
          <p:nvPr/>
        </p:nvSpPr>
        <p:spPr>
          <a:xfrm rot="0" flipH="0" flipV="0">
            <a:off x="4057650" y="1314450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E4EDD8"/>
          </a:solidFill>
          <a:ln/>
        </p:spPr>
        <p:txBody>
          <a:bodyPr/>
          <a:p/>
        </p:txBody>
      </p:sp>
      <p:pic>
        <p:nvPicPr>
          <p:cNvPr id="4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143375" y="1400175"/>
            <a:ext cx="171450" cy="171450"/>
          </a:xfrm>
          <a:prstGeom prst="rect">
            <a:avLst/>
          </a:prstGeom>
          <a:ln/>
        </p:spPr>
      </p:pic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4495800" y="1390650"/>
            <a:ext cx="1181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C342C"/>
                </a:solidFill>
                <a:latin typeface="Noto Serif SC"/>
                <a:ea typeface="Noto Serif SC"/>
              </a:rPr>
              <a:t>内容资产</a:t>
            </a:r>
            <a:r>
              <a:rPr lang="en-US" sz="1200" b="1">
                <a:solidFill>
                  <a:srgbClr val="3C342C"/>
                </a:solidFill>
                <a:latin typeface="Noto Serif SC"/>
                <a:ea typeface="Noto Serif SC"/>
              </a:rPr>
              <a:t> · </a:t>
            </a:r>
            <a:r>
              <a:rPr lang="zh-CN" sz="1200" b="1">
                <a:solidFill>
                  <a:srgbClr val="3C342C"/>
                </a:solidFill>
                <a:latin typeface="Noto Serif SC"/>
                <a:ea typeface="Noto Serif SC"/>
              </a:rPr>
              <a:t>线路池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4057650" y="1733550"/>
            <a:ext cx="2781300" cy="2476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线路、主题、城市持续积累，卖得越多池子越厚。</a:t>
            </a:r>
            <a:endParaRPr/>
          </a:p>
        </p:txBody>
      </p:sp>
      <p:sp>
        <p:nvSpPr>
          <p:cNvPr id="52" name=""/>
          <p:cNvSpPr/>
          <p:nvPr/>
        </p:nvSpPr>
        <p:spPr>
          <a:xfrm rot="0" flipH="0" flipV="0">
            <a:off x="609600" y="2800350"/>
            <a:ext cx="3124200" cy="1504950"/>
          </a:xfrm>
          <a:prstGeom prst="roundRect">
            <a:avLst>
              <a:gd name="adj" fmla="val 10127"/>
            </a:avLst>
          </a:prstGeom>
          <a:solidFill>
            <a:srgbClr val="FFFDF8"/>
          </a:solidFill>
          <a:ln w="12700">
            <a:solidFill>
              <a:srgbClr val="E7DCCE"/>
            </a:solidFill>
            <a:prstDash val="solid"/>
          </a:ln>
          <a:effectLst>
            <a:outerShdw blurRad="152400" dist="38100" dir="5400000">
              <a:srgbClr val="3C342C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53" name=""/>
          <p:cNvSpPr/>
          <p:nvPr/>
        </p:nvSpPr>
        <p:spPr>
          <a:xfrm rot="0" flipH="0" flipV="0">
            <a:off x="781050" y="2971800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E4EDD8"/>
          </a:solidFill>
          <a:ln/>
        </p:spPr>
        <p:txBody>
          <a:bodyPr/>
          <a:p/>
        </p:txBody>
      </p:sp>
      <p:pic>
        <p:nvPicPr>
          <p:cNvPr id="5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66775" y="3057525"/>
            <a:ext cx="171450" cy="171450"/>
          </a:xfrm>
          <a:prstGeom prst="rect">
            <a:avLst/>
          </a:prstGeom>
          <a:ln/>
        </p:spPr>
      </p:pic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1219200" y="3048000"/>
            <a:ext cx="1333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C342C"/>
                </a:solidFill>
                <a:latin typeface="Noto Serif SC"/>
                <a:ea typeface="Noto Serif SC"/>
              </a:rPr>
              <a:t>用户资产</a:t>
            </a:r>
            <a:r>
              <a:rPr lang="en-US" sz="1200" b="1">
                <a:solidFill>
                  <a:srgbClr val="3C342C"/>
                </a:solidFill>
                <a:latin typeface="Noto Serif SC"/>
                <a:ea typeface="Noto Serif SC"/>
              </a:rPr>
              <a:t> · </a:t>
            </a:r>
            <a:r>
              <a:rPr lang="zh-CN" sz="1200" b="1">
                <a:solidFill>
                  <a:srgbClr val="3C342C"/>
                </a:solidFill>
                <a:latin typeface="Noto Serif SC"/>
                <a:ea typeface="Noto Serif SC"/>
              </a:rPr>
              <a:t>兴趣画像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781050" y="3390900"/>
            <a:ext cx="2781300" cy="2476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偏好、徽章、日记，把行为沉淀成画像。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3886200" y="2800350"/>
            <a:ext cx="3124200" cy="1504950"/>
          </a:xfrm>
          <a:prstGeom prst="roundRect">
            <a:avLst>
              <a:gd name="adj" fmla="val 10127"/>
            </a:avLst>
          </a:prstGeom>
          <a:solidFill>
            <a:srgbClr val="FFFDF8"/>
          </a:solidFill>
          <a:ln w="12700">
            <a:solidFill>
              <a:srgbClr val="E7DCCE"/>
            </a:solidFill>
            <a:prstDash val="solid"/>
          </a:ln>
          <a:effectLst>
            <a:outerShdw blurRad="152400" dist="38100" dir="5400000">
              <a:srgbClr val="3C342C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58" name=""/>
          <p:cNvSpPr/>
          <p:nvPr/>
        </p:nvSpPr>
        <p:spPr>
          <a:xfrm rot="0" flipH="0" flipV="0">
            <a:off x="4057650" y="2971800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E4EDD8"/>
          </a:solidFill>
          <a:ln/>
        </p:spPr>
        <p:txBody>
          <a:bodyPr/>
          <a:p/>
        </p:txBody>
      </p:sp>
      <p:pic>
        <p:nvPicPr>
          <p:cNvPr id="5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4143375" y="3057525"/>
            <a:ext cx="171450" cy="171450"/>
          </a:xfrm>
          <a:prstGeom prst="rect">
            <a:avLst/>
          </a:prstGeom>
          <a:ln/>
        </p:spPr>
      </p:pic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4495800" y="3048000"/>
            <a:ext cx="1333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C342C"/>
                </a:solidFill>
                <a:latin typeface="Noto Serif SC"/>
                <a:ea typeface="Noto Serif SC"/>
              </a:rPr>
              <a:t>运营资产</a:t>
            </a:r>
            <a:r>
              <a:rPr lang="en-US" sz="1200" b="1">
                <a:solidFill>
                  <a:srgbClr val="3C342C"/>
                </a:solidFill>
                <a:latin typeface="Noto Serif SC"/>
                <a:ea typeface="Noto Serif SC"/>
              </a:rPr>
              <a:t> · </a:t>
            </a:r>
            <a:r>
              <a:rPr lang="zh-CN" sz="1200" b="1">
                <a:solidFill>
                  <a:srgbClr val="3C342C"/>
                </a:solidFill>
                <a:latin typeface="Noto Serif SC"/>
                <a:ea typeface="Noto Serif SC"/>
              </a:rPr>
              <a:t>复购转化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4057650" y="3390900"/>
            <a:ext cx="2781300" cy="2476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筛选、复购、转化，数据反过来指导选品。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609600" y="4457700"/>
            <a:ext cx="6581775" cy="1638300"/>
          </a:xfrm>
          <a:prstGeom prst="roundRect">
            <a:avLst>
              <a:gd name="adj" fmla="val 9302"/>
            </a:avLst>
          </a:prstGeom>
          <a:solidFill>
            <a:srgbClr val="E4EDD8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1590675" y="52006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6C7E58"/>
                </a:solidFill>
                <a:latin typeface="Noto Sans SC"/>
                <a:ea typeface="Noto Sans SC"/>
              </a:rPr>
              <a:t>增长路径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2257425" y="5086350"/>
            <a:ext cx="1028700" cy="381000"/>
          </a:xfrm>
          <a:prstGeom prst="roundRect">
            <a:avLst>
              <a:gd name="adj" fmla="val 2497500"/>
            </a:avLst>
          </a:prstGeom>
          <a:solidFill>
            <a:srgbClr val="FFFDF8"/>
          </a:solidFill>
          <a:ln w="12700">
            <a:solidFill>
              <a:srgbClr val="C9D6B8"/>
            </a:solidFill>
            <a:prstDash val="solid"/>
          </a:ln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2466975" y="518160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C342C"/>
                </a:solidFill>
                <a:latin typeface="Noto Serif SC"/>
                <a:ea typeface="Noto Serif SC"/>
              </a:rPr>
              <a:t>单次开盒</a:t>
            </a:r>
            <a:endParaRPr/>
          </a:p>
        </p:txBody>
      </p:sp>
      <p:pic>
        <p:nvPicPr>
          <p:cNvPr id="6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3419475" y="5191125"/>
            <a:ext cx="171450" cy="171450"/>
          </a:xfrm>
          <a:prstGeom prst="rect">
            <a:avLst/>
          </a:prstGeom>
          <a:ln/>
        </p:spPr>
      </p:pic>
      <p:sp>
        <p:nvSpPr>
          <p:cNvPr id="67" name=""/>
          <p:cNvSpPr/>
          <p:nvPr/>
        </p:nvSpPr>
        <p:spPr>
          <a:xfrm rot="0" flipH="0" flipV="0">
            <a:off x="3724275" y="5086350"/>
            <a:ext cx="1028700" cy="381000"/>
          </a:xfrm>
          <a:prstGeom prst="roundRect">
            <a:avLst>
              <a:gd name="adj" fmla="val 2497500"/>
            </a:avLst>
          </a:prstGeom>
          <a:solidFill>
            <a:srgbClr val="FFFDF8"/>
          </a:solidFill>
          <a:ln w="12700">
            <a:solidFill>
              <a:srgbClr val="C9D6B8"/>
            </a:solidFill>
            <a:prstDash val="solid"/>
          </a:ln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3933825" y="518160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C342C"/>
                </a:solidFill>
                <a:latin typeface="Noto Serif SC"/>
                <a:ea typeface="Noto Serif SC"/>
              </a:rPr>
              <a:t>复购开盒</a:t>
            </a:r>
            <a:endParaRPr/>
          </a:p>
        </p:txBody>
      </p:sp>
      <p:pic>
        <p:nvPicPr>
          <p:cNvPr id="6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4886325" y="5191125"/>
            <a:ext cx="171450" cy="171450"/>
          </a:xfrm>
          <a:prstGeom prst="rect">
            <a:avLst/>
          </a:prstGeom>
          <a:ln/>
        </p:spPr>
      </p:pic>
      <p:sp>
        <p:nvSpPr>
          <p:cNvPr id="70" name=""/>
          <p:cNvSpPr/>
          <p:nvPr/>
        </p:nvSpPr>
        <p:spPr>
          <a:xfrm rot="0" flipH="0" flipV="0">
            <a:off x="5191125" y="5086350"/>
            <a:ext cx="1028700" cy="381000"/>
          </a:xfrm>
          <a:prstGeom prst="roundRect">
            <a:avLst>
              <a:gd name="adj" fmla="val 2497500"/>
            </a:avLst>
          </a:prstGeom>
          <a:gradFill>
            <a:gsLst>
              <a:gs pos="0">
                <a:srgbClr val="8EA47C"/>
              </a:gs>
              <a:gs pos="100000">
                <a:srgbClr val="6C7E58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5400675" y="518160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DF8"/>
                </a:solidFill>
                <a:latin typeface="Noto Serif SC"/>
                <a:ea typeface="Noto Serif SC"/>
              </a:rPr>
              <a:t>内容转化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7458075" y="1143000"/>
            <a:ext cx="4124325" cy="4953000"/>
          </a:xfrm>
          <a:prstGeom prst="roundRect">
            <a:avLst>
              <a:gd name="adj" fmla="val 4619"/>
            </a:avLst>
          </a:prstGeom>
          <a:gradFill>
            <a:gsLst>
              <a:gs pos="0">
                <a:srgbClr val="8EA47C"/>
              </a:gs>
              <a:gs pos="100000">
                <a:srgbClr val="6C7E58"/>
              </a:gs>
            </a:gsLst>
            <a:lin ang="4200000" scaled="1"/>
          </a:gradFill>
          <a:ln/>
          <a:effectLst>
            <a:outerShdw blurRad="266700" dist="114300" dir="5400000">
              <a:srgbClr val="6C7E58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7743825" y="1428750"/>
            <a:ext cx="3552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DF8">
                    <a:alpha val="85000"/>
                  </a:srgbClr>
                </a:solidFill>
                <a:latin typeface="Caveat"/>
                <a:ea typeface="Caveat"/>
              </a:rPr>
              <a:t>Business Logic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7743825" y="1809750"/>
            <a:ext cx="3552825" cy="1323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650" b="1">
                <a:solidFill>
                  <a:srgbClr val="FFFDF8"/>
                </a:solidFill>
                <a:latin typeface="Noto Serif SC"/>
                <a:ea typeface="Noto Serif SC"/>
              </a:rPr>
              <a:t>用户买到的是一次结构化的出行决策；平台沉淀的是内容资产与兴趣画像。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7743825" y="3267075"/>
            <a:ext cx="3552825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50">
                <a:solidFill>
                  <a:srgbClr val="FFFDF8">
                    <a:alpha val="88000"/>
                  </a:srgbClr>
                </a:solidFill>
                <a:latin typeface="Noto Sans SC"/>
                <a:ea typeface="Noto Sans SC"/>
              </a:rPr>
              <a:t>轻资产模式，让复制速度快于线下扩张——跑通一个城市，就能带着整套内容方法去下一个。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7743825" y="4752975"/>
            <a:ext cx="3552825" cy="9525"/>
          </a:xfrm>
          <a:prstGeom prst="rect">
            <a:avLst/>
          </a:prstGeom>
          <a:solidFill>
            <a:srgbClr val="FFFDF8">
              <a:alpha val="35000"/>
            </a:srgbClr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7743825" y="4914900"/>
            <a:ext cx="3552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FFDF8">
                    <a:alpha val="90000"/>
                  </a:srgbClr>
                </a:solidFill>
                <a:latin typeface="Noto Sans SC"/>
                <a:ea typeface="Noto Sans SC"/>
              </a:rPr>
              <a:t>成本结构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7743825" y="5181600"/>
            <a:ext cx="762000" cy="266700"/>
          </a:xfrm>
          <a:prstGeom prst="roundRect">
            <a:avLst>
              <a:gd name="adj" fmla="val 3567857"/>
            </a:avLst>
          </a:prstGeom>
          <a:solidFill>
            <a:srgbClr val="FFFDF8">
              <a:alpha val="16000"/>
            </a:srgbClr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7877175" y="523875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DF8"/>
                </a:solidFill>
                <a:latin typeface="Noto Sans SC"/>
                <a:ea typeface="Noto Sans SC"/>
              </a:rPr>
              <a:t>内容研发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8601075" y="5181600"/>
            <a:ext cx="885825" cy="266700"/>
          </a:xfrm>
          <a:prstGeom prst="roundRect">
            <a:avLst>
              <a:gd name="adj" fmla="val 3567857"/>
            </a:avLst>
          </a:prstGeom>
          <a:solidFill>
            <a:srgbClr val="FFFDF8">
              <a:alpha val="16000"/>
            </a:srgbClr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8734425" y="5238750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DF8"/>
                </a:solidFill>
                <a:latin typeface="Noto Sans SC"/>
                <a:ea typeface="Noto Sans SC"/>
              </a:rPr>
              <a:t>技术与模型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9582150" y="5181600"/>
            <a:ext cx="762000" cy="266700"/>
          </a:xfrm>
          <a:prstGeom prst="roundRect">
            <a:avLst>
              <a:gd name="adj" fmla="val 3567857"/>
            </a:avLst>
          </a:prstGeom>
          <a:solidFill>
            <a:srgbClr val="FFFDF8">
              <a:alpha val="16000"/>
            </a:srgbClr>
          </a:soli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9715500" y="523875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DF8"/>
                </a:solidFill>
                <a:latin typeface="Noto Sans SC"/>
                <a:ea typeface="Noto Sans SC"/>
              </a:rPr>
              <a:t>渠道获客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7743825" y="5543550"/>
            <a:ext cx="1133475" cy="266700"/>
          </a:xfrm>
          <a:prstGeom prst="roundRect">
            <a:avLst>
              <a:gd name="adj" fmla="val 3567857"/>
            </a:avLst>
          </a:prstGeom>
          <a:solidFill>
            <a:srgbClr val="FFFDF8">
              <a:alpha val="16000"/>
            </a:srgbClr>
          </a:soli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7877175" y="5600700"/>
            <a:ext cx="866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DF8"/>
                </a:solidFill>
                <a:latin typeface="Noto Sans SC"/>
                <a:ea typeface="Noto Sans SC"/>
              </a:rPr>
              <a:t>线路结算与售后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609600" y="6096000"/>
            <a:ext cx="10972800" cy="571500"/>
          </a:xfrm>
          <a:custGeom>
            <a:pathLst>
              <a:path w="1152" h="6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7DCCE"/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609600" y="6315075"/>
            <a:ext cx="1095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途个惊喜</a:t>
            </a:r>
            <a:r>
              <a:rPr lang="en-US" sz="975">
                <a:solidFill>
                  <a:srgbClr val="8F8376"/>
                </a:solidFill>
                <a:latin typeface="Noto Sans SC"/>
                <a:ea typeface="Noto Sans SC"/>
              </a:rPr>
              <a:t> · </a:t>
            </a: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随盒出发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11210925" y="6315075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F8376"/>
                </a:solidFill>
                <a:latin typeface="Noto Sans SC"/>
                <a:ea typeface="Noto Sans SC"/>
              </a:rPr>
              <a:t>11 / 15</a:t>
            </a:r>
            <a:endParaRPr/>
          </a:p>
        </p:txBody>
      </p:sp>
    </p:spTree>
  </p:cSld>
</p:sld>
</file>

<file path=ppt/slides/slide12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89" name="" descr="&lt;Slide style={{ width: 1280, height: 720, background: '#F6F1E6', padding: '20px 64px', position: 'relative', overflow: 'hidden' }}&gt;&#10;    &lt;Box style={{ position: 'absolute', top: -80, right: -60, width: 300, height: 190, borderRadius: '50%', background: '#E4EDD8', opacity: 0.45 }} /&gt;&#10;    &lt;Box style={{ position: 'absolute', bottom: -120, left: -80, width: 340, height: 210, borderRadius: '50%', background: '#EFE6D6', opacity: 0.5 }} /&gt;&#10;&#10;    {/* A 标题块 */}&#10;    &lt;Box style={{ height: 100, flexDirection: 'row', alignItems: 'flex-end', justifyContent: 'space-between', position: 'relative', zIndex: 1 }}&gt;&#10;        &lt;Box style={{ gap: 4, paddingBottom: 6 }}&gt;&#10;            &lt;Text style={{ fontFamily: 'Caveat, cursive', fontSize: 17, fontWeight: 700, color: '#8EA47C', letterSpacing: 1 }}&gt;11 · Tech &amp;amp; Risk Control&lt;/Text&gt;&#10;            &lt;Text style={{ fontFamily: 'Noto Serif SC, serif', fontSize: 34, fontWeight: 900, color: '#3C342C' }}&gt;技术与风控&lt;/Text&gt;&#10;            &lt;Box style={{ width: 56, height: 6, borderRadius: 3, background: '#8EA47C', marginTop: 6 }} /&gt;&#10;        &lt;/Box&gt;&#10;        &lt;Text style={{ fontFamily: 'Noto Sans SC, sans-serif', fontSize: 15, color: '#8F8376', width: 460, textAlign: 'right', lineHeight: 1.7, paddingBottom: 10 }}&gt;&#10;            轻量化产品，也可以有完整的工程承重墙。&#10;        &lt;/Text&gt;&#10;    &lt;/Box&gt;&#10;&#10;    {/* B 内容区：架构图 */}&#10;    &lt;Box style={{ height: 520, position: 'relative', zIndex: 1, justifyContent: 'center', gap: 0 }}&gt;&#10;        {/* 三端 */}&#10;        &lt;Box style={{ flexDirection: 'row', justifyContent: 'center', gap: 60 }}&gt;&#10;            {[&#10;                { icon: 'mobile-alt', t: '微信小程序', d: '用户主阵地' },&#10;                { icon: 'desktop', t: '管理端 Web', d: '内容与运营配置' },&#10;                { icon: 'credit-card', t: '支付宝沙箱', d: '可演示交易' },&#10;            ].map((item, idx) =&gt; (&#10;                &lt;Box key={idx} style={{&#10;                    width: 280,&#10;                    background: '#FFFDF8',&#10;                    borderRadius: 16,&#10;                    border: '1px solid #E7DCCE',&#10;                    boxShadow: '0 4px 16px rgba(60,52,44,0.06)',&#10;                    padding: '16px 20px',&#10;                    flexDirection: 'row',&#10;                    alignItems: 'center',&#10;                    gap: 14,&#10;                }}&gt;&#10;                    &lt;Box style={{ width: 44, height: 44, borderRadius: 12, background: '#E4EDD8', alignItems: 'center', justifyContent: 'center' }}&gt;&#10;                        &lt;FAIcon name={item.icon} style={{ fill: '#6C7E58', width: 22, height: 22 }} /&gt;&#10;                    &lt;/Box&gt;&#10;                    &lt;Box style={{ gap: 2 }}&gt;&#10;                        &lt;Text style={{ fontFamily: 'Noto Serif SC, serif', fontSize: 17, fontWeight: 700, color: '#3C342C' }}&gt;{item.t}&lt;/Text&gt;&#10;                        &lt;Text style={{ fontFamily: 'Noto Sans SC, sans-serif', fontSize: 12, color: '#8F8376' }}&gt;{item.d}&lt;/Text&gt;&#10;                    &lt;/Box&gt;&#10;                &lt;/Box&gt;&#10;            ))}&#10;        &lt;/Box&gt;&#10;&#10;        {/* 连接 */}&#10;        &lt;Box style={{ flexDirection: 'row', justifyContent: 'center', gap: 60, height: 34 }}&gt;&#10;            {[0, 1, 2].map((idx) =&gt; (&#10;                &lt;Box key={idx} style={{ width: 280, alignItems: 'center', justifyContent: 'center' }}&gt;&#10;                    &lt;FAIcon name=&quot;arrow-down&quot; style={{ fill: '#C9D6B8', width: 18, height: 18 }} /&gt;&#10;                &lt;/Box&gt;&#10;            ))}&#10;        &lt;/Box&gt;&#10;&#10;        {/* 服务层 */}&#10;        &lt;Box style={{&#10;            background: 'linear-gradient(135deg, #8EA47C 0%, #6C7E58 100%)',&#10;            borderRadius: 16,&#10;            padding: '20px 28px',&#10;            flexDirection: 'row',&#10;            alignItems: 'center',&#10;            justifyContent: 'center',&#10;            gap: 20,&#10;            boxShadow: '0 10px 24px rgba(108,126,88,0.26)',&#10;        }}&gt;&#10;            &lt;FAIcon name=&quot;server&quot; style={{ fill: '#FFFDF8', width: 24, height: 24 }} /&gt;&#10;            &lt;Text style={{ fontFamily: 'Noto Serif SC, serif', fontSize: 20, fontWeight: 900, color: '#FFFDF8', letterSpacing: 1 }}&gt;&#10;                Spring Boot 3 · MyBatis-Plus · JWT · Spring AI&#10;            &lt;/Text&gt;&#10;        &lt;/Box&gt;&#10;&#10;        &lt;Box style={{ alignItems: 'center', justifyContent: 'center', height: 34 }}&gt;&#10;            &lt;FAIcon name=&quot;arrow-down&quot; style={{ fill: '#C9D6B8', width: 18, height: 18 }} /&gt;&#10;        &lt;/Box&gt;&#10;&#10;        {/* 数据与安全层 */}&#10;        &lt;Box style={{ flexDirection: 'row', gap: 20 }}&gt;&#10;            {[&#10;                { icon: 'database', t: 'MySQL', d: '业务数据 / 内容池' },&#10;                { icon: 'bolt', t: 'Redis', d: '验证码 / 会话 / AI 记忆' },&#10;                { icon: 'shield', t: '内容安全', d: '权限 / 脱敏 / 审核' },&#10;                { icon: 'check-circle', t: '交易闭环', d: '沙箱支付 / 异步通知' },&#10;            ].map((item, idx) =&gt; (&#10;                &lt;Box key={idx} style={{&#10;                    flex: 1,&#10;                    background: '#E4EDD8',&#10;                    borderRadius: 16,&#10;                    padding: '18px 20px',&#10;                    gap: 8,&#10;                }}&gt;&#10;                    &lt;Box style={{ flexDirection: 'row', alignItems: 'center', gap: 10 }}&gt;&#10;                        &lt;FAIcon name={item.icon} style={{ fill: '#6C7E58', width: 20, height: 20 }} /&gt;&#10;                        &lt;Text style={{ fontFamily: 'Noto Serif SC, serif', fontSize: 17, fontWeight: 700, color: '#3C342C' }}&gt;{item.t}&lt;/Text&gt;&#10;                    &lt;/Box&gt;&#10;                    &lt;Text style={{ fontFamily: 'Noto Sans SC, sans-serif', fontSize: 13, color: '#8F8376', lineHeight: 1.6 }}&gt;{item.d}&lt;/Text&gt;&#10;                &lt;/Box&gt;&#10;            ))}&#10;        &lt;/Box&gt;&#10;&#10;        &lt;Text style={{ fontFamily: 'Noto Sans SC, sans-serif', fontSize: 14, color: '#8F8376', textAlign: 'center', marginTop: 22, lineHeight: 1.7 }}&gt;&#10;            技术架构围绕内容下发、交易闭环、智能推荐与隐私合规展开——每一层都对应一个可演示的产品能力。&#10;        &lt;/Text&gt;&#10;    &lt;/Box&gt;&#10;&#10;    {/* C 页脚 */}&#10;    &lt;Box style={{ height: 60, flexDirection: 'row', alignItems: 'center', justifyContent: 'space-between', borderTop: '1px solid #E7DCCE', position: 'relative', zIndex: 1 }}&gt;&#10;        &lt;Text style={{ fontFamily: 'Noto Sans SC, sans-serif', fontSize: 13, color: '#8F8376' }}&gt;途个惊喜 · 随盒出发&lt;/Text&gt;&#10;        &lt;Text style={{ fontFamily: 'Noto Sans SC, sans-serif', fontSize: 13, color: '#8F8376' }}&gt;12 / 1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6F1E6"/>
          </a:solidFill>
          <a:ln/>
        </p:spPr>
        <p:txBody>
          <a:bodyPr/>
          <a:p/>
        </p:txBody>
      </p:sp>
      <p:sp>
        <p:nvSpPr>
          <p:cNvPr id="91" name=""/>
          <p:cNvSpPr/>
          <p:nvPr/>
        </p:nvSpPr>
        <p:spPr>
          <a:xfrm rot="0" flipH="0" flipV="0">
            <a:off x="9906000" y="-762000"/>
            <a:ext cx="2857500" cy="1809750"/>
          </a:xfrm>
          <a:custGeom>
            <a:pathLst>
              <a:path w="300" h="190">
                <a:moveTo>
                  <a:pt x="240" y="171"/>
                </a:moveTo>
                <a:cubicBezTo>
                  <a:pt x="161" y="211"/>
                  <a:pt x="66" y="192"/>
                  <a:pt x="8" y="125"/>
                </a:cubicBezTo>
                <a:cubicBezTo>
                  <a:pt x="0" y="112"/>
                  <a:pt x="-2" y="95"/>
                  <a:pt x="2" y="80"/>
                </a:cubicBezTo>
                <a:lnTo>
                  <a:pt x="240" y="80"/>
                </a:lnTo>
                <a:close/>
              </a:path>
            </a:pathLst>
          </a:custGeom>
          <a:solidFill>
            <a:srgbClr val="E4EDD8">
              <a:alpha val="45000"/>
            </a:srgbClr>
          </a:solidFill>
          <a:ln/>
        </p:spPr>
        <p:txBody>
          <a:bodyPr/>
          <a:p/>
        </p:txBody>
      </p:sp>
      <p:sp>
        <p:nvSpPr>
          <p:cNvPr id="92" name=""/>
          <p:cNvSpPr/>
          <p:nvPr/>
        </p:nvSpPr>
        <p:spPr>
          <a:xfrm rot="0" flipH="0" flipV="0">
            <a:off x="-762000" y="6000750"/>
            <a:ext cx="3238500" cy="2000250"/>
          </a:xfrm>
          <a:custGeom>
            <a:pathLst>
              <a:path w="340" h="210">
                <a:moveTo>
                  <a:pt x="174" y="0"/>
                </a:moveTo>
                <a:cubicBezTo>
                  <a:pt x="241" y="-7"/>
                  <a:pt x="306" y="27"/>
                  <a:pt x="337" y="86"/>
                </a:cubicBezTo>
                <a:lnTo>
                  <a:pt x="338" y="89"/>
                </a:lnTo>
                <a:lnTo>
                  <a:pt x="338" y="90"/>
                </a:lnTo>
                <a:lnTo>
                  <a:pt x="80" y="90"/>
                </a:lnTo>
                <a:lnTo>
                  <a:pt x="80" y="16"/>
                </a:lnTo>
                <a:cubicBezTo>
                  <a:pt x="109" y="5"/>
                  <a:pt x="139" y="0"/>
                  <a:pt x="170" y="0"/>
                </a:cubicBezTo>
                <a:close/>
              </a:path>
            </a:pathLst>
          </a:custGeom>
          <a:solidFill>
            <a:srgbClr val="EFE6D6">
              <a:alpha val="50000"/>
            </a:srgbClr>
          </a:soli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609600" y="304800"/>
            <a:ext cx="2095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 spc="75">
                <a:solidFill>
                  <a:srgbClr val="8EA47C"/>
                </a:solidFill>
                <a:latin typeface="Caveat"/>
                <a:ea typeface="Caveat"/>
              </a:rPr>
              <a:t>11 · Tech &amp; Risk Control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609600" y="542925"/>
            <a:ext cx="2095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3C342C"/>
                </a:solidFill>
                <a:latin typeface="Noto Serif SC"/>
                <a:ea typeface="Noto Serif SC"/>
              </a:rPr>
              <a:t>技术与风控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609600" y="1028700"/>
            <a:ext cx="533400" cy="57150"/>
          </a:xfrm>
          <a:prstGeom prst="roundRect">
            <a:avLst>
              <a:gd name="adj" fmla="val 50000"/>
            </a:avLst>
          </a:prstGeom>
          <a:solidFill>
            <a:srgbClr val="8EA47C"/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7200900" y="752475"/>
            <a:ext cx="4381500" cy="390525"/>
          </a:xfrm>
          <a:prstGeom prst="rect"/>
        </p:spPr>
        <p:txBody>
          <a:bodyPr wrap="none" lIns="0" tIns="0" rIns="0" bIns="71438"/>
          <a:p>
            <a:pPr algn="r">
              <a:lnSpc>
                <a:spcPct val="170000"/>
              </a:lnSpc>
            </a:pPr>
            <a:r>
              <a:rPr lang="zh-CN" sz="1125">
                <a:solidFill>
                  <a:srgbClr val="8F8376"/>
                </a:solidFill>
                <a:latin typeface="Noto Sans SC"/>
                <a:ea typeface="Noto Sans SC"/>
              </a:rPr>
              <a:t>轻量化产品，也可以有完整的工程承重墙。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1524000" y="1962150"/>
            <a:ext cx="2667000" cy="723900"/>
          </a:xfrm>
          <a:prstGeom prst="roundRect">
            <a:avLst>
              <a:gd name="adj" fmla="val 21053"/>
            </a:avLst>
          </a:prstGeom>
          <a:solidFill>
            <a:srgbClr val="FFFDF8"/>
          </a:solidFill>
          <a:ln w="12700">
            <a:solidFill>
              <a:srgbClr val="E7DCCE"/>
            </a:solidFill>
            <a:prstDash val="solid"/>
          </a:ln>
          <a:effectLst>
            <a:outerShdw blurRad="152400" dist="38100" dir="5400000">
              <a:srgbClr val="3C342C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98" name=""/>
          <p:cNvSpPr/>
          <p:nvPr/>
        </p:nvSpPr>
        <p:spPr>
          <a:xfrm rot="0" flipH="0" flipV="0">
            <a:off x="1714500" y="211455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E4EDD8"/>
          </a:solidFill>
          <a:ln/>
        </p:spPr>
        <p:txBody>
          <a:bodyPr/>
          <a:p/>
        </p:txBody>
      </p:sp>
      <p:pic>
        <p:nvPicPr>
          <p:cNvPr id="9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819275" y="2219325"/>
            <a:ext cx="209550" cy="209550"/>
          </a:xfrm>
          <a:prstGeom prst="rect">
            <a:avLst/>
          </a:prstGeom>
          <a:ln/>
        </p:spPr>
      </p:pic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2266950" y="2143125"/>
            <a:ext cx="809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3C342C"/>
                </a:solidFill>
                <a:latin typeface="Noto Serif SC"/>
                <a:ea typeface="Noto Serif SC"/>
              </a:rPr>
              <a:t>微信小程序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2266950" y="2362200"/>
            <a:ext cx="8096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8376"/>
                </a:solidFill>
                <a:latin typeface="Noto Sans SC"/>
                <a:ea typeface="Noto Sans SC"/>
              </a:rPr>
              <a:t>用户主阵地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4762500" y="1962150"/>
            <a:ext cx="2667000" cy="723900"/>
          </a:xfrm>
          <a:prstGeom prst="roundRect">
            <a:avLst>
              <a:gd name="adj" fmla="val 21053"/>
            </a:avLst>
          </a:prstGeom>
          <a:solidFill>
            <a:srgbClr val="FFFDF8"/>
          </a:solidFill>
          <a:ln w="12700">
            <a:solidFill>
              <a:srgbClr val="E7DCCE"/>
            </a:solidFill>
            <a:prstDash val="solid"/>
          </a:ln>
          <a:effectLst>
            <a:outerShdw blurRad="152400" dist="38100" dir="5400000">
              <a:srgbClr val="3C342C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03" name=""/>
          <p:cNvSpPr/>
          <p:nvPr/>
        </p:nvSpPr>
        <p:spPr>
          <a:xfrm rot="0" flipH="0" flipV="0">
            <a:off x="4953000" y="211455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E4EDD8"/>
          </a:solidFill>
          <a:ln/>
        </p:spPr>
        <p:txBody>
          <a:bodyPr/>
          <a:p/>
        </p:txBody>
      </p:sp>
      <p:pic>
        <p:nvPicPr>
          <p:cNvPr id="10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5057775" y="2219325"/>
            <a:ext cx="209550" cy="209550"/>
          </a:xfrm>
          <a:prstGeom prst="rect">
            <a:avLst/>
          </a:prstGeom>
          <a:ln/>
        </p:spPr>
      </p:pic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5505450" y="2143125"/>
            <a:ext cx="8477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3C342C"/>
                </a:solidFill>
                <a:latin typeface="Noto Serif SC"/>
                <a:ea typeface="Noto Serif SC"/>
              </a:rPr>
              <a:t>管理端</a:t>
            </a:r>
            <a:r>
              <a:rPr lang="en-US" sz="1275" b="1">
                <a:solidFill>
                  <a:srgbClr val="3C342C"/>
                </a:solidFill>
                <a:latin typeface="Noto Serif SC"/>
                <a:ea typeface="Noto Serif SC"/>
              </a:rPr>
              <a:t> Web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5505450" y="2362200"/>
            <a:ext cx="8477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8376"/>
                </a:solidFill>
                <a:latin typeface="Noto Sans SC"/>
                <a:ea typeface="Noto Sans SC"/>
              </a:rPr>
              <a:t>内容与运营配置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8001000" y="1962150"/>
            <a:ext cx="2667000" cy="723900"/>
          </a:xfrm>
          <a:prstGeom prst="roundRect">
            <a:avLst>
              <a:gd name="adj" fmla="val 21053"/>
            </a:avLst>
          </a:prstGeom>
          <a:solidFill>
            <a:srgbClr val="FFFDF8"/>
          </a:solidFill>
          <a:ln w="12700">
            <a:solidFill>
              <a:srgbClr val="E7DCCE"/>
            </a:solidFill>
            <a:prstDash val="solid"/>
          </a:ln>
          <a:effectLst>
            <a:outerShdw blurRad="152400" dist="38100" dir="5400000">
              <a:srgbClr val="3C342C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08" name=""/>
          <p:cNvSpPr/>
          <p:nvPr/>
        </p:nvSpPr>
        <p:spPr>
          <a:xfrm rot="0" flipH="0" flipV="0">
            <a:off x="8191500" y="211455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E4EDD8"/>
          </a:solidFill>
          <a:ln/>
        </p:spPr>
        <p:txBody>
          <a:bodyPr/>
          <a:p/>
        </p:txBody>
      </p:sp>
      <p:pic>
        <p:nvPicPr>
          <p:cNvPr id="10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296275" y="2219325"/>
            <a:ext cx="209550" cy="209550"/>
          </a:xfrm>
          <a:prstGeom prst="rect">
            <a:avLst/>
          </a:prstGeom>
          <a:ln/>
        </p:spPr>
      </p:pic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8743950" y="2143125"/>
            <a:ext cx="809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3C342C"/>
                </a:solidFill>
                <a:latin typeface="Noto Serif SC"/>
                <a:ea typeface="Noto Serif SC"/>
              </a:rPr>
              <a:t>支付宝沙箱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8743950" y="2362200"/>
            <a:ext cx="8096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F8376"/>
                </a:solidFill>
                <a:latin typeface="Noto Sans SC"/>
                <a:ea typeface="Noto Sans SC"/>
              </a:rPr>
              <a:t>可演示交易</a:t>
            </a:r>
            <a:endParaRPr/>
          </a:p>
        </p:txBody>
      </p:sp>
      <p:pic>
        <p:nvPicPr>
          <p:cNvPr id="11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2771775" y="2762250"/>
            <a:ext cx="171450" cy="171450"/>
          </a:xfrm>
          <a:prstGeom prst="rect">
            <a:avLst/>
          </a:prstGeom>
          <a:ln/>
        </p:spPr>
      </p:pic>
      <p:pic>
        <p:nvPicPr>
          <p:cNvPr id="11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6010275" y="2762250"/>
            <a:ext cx="171450" cy="171450"/>
          </a:xfrm>
          <a:prstGeom prst="rect">
            <a:avLst/>
          </a:prstGeom>
          <a:ln/>
        </p:spPr>
      </p:pic>
      <p:pic>
        <p:nvPicPr>
          <p:cNvPr id="11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9248775" y="2762250"/>
            <a:ext cx="171450" cy="171450"/>
          </a:xfrm>
          <a:prstGeom prst="rect">
            <a:avLst/>
          </a:prstGeom>
          <a:ln/>
        </p:spPr>
      </p:pic>
      <p:sp>
        <p:nvSpPr>
          <p:cNvPr id="115" name=""/>
          <p:cNvSpPr/>
          <p:nvPr/>
        </p:nvSpPr>
        <p:spPr>
          <a:xfrm rot="0" flipH="0" flipV="0">
            <a:off x="609600" y="3009900"/>
            <a:ext cx="10972800" cy="60960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8EA47C"/>
              </a:gs>
              <a:gs pos="100000">
                <a:srgbClr val="6C7E58"/>
              </a:gs>
            </a:gsLst>
            <a:lin ang="2700000" scaled="1"/>
          </a:gradFill>
          <a:ln/>
          <a:effectLst>
            <a:outerShdw blurRad="228600" dist="95250" dir="5400000">
              <a:srgbClr val="6C7E58">
                <a:alpha val="26000"/>
              </a:srgbClr>
            </a:outerShdw>
          </a:effectLst>
        </p:spPr>
        <p:txBody>
          <a:bodyPr/>
          <a:p/>
        </p:txBody>
      </p:sp>
      <p:pic>
        <p:nvPicPr>
          <p:cNvPr id="11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3733800" y="3200400"/>
            <a:ext cx="228600" cy="228600"/>
          </a:xfrm>
          <a:prstGeom prst="rect">
            <a:avLst/>
          </a:prstGeom>
          <a:ln/>
        </p:spPr>
      </p:pic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4152900" y="3200400"/>
            <a:ext cx="4314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 spc="75">
                <a:solidFill>
                  <a:srgbClr val="FFFDF8"/>
                </a:solidFill>
                <a:latin typeface="Noto Serif SC"/>
                <a:ea typeface="Noto Serif SC"/>
              </a:rPr>
              <a:t>Spring Boot 3 · MyBatis-Plus · JWT · Spring AI</a:t>
            </a:r>
            <a:endParaRPr/>
          </a:p>
        </p:txBody>
      </p:sp>
      <p:pic>
        <p:nvPicPr>
          <p:cNvPr id="11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6010275" y="3695700"/>
            <a:ext cx="171450" cy="171450"/>
          </a:xfrm>
          <a:prstGeom prst="rect">
            <a:avLst/>
          </a:prstGeom>
          <a:ln/>
        </p:spPr>
      </p:pic>
      <p:sp>
        <p:nvSpPr>
          <p:cNvPr id="119" name=""/>
          <p:cNvSpPr/>
          <p:nvPr/>
        </p:nvSpPr>
        <p:spPr>
          <a:xfrm rot="0" flipH="0" flipV="0">
            <a:off x="609600" y="3943350"/>
            <a:ext cx="2600325" cy="857250"/>
          </a:xfrm>
          <a:prstGeom prst="roundRect">
            <a:avLst>
              <a:gd name="adj" fmla="val 17778"/>
            </a:avLst>
          </a:prstGeom>
          <a:solidFill>
            <a:srgbClr val="E4EDD8"/>
          </a:solidFill>
          <a:ln/>
        </p:spPr>
        <p:txBody>
          <a:bodyPr/>
          <a:p/>
        </p:txBody>
      </p:sp>
      <p:pic>
        <p:nvPicPr>
          <p:cNvPr id="12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800100" y="4124325"/>
            <a:ext cx="190500" cy="190500"/>
          </a:xfrm>
          <a:prstGeom prst="rect">
            <a:avLst/>
          </a:prstGeom>
          <a:ln/>
        </p:spPr>
      </p:pic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1085850" y="4114800"/>
            <a:ext cx="561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3C342C"/>
                </a:solidFill>
                <a:latin typeface="Noto Serif SC"/>
                <a:ea typeface="Noto Serif SC"/>
              </a:rPr>
              <a:t>MySQL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800100" y="4391025"/>
            <a:ext cx="2219325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业务数据</a:t>
            </a:r>
            <a:r>
              <a:rPr lang="en-US" sz="975">
                <a:solidFill>
                  <a:srgbClr val="8F8376"/>
                </a:solidFill>
                <a:latin typeface="Noto Sans SC"/>
                <a:ea typeface="Noto Sans SC"/>
              </a:rPr>
              <a:t> / </a:t>
            </a: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内容池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3400425" y="3943350"/>
            <a:ext cx="2600325" cy="857250"/>
          </a:xfrm>
          <a:prstGeom prst="roundRect">
            <a:avLst>
              <a:gd name="adj" fmla="val 17778"/>
            </a:avLst>
          </a:prstGeom>
          <a:solidFill>
            <a:srgbClr val="E4EDD8"/>
          </a:solidFill>
          <a:ln/>
        </p:spPr>
        <p:txBody>
          <a:bodyPr/>
          <a:p/>
        </p:txBody>
      </p:sp>
      <p:pic>
        <p:nvPicPr>
          <p:cNvPr id="12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 rot="0" flipH="0" flipV="0">
            <a:off x="3590925" y="4124325"/>
            <a:ext cx="190500" cy="190500"/>
          </a:xfrm>
          <a:prstGeom prst="rect">
            <a:avLst/>
          </a:prstGeom>
          <a:ln/>
        </p:spPr>
      </p:pic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3876675" y="4114800"/>
            <a:ext cx="3905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3C342C"/>
                </a:solidFill>
                <a:latin typeface="Noto Serif SC"/>
                <a:ea typeface="Noto Serif SC"/>
              </a:rPr>
              <a:t>Redis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3590925" y="4391025"/>
            <a:ext cx="2219325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验证码</a:t>
            </a:r>
            <a:r>
              <a:rPr lang="en-US" sz="975">
                <a:solidFill>
                  <a:srgbClr val="8F8376"/>
                </a:solidFill>
                <a:latin typeface="Noto Sans SC"/>
                <a:ea typeface="Noto Sans SC"/>
              </a:rPr>
              <a:t> / </a:t>
            </a: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会话</a:t>
            </a:r>
            <a:r>
              <a:rPr lang="en-US" sz="975">
                <a:solidFill>
                  <a:srgbClr val="8F8376"/>
                </a:solidFill>
                <a:latin typeface="Noto Sans SC"/>
                <a:ea typeface="Noto Sans SC"/>
              </a:rPr>
              <a:t> / AI </a:t>
            </a: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记忆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6191250" y="3943350"/>
            <a:ext cx="2600325" cy="857250"/>
          </a:xfrm>
          <a:prstGeom prst="roundRect">
            <a:avLst>
              <a:gd name="adj" fmla="val 17778"/>
            </a:avLst>
          </a:prstGeom>
          <a:solidFill>
            <a:srgbClr val="E4EDD8"/>
          </a:solidFill>
          <a:ln/>
        </p:spPr>
        <p:txBody>
          <a:bodyPr/>
          <a:p/>
        </p:txBody>
      </p:sp>
      <p:pic>
        <p:nvPicPr>
          <p:cNvPr id="12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 rot="0" flipH="0" flipV="0">
            <a:off x="6381750" y="4124325"/>
            <a:ext cx="190500" cy="190500"/>
          </a:xfrm>
          <a:prstGeom prst="rect">
            <a:avLst/>
          </a:prstGeom>
          <a:ln/>
        </p:spPr>
      </p:pic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6667500" y="411480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3C342C"/>
                </a:solidFill>
                <a:latin typeface="Noto Serif SC"/>
                <a:ea typeface="Noto Serif SC"/>
              </a:rPr>
              <a:t>内容安全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6381750" y="4391025"/>
            <a:ext cx="2219325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权限</a:t>
            </a:r>
            <a:r>
              <a:rPr lang="en-US" sz="975">
                <a:solidFill>
                  <a:srgbClr val="8F8376"/>
                </a:solidFill>
                <a:latin typeface="Noto Sans SC"/>
                <a:ea typeface="Noto Sans SC"/>
              </a:rPr>
              <a:t> / </a:t>
            </a: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脱敏</a:t>
            </a:r>
            <a:r>
              <a:rPr lang="en-US" sz="975">
                <a:solidFill>
                  <a:srgbClr val="8F8376"/>
                </a:solidFill>
                <a:latin typeface="Noto Sans SC"/>
                <a:ea typeface="Noto Sans SC"/>
              </a:rPr>
              <a:t> / </a:t>
            </a: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审核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8982075" y="3943350"/>
            <a:ext cx="2600325" cy="857250"/>
          </a:xfrm>
          <a:prstGeom prst="roundRect">
            <a:avLst>
              <a:gd name="adj" fmla="val 17778"/>
            </a:avLst>
          </a:prstGeom>
          <a:solidFill>
            <a:srgbClr val="E4EDD8"/>
          </a:solidFill>
          <a:ln/>
        </p:spPr>
        <p:txBody>
          <a:bodyPr/>
          <a:p/>
        </p:txBody>
      </p:sp>
      <p:pic>
        <p:nvPicPr>
          <p:cNvPr id="13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9"/>
              </a:ext>
            </a:extLst>
          </a:blip>
          <a:stretch>
            <a:fillRect/>
          </a:stretch>
        </p:blipFill>
        <p:spPr>
          <a:xfrm rot="0" flipH="0" flipV="0">
            <a:off x="9172575" y="4124325"/>
            <a:ext cx="190500" cy="190500"/>
          </a:xfrm>
          <a:prstGeom prst="rect">
            <a:avLst/>
          </a:prstGeom>
          <a:ln/>
        </p:spPr>
      </p:pic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9458325" y="411480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3C342C"/>
                </a:solidFill>
                <a:latin typeface="Noto Serif SC"/>
                <a:ea typeface="Noto Serif SC"/>
              </a:rPr>
              <a:t>交易闭环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9172575" y="4391025"/>
            <a:ext cx="2219325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沙箱支付</a:t>
            </a:r>
            <a:r>
              <a:rPr lang="en-US" sz="975">
                <a:solidFill>
                  <a:srgbClr val="8F8376"/>
                </a:solidFill>
                <a:latin typeface="Noto Sans SC"/>
                <a:ea typeface="Noto Sans SC"/>
              </a:rPr>
              <a:t> / </a:t>
            </a: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异步通知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609600" y="5010150"/>
            <a:ext cx="10972800" cy="276225"/>
          </a:xfrm>
          <a:prstGeom prst="rect"/>
        </p:spPr>
        <p:txBody>
          <a:bodyPr wrap="none" lIns="0" tIns="0" rIns="0" bIns="0"/>
          <a:p>
            <a:pPr algn="ctr">
              <a:lnSpc>
                <a:spcPct val="170000"/>
              </a:lnSpc>
            </a:pPr>
            <a:r>
              <a:rPr lang="zh-CN" sz="1050">
                <a:solidFill>
                  <a:srgbClr val="8F8376"/>
                </a:solidFill>
                <a:latin typeface="Noto Sans SC"/>
                <a:ea typeface="Noto Sans SC"/>
              </a:rPr>
              <a:t>技术架构围绕内容下发、交易闭环、智能推荐与隐私合规展开——每一层都对应一个可演示的产品能力。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609600" y="6096000"/>
            <a:ext cx="10972800" cy="571500"/>
          </a:xfrm>
          <a:custGeom>
            <a:pathLst>
              <a:path w="1152" h="6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7DCCE"/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609600" y="6315075"/>
            <a:ext cx="1095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途个惊喜</a:t>
            </a:r>
            <a:r>
              <a:rPr lang="en-US" sz="975">
                <a:solidFill>
                  <a:srgbClr val="8F8376"/>
                </a:solidFill>
                <a:latin typeface="Noto Sans SC"/>
                <a:ea typeface="Noto Sans SC"/>
              </a:rPr>
              <a:t> · </a:t>
            </a: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随盒出发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11201400" y="6315075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F8376"/>
                </a:solidFill>
                <a:latin typeface="Noto Sans SC"/>
                <a:ea typeface="Noto Sans SC"/>
              </a:rPr>
              <a:t>12 / 15</a:t>
            </a:r>
            <a:endParaRPr/>
          </a:p>
        </p:txBody>
      </p:sp>
    </p:spTree>
  </p:cSld>
</p:sld>
</file>

<file path=ppt/slides/slide13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39" name="" descr="&lt;Slide style={{ width: 1280, height: 720, background: '#F6F1E6', padding: '20px 64px', position: 'relative', overflow: 'hidden' }}&gt;&#10;    &lt;Box style={{ position: 'absolute', top: -80, right: -60, width: 300, height: 190, borderRadius: '50%', background: '#E4EDD8', opacity: 0.45 }} /&gt;&#10;    &lt;Box style={{ position: 'absolute', bottom: -120, left: -80, width: 340, height: 210, borderRadius: '50%', background: '#EFE6D6', opacity: 0.5 }} /&gt;&#10;&#10;    {/* A 标题块 */}&#10;    &lt;Box style={{ height: 100, flexDirection: 'row', alignItems: 'flex-end', justifyContent: 'space-between', position: 'relative', zIndex: 1 }}&gt;&#10;        &lt;Box style={{ gap: 4, paddingBottom: 6 }}&gt;&#10;            &lt;Text style={{ fontFamily: 'Caveat, cursive', fontSize: 17, fontWeight: 700, color: '#8EA47C', letterSpacing: 1 }}&gt;12 · Operation Loop&lt;/Text&gt;&#10;            &lt;Text style={{ fontFamily: 'Noto Serif SC, serif', fontSize: 34, fontWeight: 900, color: '#3C342C' }}&gt;运营闭环&lt;/Text&gt;&#10;            &lt;Box style={{ width: 56, height: 6, borderRadius: 3, background: '#8EA47C', marginTop: 6 }} /&gt;&#10;        &lt;/Box&gt;&#10;        &lt;Text style={{ fontFamily: 'Noto Sans SC, sans-serif', fontSize: 15, color: '#8F8376', width: 460, textAlign: 'right', lineHeight: 1.7, paddingBottom: 10 }}&gt;&#10;            管理端配置一次，用户端每次都能看到真实、可售、可更新的内容。&#10;        &lt;/Text&gt;&#10;    &lt;/Box&gt;&#10;&#10;    {/* B 内容区 */}&#10;    &lt;Box style={{ height: 520, position: 'relative', zIndex: 1, justifyContent: 'center', gap: 26 }}&gt;&#10;        {/* 五角色流 */}&#10;        &lt;Box style={{ flexDirection: 'row', alignItems: 'stretch', justifyContent: 'space-between' }}&gt;&#10;            {[&#10;                { n: '1', t: '管理端', d: '盲盒 / 线路 / 徽章 / Banner' },&#10;                { n: '2', t: '内容服务', d: '状态 / 标签 / 保底 / 权限' },&#10;                { n: '3', t: '用户端', d: '首页 / 图鉴 / 心情筛选' },&#10;                { n: '4', t: '行为数据', d: '心情 / 浏览 / 开盒 / 收集' },&#10;                { n: '5', t: '智能留存', d: 'AI 搭子 / 推荐 / 日记' },&#10;            ].map((item, idx) =&gt; (&#10;                &lt;Box key={idx} style={{ flexDirection: 'row', alignItems: 'center' }}&gt;&#10;                    &lt;Box style={{&#10;                        width: 196,&#10;                        background: '#FFFDF8',&#10;                        borderRadius: 16,&#10;                        border: '1px solid #E7DCCE',&#10;                        boxShadow: '0 4px 16px rgba(60,52,44,0.06)',&#10;                        padding: '20px 18px',&#10;                        gap: 10,&#10;                    }}&gt;&#10;                        &lt;Box style={{ flexDirection: 'row', alignItems: 'center', gap: 10 }}&gt;&#10;                            &lt;Box style={{&#10;                                width: 34,&#10;                                height: 34,&#10;                                borderRadius: '50%',&#10;                                background: 'linear-gradient(135deg, #8EA47C 0%, #6C7E58 100%)',&#10;                                alignItems: 'center',&#10;                                justifyContent: 'center',&#10;                            }}&gt;&#10;                                &lt;Text style={{ fontFamily: 'Noto Serif SC, serif', fontSize: 16, fontWeight: 900, color: '#FFFDF8' }}&gt;{item.n}&lt;/Text&gt;&#10;                            &lt;/Box&gt;&#10;                            &lt;Text style={{ fontFamily: 'Noto Serif SC, serif', fontSize: 18, fontWeight: 700, color: '#3C342C' }}&gt;{item.t}&lt;/Text&gt;&#10;                        &lt;/Box&gt;&#10;                        &lt;Text style={{ fontFamily: 'Noto Sans SC, sans-serif', fontSize: 13, color: '#8F8376', lineHeight: 1.6 }}&gt;{item.d}&lt;/Text&gt;&#10;                    &lt;/Box&gt;&#10;                    {idx &lt; 4 &amp;&amp; (&#10;                        &lt;Box style={{ width: 28, alignItems: 'center', justifyContent: 'center' }}&gt;&#10;                            &lt;FAIcon name=&quot;arrow-right&quot; style={{ fill: '#C9D6B8', width: 18, height: 18 }} /&gt;&#10;                        &lt;/Box&gt;&#10;                    )}&#10;                &lt;/Box&gt;&#10;            ))}&#10;        &lt;/Box&gt;&#10;&#10;        {/* 回流箭头 */}&#10;        &lt;Box style={{ alignItems: 'center', gap: 8 }}&gt;&#10;            &lt;svg width={900} height={54} viewBox=&quot;0 0 900 54&quot;&gt;&#10;                &lt;path d=&quot;M 850 6 L 850 30 L 50 30 L 50 44&quot; fill=&quot;none&quot; stroke=&quot;#C9D6B8&quot; strokeWidth=&quot;2.5&quot; strokeDasharray=&quot;7 6&quot; /&gt;&#10;                &lt;path d=&quot;M 42 38 L 50 48 L 58 38&quot; fill=&quot;none&quot; stroke=&quot;#C9D6B8&quot; strokeWidth=&quot;2.5&quot; /&gt;&#10;                &lt;rect x=&quot;350&quot; y=&quot;16&quot; width=&quot;200&quot; height=&quot;28&quot; rx=&quot;14&quot; fill=&quot;#E4EDD8&quot; /&gt;&#10;                &lt;text x=&quot;450&quot; y=&quot;35&quot; textAnchor=&quot;middle&quot; fontSize=&quot;14&quot; fill=&quot;#6C7E58&quot; fontWeight=&quot;600&quot;&gt;数据回流，配置越调越准&lt;/text&gt;&#10;            &lt;/svg&gt;&#10;        &lt;/Box&gt;&#10;&#10;        {/* 阶段二价值 */}&#10;        &lt;Box style={{&#10;            height: 74,&#10;            borderRadius: 16,&#10;            background: 'linear-gradient(135deg, #8EA47C 0%, #6C7E58 100%)',&#10;            flexDirection: 'row',&#10;            alignItems: 'center',&#10;            padding: '0 28px',&#10;            gap: 18,&#10;            boxShadow: '0 10px 24px rgba(108,126,88,0.26)',&#10;        }}&gt;&#10;            &lt;Text style={{ fontFamily: 'Noto Serif SC, serif', fontSize: 17, fontWeight: 700, color: '#FFFDF8' }}&gt;阶段二的价值&lt;/Text&gt;&#10;            &lt;Box style={{ width: 1, height: 28, background: 'rgba(255,253,248,0.4)' }} /&gt;&#10;            &lt;Text style={{ fontFamily: 'Noto Sans SC, sans-serif', fontSize: 15, color: '#FFFDF8', lineHeight: 1.6 }}&gt;&#10;                先让「配置下发 → 用户看见」成为稳定可验证的产品能力——内容域跑通，交易、AI、统计和社交才有地基。&#10;            &lt;/Text&gt;&#10;        &lt;/Box&gt;&#10;    &lt;/Box&gt;&#10;&#10;    {/* C 页脚 */}&#10;    &lt;Box style={{ height: 60, flexDirection: 'row', alignItems: 'center', justifyContent: 'space-between', borderTop: '1px solid #E7DCCE', position: 'relative', zIndex: 1 }}&gt;&#10;        &lt;Text style={{ fontFamily: 'Noto Sans SC, sans-serif', fontSize: 13, color: '#8F8376' }}&gt;途个惊喜 · 随盒出发&lt;/Text&gt;&#10;        &lt;Text style={{ fontFamily: 'Noto Sans SC, sans-serif', fontSize: 13, color: '#8F8376' }}&gt;13 / 1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6F1E6"/>
          </a:solidFill>
          <a:ln/>
        </p:spPr>
        <p:txBody>
          <a:bodyPr/>
          <a:p/>
        </p:txBody>
      </p:sp>
      <p:sp>
        <p:nvSpPr>
          <p:cNvPr id="141" name=""/>
          <p:cNvSpPr/>
          <p:nvPr/>
        </p:nvSpPr>
        <p:spPr>
          <a:xfrm rot="0" flipH="0" flipV="0">
            <a:off x="9906000" y="-762000"/>
            <a:ext cx="2857500" cy="1809750"/>
          </a:xfrm>
          <a:custGeom>
            <a:pathLst>
              <a:path w="300" h="190">
                <a:moveTo>
                  <a:pt x="240" y="171"/>
                </a:moveTo>
                <a:cubicBezTo>
                  <a:pt x="161" y="211"/>
                  <a:pt x="66" y="192"/>
                  <a:pt x="8" y="125"/>
                </a:cubicBezTo>
                <a:cubicBezTo>
                  <a:pt x="0" y="112"/>
                  <a:pt x="-2" y="95"/>
                  <a:pt x="2" y="80"/>
                </a:cubicBezTo>
                <a:lnTo>
                  <a:pt x="240" y="80"/>
                </a:lnTo>
                <a:close/>
              </a:path>
            </a:pathLst>
          </a:custGeom>
          <a:solidFill>
            <a:srgbClr val="E4EDD8">
              <a:alpha val="45000"/>
            </a:srgbClr>
          </a:solidFill>
          <a:ln/>
        </p:spPr>
        <p:txBody>
          <a:bodyPr/>
          <a:p/>
        </p:txBody>
      </p:sp>
      <p:sp>
        <p:nvSpPr>
          <p:cNvPr id="142" name=""/>
          <p:cNvSpPr/>
          <p:nvPr/>
        </p:nvSpPr>
        <p:spPr>
          <a:xfrm rot="0" flipH="0" flipV="0">
            <a:off x="-762000" y="6000750"/>
            <a:ext cx="3238500" cy="2000250"/>
          </a:xfrm>
          <a:custGeom>
            <a:pathLst>
              <a:path w="340" h="210">
                <a:moveTo>
                  <a:pt x="174" y="0"/>
                </a:moveTo>
                <a:cubicBezTo>
                  <a:pt x="241" y="-7"/>
                  <a:pt x="306" y="27"/>
                  <a:pt x="337" y="86"/>
                </a:cubicBezTo>
                <a:lnTo>
                  <a:pt x="338" y="89"/>
                </a:lnTo>
                <a:lnTo>
                  <a:pt x="338" y="90"/>
                </a:lnTo>
                <a:lnTo>
                  <a:pt x="80" y="90"/>
                </a:lnTo>
                <a:lnTo>
                  <a:pt x="80" y="16"/>
                </a:lnTo>
                <a:cubicBezTo>
                  <a:pt x="109" y="5"/>
                  <a:pt x="139" y="0"/>
                  <a:pt x="170" y="0"/>
                </a:cubicBezTo>
                <a:close/>
              </a:path>
            </a:pathLst>
          </a:custGeom>
          <a:solidFill>
            <a:srgbClr val="EFE6D6">
              <a:alpha val="50000"/>
            </a:srgbClr>
          </a:solidFill>
          <a:ln/>
        </p:spPr>
        <p:txBody>
          <a:bodyPr/>
          <a:p/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609600" y="304800"/>
            <a:ext cx="1704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 spc="75">
                <a:solidFill>
                  <a:srgbClr val="8EA47C"/>
                </a:solidFill>
                <a:latin typeface="Caveat"/>
                <a:ea typeface="Caveat"/>
              </a:rPr>
              <a:t>12 · Operation Loop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609600" y="542925"/>
            <a:ext cx="17049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3C342C"/>
                </a:solidFill>
                <a:latin typeface="Noto Serif SC"/>
                <a:ea typeface="Noto Serif SC"/>
              </a:rPr>
              <a:t>运营闭环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609600" y="1028700"/>
            <a:ext cx="533400" cy="57150"/>
          </a:xfrm>
          <a:prstGeom prst="roundRect">
            <a:avLst>
              <a:gd name="adj" fmla="val 50000"/>
            </a:avLst>
          </a:prstGeom>
          <a:solidFill>
            <a:srgbClr val="8EA47C"/>
          </a:solidFill>
          <a:ln/>
        </p:spPr>
        <p:txBody>
          <a:bodyPr/>
          <a:p/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7200900" y="752475"/>
            <a:ext cx="4381500" cy="390525"/>
          </a:xfrm>
          <a:prstGeom prst="rect"/>
        </p:spPr>
        <p:txBody>
          <a:bodyPr wrap="none" lIns="0" tIns="0" rIns="0" bIns="71438"/>
          <a:p>
            <a:pPr algn="r">
              <a:lnSpc>
                <a:spcPct val="170000"/>
              </a:lnSpc>
            </a:pPr>
            <a:r>
              <a:rPr lang="zh-CN" sz="1125">
                <a:solidFill>
                  <a:srgbClr val="8F8376"/>
                </a:solidFill>
                <a:latin typeface="Noto Sans SC"/>
                <a:ea typeface="Noto Sans SC"/>
              </a:rPr>
              <a:t>管理端配置一次，用户端每次都能看到真实、可售、可更新的内容。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609600" y="2247900"/>
            <a:ext cx="1866900" cy="1038225"/>
          </a:xfrm>
          <a:prstGeom prst="roundRect">
            <a:avLst>
              <a:gd name="adj" fmla="val 14679"/>
            </a:avLst>
          </a:prstGeom>
          <a:solidFill>
            <a:srgbClr val="FFFDF8"/>
          </a:solidFill>
          <a:ln w="12700">
            <a:solidFill>
              <a:srgbClr val="E7DCCE"/>
            </a:solidFill>
            <a:prstDash val="solid"/>
          </a:ln>
          <a:effectLst>
            <a:outerShdw blurRad="152400" dist="38100" dir="5400000">
              <a:srgbClr val="3C342C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48" name=""/>
          <p:cNvSpPr/>
          <p:nvPr/>
        </p:nvSpPr>
        <p:spPr>
          <a:xfrm rot="0" flipH="0" flipV="0">
            <a:off x="781050" y="2438400"/>
            <a:ext cx="323850" cy="323850"/>
          </a:xfrm>
          <a:custGeom>
            <a:pathLst>
              <a:path w="34" h="34">
                <a:moveTo>
                  <a:pt x="17" y="0"/>
                </a:moveTo>
                <a:lnTo>
                  <a:pt x="17" y="0"/>
                </a:lnTo>
                <a:cubicBezTo>
                  <a:pt x="26" y="0"/>
                  <a:pt x="34" y="8"/>
                  <a:pt x="34" y="17"/>
                </a:cubicBezTo>
                <a:lnTo>
                  <a:pt x="34" y="17"/>
                </a:lnTo>
                <a:cubicBezTo>
                  <a:pt x="34" y="26"/>
                  <a:pt x="26" y="34"/>
                  <a:pt x="17" y="34"/>
                </a:cubicBezTo>
                <a:lnTo>
                  <a:pt x="17" y="34"/>
                </a:lnTo>
                <a:cubicBezTo>
                  <a:pt x="8" y="34"/>
                  <a:pt x="0" y="26"/>
                  <a:pt x="0" y="17"/>
                </a:cubicBezTo>
                <a:lnTo>
                  <a:pt x="0" y="17"/>
                </a:lnTo>
                <a:cubicBezTo>
                  <a:pt x="0" y="8"/>
                  <a:pt x="8" y="0"/>
                  <a:pt x="17" y="0"/>
                </a:cubicBezTo>
                <a:close/>
              </a:path>
            </a:pathLst>
          </a:custGeom>
          <a:gradFill>
            <a:gsLst>
              <a:gs pos="0">
                <a:srgbClr val="8EA47C"/>
              </a:gs>
              <a:gs pos="100000">
                <a:srgbClr val="6C7E58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904875" y="2505075"/>
            <a:ext cx="7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DF8"/>
                </a:solidFill>
                <a:latin typeface="Noto Serif SC"/>
                <a:ea typeface="Noto Serif SC"/>
              </a:rPr>
              <a:t>1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1200150" y="2495550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C342C"/>
                </a:solidFill>
                <a:latin typeface="Noto Serif SC"/>
                <a:ea typeface="Noto Serif SC"/>
              </a:rPr>
              <a:t>管理端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781050" y="2857500"/>
            <a:ext cx="152400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盲盒</a:t>
            </a:r>
            <a:r>
              <a:rPr lang="en-US" sz="975">
                <a:solidFill>
                  <a:srgbClr val="8F8376"/>
                </a:solidFill>
                <a:latin typeface="Noto Sans SC"/>
                <a:ea typeface="Noto Sans SC"/>
              </a:rPr>
              <a:t> / </a:t>
            </a: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线路</a:t>
            </a:r>
            <a:r>
              <a:rPr lang="en-US" sz="975">
                <a:solidFill>
                  <a:srgbClr val="8F8376"/>
                </a:solidFill>
                <a:latin typeface="Noto Sans SC"/>
                <a:ea typeface="Noto Sans SC"/>
              </a:rPr>
              <a:t> / </a:t>
            </a: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徽章</a:t>
            </a:r>
            <a:r>
              <a:rPr lang="en-US" sz="975">
                <a:solidFill>
                  <a:srgbClr val="8F8376"/>
                </a:solidFill>
                <a:latin typeface="Noto Sans SC"/>
                <a:ea typeface="Noto Sans SC"/>
              </a:rPr>
              <a:t> / Banner</a:t>
            </a:r>
            <a:endParaRPr/>
          </a:p>
        </p:txBody>
      </p:sp>
      <p:pic>
        <p:nvPicPr>
          <p:cNvPr id="15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2524125" y="2686050"/>
            <a:ext cx="171450" cy="171450"/>
          </a:xfrm>
          <a:prstGeom prst="rect">
            <a:avLst/>
          </a:prstGeom>
          <a:ln/>
        </p:spPr>
      </p:pic>
      <p:sp>
        <p:nvSpPr>
          <p:cNvPr id="153" name=""/>
          <p:cNvSpPr/>
          <p:nvPr/>
        </p:nvSpPr>
        <p:spPr>
          <a:xfrm rot="0" flipH="0" flipV="0">
            <a:off x="2886075" y="2247900"/>
            <a:ext cx="1866900" cy="1038225"/>
          </a:xfrm>
          <a:prstGeom prst="roundRect">
            <a:avLst>
              <a:gd name="adj" fmla="val 14679"/>
            </a:avLst>
          </a:prstGeom>
          <a:solidFill>
            <a:srgbClr val="FFFDF8"/>
          </a:solidFill>
          <a:ln w="12700">
            <a:solidFill>
              <a:srgbClr val="E7DCCE"/>
            </a:solidFill>
            <a:prstDash val="solid"/>
          </a:ln>
          <a:effectLst>
            <a:outerShdw blurRad="152400" dist="38100" dir="5400000">
              <a:srgbClr val="3C342C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54" name=""/>
          <p:cNvSpPr/>
          <p:nvPr/>
        </p:nvSpPr>
        <p:spPr>
          <a:xfrm rot="0" flipH="0" flipV="0">
            <a:off x="3057525" y="2438400"/>
            <a:ext cx="323850" cy="323850"/>
          </a:xfrm>
          <a:custGeom>
            <a:pathLst>
              <a:path w="34" h="34">
                <a:moveTo>
                  <a:pt x="17" y="0"/>
                </a:moveTo>
                <a:lnTo>
                  <a:pt x="17" y="0"/>
                </a:lnTo>
                <a:cubicBezTo>
                  <a:pt x="26" y="0"/>
                  <a:pt x="34" y="8"/>
                  <a:pt x="34" y="17"/>
                </a:cubicBezTo>
                <a:lnTo>
                  <a:pt x="34" y="17"/>
                </a:lnTo>
                <a:cubicBezTo>
                  <a:pt x="34" y="26"/>
                  <a:pt x="26" y="34"/>
                  <a:pt x="17" y="34"/>
                </a:cubicBezTo>
                <a:lnTo>
                  <a:pt x="17" y="34"/>
                </a:lnTo>
                <a:cubicBezTo>
                  <a:pt x="8" y="34"/>
                  <a:pt x="0" y="26"/>
                  <a:pt x="0" y="17"/>
                </a:cubicBezTo>
                <a:lnTo>
                  <a:pt x="0" y="17"/>
                </a:lnTo>
                <a:cubicBezTo>
                  <a:pt x="0" y="8"/>
                  <a:pt x="8" y="0"/>
                  <a:pt x="17" y="0"/>
                </a:cubicBezTo>
                <a:close/>
              </a:path>
            </a:pathLst>
          </a:custGeom>
          <a:gradFill>
            <a:gsLst>
              <a:gs pos="0">
                <a:srgbClr val="8EA47C"/>
              </a:gs>
              <a:gs pos="100000">
                <a:srgbClr val="6C7E58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3181350" y="2505075"/>
            <a:ext cx="7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DF8"/>
                </a:solidFill>
                <a:latin typeface="Noto Serif SC"/>
                <a:ea typeface="Noto Serif SC"/>
              </a:rPr>
              <a:t>2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3476625" y="249555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C342C"/>
                </a:solidFill>
                <a:latin typeface="Noto Serif SC"/>
                <a:ea typeface="Noto Serif SC"/>
              </a:rPr>
              <a:t>内容服务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3057525" y="2857500"/>
            <a:ext cx="152400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状态</a:t>
            </a:r>
            <a:r>
              <a:rPr lang="en-US" sz="975">
                <a:solidFill>
                  <a:srgbClr val="8F8376"/>
                </a:solidFill>
                <a:latin typeface="Noto Sans SC"/>
                <a:ea typeface="Noto Sans SC"/>
              </a:rPr>
              <a:t> / </a:t>
            </a: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标签</a:t>
            </a:r>
            <a:r>
              <a:rPr lang="en-US" sz="975">
                <a:solidFill>
                  <a:srgbClr val="8F8376"/>
                </a:solidFill>
                <a:latin typeface="Noto Sans SC"/>
                <a:ea typeface="Noto Sans SC"/>
              </a:rPr>
              <a:t> / </a:t>
            </a: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保底</a:t>
            </a:r>
            <a:r>
              <a:rPr lang="en-US" sz="975">
                <a:solidFill>
                  <a:srgbClr val="8F8376"/>
                </a:solidFill>
                <a:latin typeface="Noto Sans SC"/>
                <a:ea typeface="Noto Sans SC"/>
              </a:rPr>
              <a:t> / </a:t>
            </a: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权限</a:t>
            </a:r>
            <a:endParaRPr/>
          </a:p>
        </p:txBody>
      </p:sp>
      <p:pic>
        <p:nvPicPr>
          <p:cNvPr id="15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800600" y="2686050"/>
            <a:ext cx="171450" cy="171450"/>
          </a:xfrm>
          <a:prstGeom prst="rect">
            <a:avLst/>
          </a:prstGeom>
          <a:ln/>
        </p:spPr>
      </p:pic>
      <p:sp>
        <p:nvSpPr>
          <p:cNvPr id="159" name=""/>
          <p:cNvSpPr/>
          <p:nvPr/>
        </p:nvSpPr>
        <p:spPr>
          <a:xfrm rot="0" flipH="0" flipV="0">
            <a:off x="5162550" y="2247900"/>
            <a:ext cx="1866900" cy="1038225"/>
          </a:xfrm>
          <a:prstGeom prst="roundRect">
            <a:avLst>
              <a:gd name="adj" fmla="val 14679"/>
            </a:avLst>
          </a:prstGeom>
          <a:solidFill>
            <a:srgbClr val="FFFDF8"/>
          </a:solidFill>
          <a:ln w="12700">
            <a:solidFill>
              <a:srgbClr val="E7DCCE"/>
            </a:solidFill>
            <a:prstDash val="solid"/>
          </a:ln>
          <a:effectLst>
            <a:outerShdw blurRad="152400" dist="38100" dir="5400000">
              <a:srgbClr val="3C342C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60" name=""/>
          <p:cNvSpPr/>
          <p:nvPr/>
        </p:nvSpPr>
        <p:spPr>
          <a:xfrm rot="0" flipH="0" flipV="0">
            <a:off x="5334000" y="2438400"/>
            <a:ext cx="323850" cy="323850"/>
          </a:xfrm>
          <a:custGeom>
            <a:pathLst>
              <a:path w="34" h="34">
                <a:moveTo>
                  <a:pt x="17" y="0"/>
                </a:moveTo>
                <a:lnTo>
                  <a:pt x="17" y="0"/>
                </a:lnTo>
                <a:cubicBezTo>
                  <a:pt x="26" y="0"/>
                  <a:pt x="34" y="8"/>
                  <a:pt x="34" y="17"/>
                </a:cubicBezTo>
                <a:lnTo>
                  <a:pt x="34" y="17"/>
                </a:lnTo>
                <a:cubicBezTo>
                  <a:pt x="34" y="26"/>
                  <a:pt x="26" y="34"/>
                  <a:pt x="17" y="34"/>
                </a:cubicBezTo>
                <a:lnTo>
                  <a:pt x="17" y="34"/>
                </a:lnTo>
                <a:cubicBezTo>
                  <a:pt x="8" y="34"/>
                  <a:pt x="0" y="26"/>
                  <a:pt x="0" y="17"/>
                </a:cubicBezTo>
                <a:lnTo>
                  <a:pt x="0" y="17"/>
                </a:lnTo>
                <a:cubicBezTo>
                  <a:pt x="0" y="8"/>
                  <a:pt x="8" y="0"/>
                  <a:pt x="17" y="0"/>
                </a:cubicBezTo>
                <a:close/>
              </a:path>
            </a:pathLst>
          </a:custGeom>
          <a:gradFill>
            <a:gsLst>
              <a:gs pos="0">
                <a:srgbClr val="8EA47C"/>
              </a:gs>
              <a:gs pos="100000">
                <a:srgbClr val="6C7E58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5457825" y="2505075"/>
            <a:ext cx="7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DF8"/>
                </a:solidFill>
                <a:latin typeface="Noto Serif SC"/>
                <a:ea typeface="Noto Serif SC"/>
              </a:rPr>
              <a:t>3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5753100" y="2495550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C342C"/>
                </a:solidFill>
                <a:latin typeface="Noto Serif SC"/>
                <a:ea typeface="Noto Serif SC"/>
              </a:rPr>
              <a:t>用户端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5334000" y="2857500"/>
            <a:ext cx="152400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首页</a:t>
            </a:r>
            <a:r>
              <a:rPr lang="en-US" sz="975">
                <a:solidFill>
                  <a:srgbClr val="8F8376"/>
                </a:solidFill>
                <a:latin typeface="Noto Sans SC"/>
                <a:ea typeface="Noto Sans SC"/>
              </a:rPr>
              <a:t> / </a:t>
            </a: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图鉴</a:t>
            </a:r>
            <a:r>
              <a:rPr lang="en-US" sz="975">
                <a:solidFill>
                  <a:srgbClr val="8F8376"/>
                </a:solidFill>
                <a:latin typeface="Noto Sans SC"/>
                <a:ea typeface="Noto Sans SC"/>
              </a:rPr>
              <a:t> / </a:t>
            </a: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心情筛选</a:t>
            </a:r>
            <a:endParaRPr/>
          </a:p>
        </p:txBody>
      </p:sp>
      <p:pic>
        <p:nvPicPr>
          <p:cNvPr id="16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077075" y="2686050"/>
            <a:ext cx="171450" cy="171450"/>
          </a:xfrm>
          <a:prstGeom prst="rect">
            <a:avLst/>
          </a:prstGeom>
          <a:ln/>
        </p:spPr>
      </p:pic>
      <p:sp>
        <p:nvSpPr>
          <p:cNvPr id="165" name=""/>
          <p:cNvSpPr/>
          <p:nvPr/>
        </p:nvSpPr>
        <p:spPr>
          <a:xfrm rot="0" flipH="0" flipV="0">
            <a:off x="7439025" y="2247900"/>
            <a:ext cx="1866900" cy="1038225"/>
          </a:xfrm>
          <a:prstGeom prst="roundRect">
            <a:avLst>
              <a:gd name="adj" fmla="val 14679"/>
            </a:avLst>
          </a:prstGeom>
          <a:solidFill>
            <a:srgbClr val="FFFDF8"/>
          </a:solidFill>
          <a:ln w="12700">
            <a:solidFill>
              <a:srgbClr val="E7DCCE"/>
            </a:solidFill>
            <a:prstDash val="solid"/>
          </a:ln>
          <a:effectLst>
            <a:outerShdw blurRad="152400" dist="38100" dir="5400000">
              <a:srgbClr val="3C342C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66" name=""/>
          <p:cNvSpPr/>
          <p:nvPr/>
        </p:nvSpPr>
        <p:spPr>
          <a:xfrm rot="0" flipH="0" flipV="0">
            <a:off x="7610475" y="2438400"/>
            <a:ext cx="323850" cy="323850"/>
          </a:xfrm>
          <a:custGeom>
            <a:pathLst>
              <a:path w="34" h="34">
                <a:moveTo>
                  <a:pt x="17" y="0"/>
                </a:moveTo>
                <a:lnTo>
                  <a:pt x="17" y="0"/>
                </a:lnTo>
                <a:cubicBezTo>
                  <a:pt x="26" y="0"/>
                  <a:pt x="34" y="8"/>
                  <a:pt x="34" y="17"/>
                </a:cubicBezTo>
                <a:lnTo>
                  <a:pt x="34" y="17"/>
                </a:lnTo>
                <a:cubicBezTo>
                  <a:pt x="34" y="26"/>
                  <a:pt x="26" y="34"/>
                  <a:pt x="17" y="34"/>
                </a:cubicBezTo>
                <a:lnTo>
                  <a:pt x="17" y="34"/>
                </a:lnTo>
                <a:cubicBezTo>
                  <a:pt x="8" y="34"/>
                  <a:pt x="0" y="26"/>
                  <a:pt x="0" y="17"/>
                </a:cubicBezTo>
                <a:lnTo>
                  <a:pt x="0" y="17"/>
                </a:lnTo>
                <a:cubicBezTo>
                  <a:pt x="0" y="8"/>
                  <a:pt x="8" y="0"/>
                  <a:pt x="17" y="0"/>
                </a:cubicBezTo>
                <a:close/>
              </a:path>
            </a:pathLst>
          </a:custGeom>
          <a:gradFill>
            <a:gsLst>
              <a:gs pos="0">
                <a:srgbClr val="8EA47C"/>
              </a:gs>
              <a:gs pos="100000">
                <a:srgbClr val="6C7E58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7734300" y="2505075"/>
            <a:ext cx="7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DF8"/>
                </a:solidFill>
                <a:latin typeface="Noto Serif SC"/>
                <a:ea typeface="Noto Serif SC"/>
              </a:rPr>
              <a:t>4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8029575" y="249555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C342C"/>
                </a:solidFill>
                <a:latin typeface="Noto Serif SC"/>
                <a:ea typeface="Noto Serif SC"/>
              </a:rPr>
              <a:t>行为数据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7610475" y="2857500"/>
            <a:ext cx="152400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心情</a:t>
            </a:r>
            <a:r>
              <a:rPr lang="en-US" sz="975">
                <a:solidFill>
                  <a:srgbClr val="8F8376"/>
                </a:solidFill>
                <a:latin typeface="Noto Sans SC"/>
                <a:ea typeface="Noto Sans SC"/>
              </a:rPr>
              <a:t> / </a:t>
            </a: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浏览</a:t>
            </a:r>
            <a:r>
              <a:rPr lang="en-US" sz="975">
                <a:solidFill>
                  <a:srgbClr val="8F8376"/>
                </a:solidFill>
                <a:latin typeface="Noto Sans SC"/>
                <a:ea typeface="Noto Sans SC"/>
              </a:rPr>
              <a:t> / </a:t>
            </a: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开盒</a:t>
            </a:r>
            <a:r>
              <a:rPr lang="en-US" sz="975">
                <a:solidFill>
                  <a:srgbClr val="8F8376"/>
                </a:solidFill>
                <a:latin typeface="Noto Sans SC"/>
                <a:ea typeface="Noto Sans SC"/>
              </a:rPr>
              <a:t> / </a:t>
            </a: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收集</a:t>
            </a:r>
            <a:endParaRPr/>
          </a:p>
        </p:txBody>
      </p:sp>
      <p:pic>
        <p:nvPicPr>
          <p:cNvPr id="17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353550" y="2686050"/>
            <a:ext cx="171450" cy="171450"/>
          </a:xfrm>
          <a:prstGeom prst="rect">
            <a:avLst/>
          </a:prstGeom>
          <a:ln/>
        </p:spPr>
      </p:pic>
      <p:sp>
        <p:nvSpPr>
          <p:cNvPr id="171" name=""/>
          <p:cNvSpPr/>
          <p:nvPr/>
        </p:nvSpPr>
        <p:spPr>
          <a:xfrm rot="0" flipH="0" flipV="0">
            <a:off x="9715500" y="2247900"/>
            <a:ext cx="1866900" cy="1038225"/>
          </a:xfrm>
          <a:prstGeom prst="roundRect">
            <a:avLst>
              <a:gd name="adj" fmla="val 14679"/>
            </a:avLst>
          </a:prstGeom>
          <a:solidFill>
            <a:srgbClr val="FFFDF8"/>
          </a:solidFill>
          <a:ln w="12700">
            <a:solidFill>
              <a:srgbClr val="E7DCCE"/>
            </a:solidFill>
            <a:prstDash val="solid"/>
          </a:ln>
          <a:effectLst>
            <a:outerShdw blurRad="152400" dist="38100" dir="5400000">
              <a:srgbClr val="3C342C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72" name=""/>
          <p:cNvSpPr/>
          <p:nvPr/>
        </p:nvSpPr>
        <p:spPr>
          <a:xfrm rot="0" flipH="0" flipV="0">
            <a:off x="9886950" y="2438400"/>
            <a:ext cx="323850" cy="323850"/>
          </a:xfrm>
          <a:custGeom>
            <a:pathLst>
              <a:path w="34" h="34">
                <a:moveTo>
                  <a:pt x="17" y="0"/>
                </a:moveTo>
                <a:lnTo>
                  <a:pt x="17" y="0"/>
                </a:lnTo>
                <a:cubicBezTo>
                  <a:pt x="26" y="0"/>
                  <a:pt x="34" y="8"/>
                  <a:pt x="34" y="17"/>
                </a:cubicBezTo>
                <a:lnTo>
                  <a:pt x="34" y="17"/>
                </a:lnTo>
                <a:cubicBezTo>
                  <a:pt x="34" y="26"/>
                  <a:pt x="26" y="34"/>
                  <a:pt x="17" y="34"/>
                </a:cubicBezTo>
                <a:lnTo>
                  <a:pt x="17" y="34"/>
                </a:lnTo>
                <a:cubicBezTo>
                  <a:pt x="8" y="34"/>
                  <a:pt x="0" y="26"/>
                  <a:pt x="0" y="17"/>
                </a:cubicBezTo>
                <a:lnTo>
                  <a:pt x="0" y="17"/>
                </a:lnTo>
                <a:cubicBezTo>
                  <a:pt x="0" y="8"/>
                  <a:pt x="8" y="0"/>
                  <a:pt x="17" y="0"/>
                </a:cubicBezTo>
                <a:close/>
              </a:path>
            </a:pathLst>
          </a:custGeom>
          <a:gradFill>
            <a:gsLst>
              <a:gs pos="0">
                <a:srgbClr val="8EA47C"/>
              </a:gs>
              <a:gs pos="100000">
                <a:srgbClr val="6C7E58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10010775" y="2505075"/>
            <a:ext cx="7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DF8"/>
                </a:solidFill>
                <a:latin typeface="Noto Serif SC"/>
                <a:ea typeface="Noto Serif SC"/>
              </a:rPr>
              <a:t>5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10306050" y="249555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C342C"/>
                </a:solidFill>
                <a:latin typeface="Noto Serif SC"/>
                <a:ea typeface="Noto Serif SC"/>
              </a:rPr>
              <a:t>智能留存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9886950" y="2857500"/>
            <a:ext cx="152400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8F8376"/>
                </a:solidFill>
                <a:latin typeface="Noto Sans SC"/>
                <a:ea typeface="Noto Sans SC"/>
              </a:rPr>
              <a:t>AI </a:t>
            </a: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搭子</a:t>
            </a:r>
            <a:r>
              <a:rPr lang="en-US" sz="975">
                <a:solidFill>
                  <a:srgbClr val="8F8376"/>
                </a:solidFill>
                <a:latin typeface="Noto Sans SC"/>
                <a:ea typeface="Noto Sans SC"/>
              </a:rPr>
              <a:t> / </a:t>
            </a: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推荐</a:t>
            </a:r>
            <a:r>
              <a:rPr lang="en-US" sz="975">
                <a:solidFill>
                  <a:srgbClr val="8F8376"/>
                </a:solidFill>
                <a:latin typeface="Noto Sans SC"/>
                <a:ea typeface="Noto Sans SC"/>
              </a:rPr>
              <a:t> / </a:t>
            </a: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日记</a:t>
            </a:r>
            <a:endParaRPr/>
          </a:p>
        </p:txBody>
      </p:sp>
      <p:pic>
        <p:nvPicPr>
          <p:cNvPr id="17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809750" y="3533775"/>
            <a:ext cx="8572500" cy="514350"/>
          </a:xfrm>
          <a:prstGeom prst="rect">
            <a:avLst/>
          </a:prstGeom>
          <a:ln/>
        </p:spPr>
      </p:pic>
      <p:sp>
        <p:nvSpPr>
          <p:cNvPr id="177" name=""/>
          <p:cNvSpPr/>
          <p:nvPr/>
        </p:nvSpPr>
        <p:spPr>
          <a:xfrm rot="0" flipH="0" flipV="0">
            <a:off x="609600" y="4295775"/>
            <a:ext cx="10972800" cy="704850"/>
          </a:xfrm>
          <a:prstGeom prst="roundRect">
            <a:avLst>
              <a:gd name="adj" fmla="val 21622"/>
            </a:avLst>
          </a:prstGeom>
          <a:gradFill>
            <a:gsLst>
              <a:gs pos="0">
                <a:srgbClr val="8EA47C"/>
              </a:gs>
              <a:gs pos="100000">
                <a:srgbClr val="6C7E58"/>
              </a:gs>
            </a:gsLst>
            <a:lin ang="2700000" scaled="1"/>
          </a:gradFill>
          <a:ln/>
          <a:effectLst>
            <a:outerShdw blurRad="228600" dist="95250" dir="5400000">
              <a:srgbClr val="6C7E58">
                <a:alpha val="26000"/>
              </a:srgbClr>
            </a:outerShdw>
          </a:effectLst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876300" y="4552950"/>
            <a:ext cx="971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DF8"/>
                </a:solidFill>
                <a:latin typeface="Noto Serif SC"/>
                <a:ea typeface="Noto Serif SC"/>
              </a:rPr>
              <a:t>阶段二的价值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2019300" y="4514850"/>
            <a:ext cx="9525" cy="266700"/>
          </a:xfrm>
          <a:prstGeom prst="rect">
            <a:avLst/>
          </a:prstGeom>
          <a:solidFill>
            <a:srgbClr val="FFFDF8">
              <a:alpha val="40000"/>
            </a:srgbClr>
          </a:soli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2200275" y="4514850"/>
            <a:ext cx="69342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FFFDF8"/>
                </a:solidFill>
                <a:latin typeface="Noto Sans SC"/>
                <a:ea typeface="Noto Sans SC"/>
              </a:rPr>
              <a:t>先让「配置下发</a:t>
            </a:r>
            <a:r>
              <a:rPr lang="en-US" sz="1125">
                <a:solidFill>
                  <a:srgbClr val="FFFDF8"/>
                </a:solidFill>
                <a:latin typeface="Noto Sans SC"/>
                <a:ea typeface="Noto Sans SC"/>
              </a:rPr>
              <a:t> → </a:t>
            </a:r>
            <a:r>
              <a:rPr lang="zh-CN" sz="1125">
                <a:solidFill>
                  <a:srgbClr val="FFFDF8"/>
                </a:solidFill>
                <a:latin typeface="Noto Sans SC"/>
                <a:ea typeface="Noto Sans SC"/>
              </a:rPr>
              <a:t>用户看见」成为稳定可验证的产品能力——内容域跑通，交易、</a:t>
            </a:r>
            <a:r>
              <a:rPr lang="en-US" sz="1125">
                <a:solidFill>
                  <a:srgbClr val="FFFDF8"/>
                </a:solidFill>
                <a:latin typeface="Noto Sans SC"/>
                <a:ea typeface="Noto Sans SC"/>
              </a:rPr>
              <a:t>AI</a:t>
            </a:r>
            <a:r>
              <a:rPr lang="zh-CN" sz="1125">
                <a:solidFill>
                  <a:srgbClr val="FFFDF8"/>
                </a:solidFill>
                <a:latin typeface="Noto Sans SC"/>
                <a:ea typeface="Noto Sans SC"/>
              </a:rPr>
              <a:t>、统计和社交才有地基。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609600" y="6096000"/>
            <a:ext cx="10972800" cy="571500"/>
          </a:xfrm>
          <a:custGeom>
            <a:pathLst>
              <a:path w="1152" h="6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7DCCE"/>
          </a:solidFill>
          <a:ln/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609600" y="6315075"/>
            <a:ext cx="1095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途个惊喜</a:t>
            </a:r>
            <a:r>
              <a:rPr lang="en-US" sz="975">
                <a:solidFill>
                  <a:srgbClr val="8F8376"/>
                </a:solidFill>
                <a:latin typeface="Noto Sans SC"/>
                <a:ea typeface="Noto Sans SC"/>
              </a:rPr>
              <a:t> · </a:t>
            </a: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随盒出发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11201400" y="6315075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F8376"/>
                </a:solidFill>
                <a:latin typeface="Noto Sans SC"/>
                <a:ea typeface="Noto Sans SC"/>
              </a:rPr>
              <a:t>13 / 15</a:t>
            </a:r>
            <a:endParaRPr/>
          </a:p>
        </p:txBody>
      </p:sp>
    </p:spTree>
  </p:cSld>
</p:sld>
</file>

<file path=ppt/slides/slide14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84" name="" descr="&lt;Slide style={{ width: 1280, height: 720, background: '#F6F1E6', padding: '20px 64px', position: 'relative', overflow: 'hidden' }}&gt;&#10;    &lt;Box style={{ position: 'absolute', top: -80, right: -60, width: 300, height: 190, borderRadius: '50%', background: '#E4EDD8', opacity: 0.45 }} /&gt;&#10;    &lt;Box style={{ position: 'absolute', bottom: -120, left: -80, width: 340, height: 210, borderRadius: '50%', background: '#EFE6D6', opacity: 0.5 }} /&gt;&#10;&#10;    {/* A 标题块 */}&#10;    &lt;Box style={{ height: 100, flexDirection: 'row', alignItems: 'flex-end', justifyContent: 'space-between', position: 'relative', zIndex: 1 }}&gt;&#10;        &lt;Box style={{ gap: 4, paddingBottom: 6 }}&gt;&#10;            &lt;Text style={{ fontFamily: 'Caveat, cursive', fontSize: 17, fontWeight: 700, color: '#8EA47C', letterSpacing: 1 }}&gt;13 · Roadmap&lt;/Text&gt;&#10;            &lt;Text style={{ fontFamily: 'Noto Serif SC, serif', fontSize: 34, fontWeight: 900, color: '#3C342C' }}&gt;实施路线&lt;/Text&gt;&#10;            &lt;Box style={{ width: 56, height: 6, borderRadius: 3, background: '#8EA47C', marginTop: 6 }} /&gt;&#10;        &lt;/Box&gt;&#10;        &lt;Text style={{ fontFamily: 'Noto Sans SC, sans-serif', fontSize: 15, color: '#8F8376', width: 460, textAlign: 'right', lineHeight: 1.7, paddingBottom: 10 }}&gt;&#10;            先跑通闭环，再把留存和生态做厚——每个阶段都有可演示的交付物。&#10;        &lt;/Text&gt;&#10;    &lt;/Box&gt;&#10;&#10;    {/* B 内容区：蛇形时间轴 */}&#10;    &lt;Box style={{ height: 520, position: 'relative', zIndex: 1, justifyContent: 'center', gap: 22 }}&gt;&#10;        {/* 第一行：阶段 1-3 */}&#10;        &lt;Box style={{ flexDirection: 'row', gap: 20 }}&gt;&#10;            {[&#10;                { n: '1', t: '地基与承重墙', d: '三端骨架 / 数据库 / 接口契约', hot: false },&#10;                { n: '2', t: '内容域', d: '盲盒 / 线路 / 图鉴 / Banner', hot: true },&#10;                { n: '3', t: '交易域', d: '登录 / 支付 / 开盒 / 行程', hot: true },&#10;            ].map((item, idx) =&gt; (&#10;                &lt;Box key={idx} style={{&#10;                    flex: 1,&#10;                    height: 168,&#10;                    background: item.hot ? '#FFFDF8' : '#F6F1E6',&#10;                    borderRadius: 18,&#10;                    border: item.hot ? '2px solid #8EA47C' : '1px solid #E7DCCE',&#10;                    boxShadow: item.hot ? '0 10px 24px rgba(108,126,88,0.16)' : 'none',&#10;                    padding: 20,&#10;                    gap: 8,&#10;                    position: 'relative',&#10;                }}&gt;&#10;                    {item.hot &amp;&amp; (&#10;                        &lt;Box style={{ position: 'absolute', top: -13, right: 18, background: '#E8B4A2', borderRadius: 999, padding: '4px 14px' }}&gt;&#10;                            &lt;Text style={{ fontFamily: 'Noto Sans SC, sans-serif', fontSize: 12, fontWeight: 700, color: '#3C342C' }}&gt;当前重点&lt;/Text&gt;&#10;                        &lt;/Box&gt;&#10;                    )}&#10;                    &lt;Box style={{ flexDirection: 'row', alignItems: 'center', gap: 12 }}&gt;&#10;                        &lt;Text style={{ fontFamily: 'Noto Serif SC, serif', fontSize: 34, fontWeight: 900, color: item.hot ? '#8EA47C' : '#C9D6B8', lineHeight: 1 }}&gt;{item.n}&lt;/Text&gt;&#10;                        &lt;Text style={{ fontFamily: 'Noto Serif SC, serif', fontSize: 19, fontWeight: 700, color: '#3C342C' }}&gt;{item.t}&lt;/Text&gt;&#10;                    &lt;/Box&gt;&#10;                    &lt;Text style={{ fontFamily: 'Noto Sans SC, sans-serif', fontSize: 14, color: '#8F8376', lineHeight: 1.65 }}&gt;{item.d}&lt;/Text&gt;&#10;                &lt;/Box&gt;&#10;            ))}&#10;        &lt;/Box&gt;&#10;&#10;        {/* 蛇形连接 */}&#10;        &lt;Box style={{ flexDirection: 'row', justifyContent: 'flex-end', paddingRight: 40, height: 22 }}&gt;&#10;            &lt;FAIcon name=&quot;arrow-down&quot; style={{ fill: '#C9D6B8', width: 18, height: 18 }} /&gt;&#10;        &lt;/Box&gt;&#10;&#10;        {/* 第二行：阶段 4-6（右到左流向） */}&#10;        &lt;Box style={{ flexDirection: 'row', gap: 20 }}&gt;&#10;            {[&#10;                { n: '6', t: '商家合作与积分', d: '优惠券 / 积分商城' },&#10;                { n: '5', t: '社交增强', d: '社区 / 打卡 / 成就' },&#10;                { n: '4', t: '用户资产与 AI', d: '统计 / 人格 / 小途 / 日记' },&#10;            ].map((item, idx) =&gt; (&#10;                &lt;Box key={idx} style={{&#10;                    flex: 1,&#10;                    height: 150,&#10;                    background: '#F6F1E6',&#10;                    borderRadius: 18,&#10;                    border: '1px solid #E7DCCE',&#10;                    padding: 20,&#10;                    gap: 8,&#10;                }}&gt;&#10;                    &lt;Box style={{ flexDirection: 'row', alignItems: 'center', gap: 12 }}&gt;&#10;                        &lt;Text style={{ fontFamily: 'Noto Serif SC, serif', fontSize: 34, fontWeight: 900, color: '#C9D6B8', lineHeight: 1 }}&gt;{item.n}&lt;/Text&gt;&#10;                        &lt;Text style={{ fontFamily: 'Noto Serif SC, serif', fontSize: 19, fontWeight: 700, color: '#3C342C' }}&gt;{item.t}&lt;/Text&gt;&#10;                    &lt;/Box&gt;&#10;                    &lt;Text style={{ fontFamily: 'Noto Sans SC, sans-serif', fontSize: 14, color: '#8F8376', lineHeight: 1.65 }}&gt;{item.d}&lt;/Text&gt;&#10;                &lt;/Box&gt;&#10;            ))}&#10;        &lt;/Box&gt;&#10;&#10;        {/* 底部说明 */}&#10;        &lt;Box style={{&#10;            height: 64,&#10;            borderRadius: 14,&#10;            background: '#E4EDD8',&#10;            flexDirection: 'row',&#10;            alignItems: 'center',&#10;            padding: '0 24px',&#10;            gap: 14,&#10;        }}&gt;&#10;            &lt;FAIcon name=&quot;flag&quot; style={{ fill: '#6C7E58', width: 18, height: 18 }} /&gt;&#10;            &lt;Text style={{ fontFamily: 'Noto Sans SC, sans-serif', fontSize: 14, color: '#3C342C', lineHeight: 1.6 }}&gt;&#10;                当前资源集中在阶段二（内容供给做实）与阶段三（把「支付 → 开盒 → 行程」跑成可演示闭环）。&#10;            &lt;/Text&gt;&#10;        &lt;/Box&gt;&#10;    &lt;/Box&gt;&#10;&#10;    {/* C 页脚 */}&#10;    &lt;Box style={{ height: 60, flexDirection: 'row', alignItems: 'center', justifyContent: 'space-between', borderTop: '1px solid #E7DCCE', position: 'relative', zIndex: 1 }}&gt;&#10;        &lt;Text style={{ fontFamily: 'Noto Sans SC, sans-serif', fontSize: 13, color: '#8F8376' }}&gt;途个惊喜 · 随盒出发&lt;/Text&gt;&#10;        &lt;Text style={{ fontFamily: 'Noto Sans SC, sans-serif', fontSize: 13, color: '#8F8376' }}&gt;14 / 15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6F1E6"/>
          </a:solidFill>
          <a:ln/>
        </p:spPr>
        <p:txBody>
          <a:bodyPr/>
          <a:p/>
        </p:txBody>
      </p:sp>
      <p:sp>
        <p:nvSpPr>
          <p:cNvPr id="186" name=""/>
          <p:cNvSpPr/>
          <p:nvPr/>
        </p:nvSpPr>
        <p:spPr>
          <a:xfrm rot="0" flipH="0" flipV="0">
            <a:off x="9906000" y="-762000"/>
            <a:ext cx="2857500" cy="1809750"/>
          </a:xfrm>
          <a:custGeom>
            <a:pathLst>
              <a:path w="300" h="190">
                <a:moveTo>
                  <a:pt x="240" y="171"/>
                </a:moveTo>
                <a:cubicBezTo>
                  <a:pt x="161" y="211"/>
                  <a:pt x="66" y="192"/>
                  <a:pt x="8" y="125"/>
                </a:cubicBezTo>
                <a:cubicBezTo>
                  <a:pt x="0" y="112"/>
                  <a:pt x="-2" y="95"/>
                  <a:pt x="2" y="80"/>
                </a:cubicBezTo>
                <a:lnTo>
                  <a:pt x="240" y="80"/>
                </a:lnTo>
                <a:close/>
              </a:path>
            </a:pathLst>
          </a:custGeom>
          <a:solidFill>
            <a:srgbClr val="E4EDD8">
              <a:alpha val="45000"/>
            </a:srgbClr>
          </a:solidFill>
          <a:ln/>
        </p:spPr>
        <p:txBody>
          <a:bodyPr/>
          <a:p/>
        </p:txBody>
      </p:sp>
      <p:sp>
        <p:nvSpPr>
          <p:cNvPr id="187" name=""/>
          <p:cNvSpPr/>
          <p:nvPr/>
        </p:nvSpPr>
        <p:spPr>
          <a:xfrm rot="0" flipH="0" flipV="0">
            <a:off x="-762000" y="6000750"/>
            <a:ext cx="3238500" cy="2000250"/>
          </a:xfrm>
          <a:custGeom>
            <a:pathLst>
              <a:path w="340" h="210">
                <a:moveTo>
                  <a:pt x="174" y="0"/>
                </a:moveTo>
                <a:cubicBezTo>
                  <a:pt x="241" y="-7"/>
                  <a:pt x="306" y="27"/>
                  <a:pt x="337" y="86"/>
                </a:cubicBezTo>
                <a:lnTo>
                  <a:pt x="338" y="89"/>
                </a:lnTo>
                <a:lnTo>
                  <a:pt x="338" y="90"/>
                </a:lnTo>
                <a:lnTo>
                  <a:pt x="80" y="90"/>
                </a:lnTo>
                <a:lnTo>
                  <a:pt x="80" y="16"/>
                </a:lnTo>
                <a:cubicBezTo>
                  <a:pt x="109" y="5"/>
                  <a:pt x="139" y="0"/>
                  <a:pt x="170" y="0"/>
                </a:cubicBezTo>
                <a:close/>
              </a:path>
            </a:pathLst>
          </a:custGeom>
          <a:solidFill>
            <a:srgbClr val="EFE6D6">
              <a:alpha val="50000"/>
            </a:srgbClr>
          </a:solidFill>
          <a:ln/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609600" y="304800"/>
            <a:ext cx="1295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 spc="75">
                <a:solidFill>
                  <a:srgbClr val="8EA47C"/>
                </a:solidFill>
                <a:latin typeface="Caveat"/>
                <a:ea typeface="Caveat"/>
              </a:rPr>
              <a:t>13 · Roadmap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609600" y="542925"/>
            <a:ext cx="1295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3C342C"/>
                </a:solidFill>
                <a:latin typeface="Noto Serif SC"/>
                <a:ea typeface="Noto Serif SC"/>
              </a:rPr>
              <a:t>实施路线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609600" y="1028700"/>
            <a:ext cx="533400" cy="57150"/>
          </a:xfrm>
          <a:prstGeom prst="roundRect">
            <a:avLst>
              <a:gd name="adj" fmla="val 50000"/>
            </a:avLst>
          </a:prstGeom>
          <a:solidFill>
            <a:srgbClr val="8EA47C"/>
          </a:solidFill>
          <a:ln/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7200900" y="457200"/>
            <a:ext cx="4381500" cy="685800"/>
          </a:xfrm>
          <a:prstGeom prst="rect"/>
        </p:spPr>
        <p:txBody>
          <a:bodyPr wrap="square" lIns="0" tIns="0" rIns="0" bIns="71438">
            <a:normAutofit/>
          </a:bodyPr>
          <a:p>
            <a:pPr algn="r">
              <a:lnSpc>
                <a:spcPct val="170000"/>
              </a:lnSpc>
            </a:pPr>
            <a:r>
              <a:rPr lang="zh-CN" sz="1125">
                <a:solidFill>
                  <a:srgbClr val="8F8376"/>
                </a:solidFill>
                <a:latin typeface="Noto Sans SC"/>
                <a:ea typeface="Noto Sans SC"/>
              </a:rPr>
              <a:t>先跑通闭环，再把留存和生态做厚——每个阶段都有可演示的交付物。</a:t>
            </a:r>
            <a:endParaRPr/>
          </a:p>
        </p:txBody>
      </p:sp>
      <p:pic>
        <p:nvPicPr>
          <p:cNvPr id="19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1029950" y="3190875"/>
            <a:ext cx="171450" cy="171450"/>
          </a:xfrm>
          <a:prstGeom prst="rect">
            <a:avLst/>
          </a:prstGeom>
          <a:ln/>
        </p:spPr>
      </p:pic>
      <p:sp>
        <p:nvSpPr>
          <p:cNvPr id="193" name=""/>
          <p:cNvSpPr/>
          <p:nvPr/>
        </p:nvSpPr>
        <p:spPr>
          <a:xfrm rot="0" flipH="0" flipV="0">
            <a:off x="609600" y="3609975"/>
            <a:ext cx="3533775" cy="1428750"/>
          </a:xfrm>
          <a:prstGeom prst="roundRect">
            <a:avLst>
              <a:gd name="adj" fmla="val 12000"/>
            </a:avLst>
          </a:prstGeom>
          <a:solidFill>
            <a:srgbClr val="F6F1E6"/>
          </a:solidFill>
          <a:ln w="12700">
            <a:solidFill>
              <a:srgbClr val="E7DCCE"/>
            </a:solidFill>
            <a:prstDash val="solid"/>
          </a:ln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800100" y="3800475"/>
            <a:ext cx="1619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C9D6B8"/>
                </a:solidFill>
                <a:latin typeface="Noto Serif SC"/>
                <a:ea typeface="Noto Serif SC"/>
              </a:rPr>
              <a:t>6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1076325" y="3886200"/>
            <a:ext cx="12668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3C342C"/>
                </a:solidFill>
                <a:latin typeface="Noto Serif SC"/>
                <a:ea typeface="Noto Serif SC"/>
              </a:rPr>
              <a:t>商家合作与积分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800100" y="4267200"/>
            <a:ext cx="3152775" cy="2667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050">
                <a:solidFill>
                  <a:srgbClr val="8F8376"/>
                </a:solidFill>
                <a:latin typeface="Noto Sans SC"/>
                <a:ea typeface="Noto Sans SC"/>
              </a:rPr>
              <a:t>优惠券</a:t>
            </a:r>
            <a:r>
              <a:rPr lang="en-US" sz="1050">
                <a:solidFill>
                  <a:srgbClr val="8F8376"/>
                </a:solidFill>
                <a:latin typeface="Noto Sans SC"/>
                <a:ea typeface="Noto Sans SC"/>
              </a:rPr>
              <a:t> / </a:t>
            </a:r>
            <a:r>
              <a:rPr lang="zh-CN" sz="1050">
                <a:solidFill>
                  <a:srgbClr val="8F8376"/>
                </a:solidFill>
                <a:latin typeface="Noto Sans SC"/>
                <a:ea typeface="Noto Sans SC"/>
              </a:rPr>
              <a:t>积分商城</a:t>
            </a:r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4333875" y="3609975"/>
            <a:ext cx="3524250" cy="1428750"/>
          </a:xfrm>
          <a:prstGeom prst="roundRect">
            <a:avLst>
              <a:gd name="adj" fmla="val 12000"/>
            </a:avLst>
          </a:prstGeom>
          <a:solidFill>
            <a:srgbClr val="F6F1E6"/>
          </a:solidFill>
          <a:ln w="12700">
            <a:solidFill>
              <a:srgbClr val="E7DCCE"/>
            </a:solidFill>
            <a:prstDash val="solid"/>
          </a:ln>
        </p:spPr>
        <p:txBody>
          <a:bodyPr/>
          <a:p/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4524375" y="3800475"/>
            <a:ext cx="1619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C9D6B8"/>
                </a:solidFill>
                <a:latin typeface="Noto Serif SC"/>
                <a:ea typeface="Noto Serif SC"/>
              </a:rPr>
              <a:t>5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4800600" y="3886200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3C342C"/>
                </a:solidFill>
                <a:latin typeface="Noto Serif SC"/>
                <a:ea typeface="Noto Serif SC"/>
              </a:rPr>
              <a:t>社交增强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4524375" y="4267200"/>
            <a:ext cx="3143250" cy="2667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050">
                <a:solidFill>
                  <a:srgbClr val="8F8376"/>
                </a:solidFill>
                <a:latin typeface="Noto Sans SC"/>
                <a:ea typeface="Noto Sans SC"/>
              </a:rPr>
              <a:t>社区</a:t>
            </a:r>
            <a:r>
              <a:rPr lang="en-US" sz="1050">
                <a:solidFill>
                  <a:srgbClr val="8F8376"/>
                </a:solidFill>
                <a:latin typeface="Noto Sans SC"/>
                <a:ea typeface="Noto Sans SC"/>
              </a:rPr>
              <a:t> / </a:t>
            </a:r>
            <a:r>
              <a:rPr lang="zh-CN" sz="1050">
                <a:solidFill>
                  <a:srgbClr val="8F8376"/>
                </a:solidFill>
                <a:latin typeface="Noto Sans SC"/>
                <a:ea typeface="Noto Sans SC"/>
              </a:rPr>
              <a:t>打卡</a:t>
            </a:r>
            <a:r>
              <a:rPr lang="en-US" sz="1050">
                <a:solidFill>
                  <a:srgbClr val="8F8376"/>
                </a:solidFill>
                <a:latin typeface="Noto Sans SC"/>
                <a:ea typeface="Noto Sans SC"/>
              </a:rPr>
              <a:t> / </a:t>
            </a:r>
            <a:r>
              <a:rPr lang="zh-CN" sz="1050">
                <a:solidFill>
                  <a:srgbClr val="8F8376"/>
                </a:solidFill>
                <a:latin typeface="Noto Sans SC"/>
                <a:ea typeface="Noto Sans SC"/>
              </a:rPr>
              <a:t>成就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8048625" y="3609975"/>
            <a:ext cx="3533775" cy="1428750"/>
          </a:xfrm>
          <a:prstGeom prst="roundRect">
            <a:avLst>
              <a:gd name="adj" fmla="val 12000"/>
            </a:avLst>
          </a:prstGeom>
          <a:solidFill>
            <a:srgbClr val="F6F1E6"/>
          </a:solidFill>
          <a:ln w="12700">
            <a:solidFill>
              <a:srgbClr val="E7DCCE"/>
            </a:solidFill>
            <a:prstDash val="solid"/>
          </a:ln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8239125" y="3800475"/>
            <a:ext cx="1619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C9D6B8"/>
                </a:solidFill>
                <a:latin typeface="Noto Serif SC"/>
                <a:ea typeface="Noto Serif SC"/>
              </a:rPr>
              <a:t>4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8515350" y="3886200"/>
            <a:ext cx="11525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3C342C"/>
                </a:solidFill>
                <a:latin typeface="Noto Serif SC"/>
                <a:ea typeface="Noto Serif SC"/>
              </a:rPr>
              <a:t>用户资产与</a:t>
            </a:r>
            <a:r>
              <a:rPr lang="en-US" sz="1425" b="1">
                <a:solidFill>
                  <a:srgbClr val="3C342C"/>
                </a:solidFill>
                <a:latin typeface="Noto Serif SC"/>
                <a:ea typeface="Noto Serif SC"/>
              </a:rPr>
              <a:t> AI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8239125" y="4267200"/>
            <a:ext cx="3152775" cy="2667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050">
                <a:solidFill>
                  <a:srgbClr val="8F8376"/>
                </a:solidFill>
                <a:latin typeface="Noto Sans SC"/>
                <a:ea typeface="Noto Sans SC"/>
              </a:rPr>
              <a:t>统计</a:t>
            </a:r>
            <a:r>
              <a:rPr lang="en-US" sz="1050">
                <a:solidFill>
                  <a:srgbClr val="8F8376"/>
                </a:solidFill>
                <a:latin typeface="Noto Sans SC"/>
                <a:ea typeface="Noto Sans SC"/>
              </a:rPr>
              <a:t> / </a:t>
            </a:r>
            <a:r>
              <a:rPr lang="zh-CN" sz="1050">
                <a:solidFill>
                  <a:srgbClr val="8F8376"/>
                </a:solidFill>
                <a:latin typeface="Noto Sans SC"/>
                <a:ea typeface="Noto Sans SC"/>
              </a:rPr>
              <a:t>人格</a:t>
            </a:r>
            <a:r>
              <a:rPr lang="en-US" sz="1050">
                <a:solidFill>
                  <a:srgbClr val="8F8376"/>
                </a:solidFill>
                <a:latin typeface="Noto Sans SC"/>
                <a:ea typeface="Noto Sans SC"/>
              </a:rPr>
              <a:t> / </a:t>
            </a:r>
            <a:r>
              <a:rPr lang="zh-CN" sz="1050">
                <a:solidFill>
                  <a:srgbClr val="8F8376"/>
                </a:solidFill>
                <a:latin typeface="Noto Sans SC"/>
                <a:ea typeface="Noto Sans SC"/>
              </a:rPr>
              <a:t>小途</a:t>
            </a:r>
            <a:r>
              <a:rPr lang="en-US" sz="1050">
                <a:solidFill>
                  <a:srgbClr val="8F8376"/>
                </a:solidFill>
                <a:latin typeface="Noto Sans SC"/>
                <a:ea typeface="Noto Sans SC"/>
              </a:rPr>
              <a:t> / </a:t>
            </a:r>
            <a:r>
              <a:rPr lang="zh-CN" sz="1050">
                <a:solidFill>
                  <a:srgbClr val="8F8376"/>
                </a:solidFill>
                <a:latin typeface="Noto Sans SC"/>
                <a:ea typeface="Noto Sans SC"/>
              </a:rPr>
              <a:t>日记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609600" y="5248275"/>
            <a:ext cx="10972800" cy="609600"/>
          </a:xfrm>
          <a:prstGeom prst="roundRect">
            <a:avLst>
              <a:gd name="adj" fmla="val 21875"/>
            </a:avLst>
          </a:prstGeom>
          <a:solidFill>
            <a:srgbClr val="E4EDD8"/>
          </a:solidFill>
          <a:ln/>
        </p:spPr>
        <p:txBody>
          <a:bodyPr/>
          <a:p/>
        </p:txBody>
      </p:sp>
      <p:pic>
        <p:nvPicPr>
          <p:cNvPr id="20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38200" y="5467350"/>
            <a:ext cx="171450" cy="171450"/>
          </a:xfrm>
          <a:prstGeom prst="rect">
            <a:avLst/>
          </a:prstGeom>
          <a:ln/>
        </p:spPr>
      </p:pic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1143000" y="5429250"/>
            <a:ext cx="58864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3C342C"/>
                </a:solidFill>
                <a:latin typeface="Noto Sans SC"/>
                <a:ea typeface="Noto Sans SC"/>
              </a:rPr>
              <a:t>当前资源集中在阶段二（内容供给做实）与阶段三（把「支付</a:t>
            </a:r>
            <a:r>
              <a:rPr lang="en-US" sz="1050">
                <a:solidFill>
                  <a:srgbClr val="3C342C"/>
                </a:solidFill>
                <a:latin typeface="Noto Sans SC"/>
                <a:ea typeface="Noto Sans SC"/>
              </a:rPr>
              <a:t> → </a:t>
            </a:r>
            <a:r>
              <a:rPr lang="zh-CN" sz="1050">
                <a:solidFill>
                  <a:srgbClr val="3C342C"/>
                </a:solidFill>
                <a:latin typeface="Noto Sans SC"/>
                <a:ea typeface="Noto Sans SC"/>
              </a:rPr>
              <a:t>开盒</a:t>
            </a:r>
            <a:r>
              <a:rPr lang="en-US" sz="1050">
                <a:solidFill>
                  <a:srgbClr val="3C342C"/>
                </a:solidFill>
                <a:latin typeface="Noto Sans SC"/>
                <a:ea typeface="Noto Sans SC"/>
              </a:rPr>
              <a:t> → </a:t>
            </a:r>
            <a:r>
              <a:rPr lang="zh-CN" sz="1050">
                <a:solidFill>
                  <a:srgbClr val="3C342C"/>
                </a:solidFill>
                <a:latin typeface="Noto Sans SC"/>
                <a:ea typeface="Noto Sans SC"/>
              </a:rPr>
              <a:t>行程」跑成可演示闭环）。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609600" y="1381125"/>
            <a:ext cx="3533775" cy="1600200"/>
          </a:xfrm>
          <a:prstGeom prst="roundRect">
            <a:avLst>
              <a:gd name="adj" fmla="val 10714"/>
            </a:avLst>
          </a:prstGeom>
          <a:solidFill>
            <a:srgbClr val="F6F1E6"/>
          </a:solidFill>
          <a:ln w="12700">
            <a:solidFill>
              <a:srgbClr val="E7DCCE"/>
            </a:solidFill>
            <a:prstDash val="solid"/>
          </a:ln>
        </p:spPr>
        <p:txBody>
          <a:bodyPr/>
          <a:p/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800100" y="1571625"/>
            <a:ext cx="1619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C9D6B8"/>
                </a:solidFill>
                <a:latin typeface="Noto Serif SC"/>
                <a:ea typeface="Noto Serif SC"/>
              </a:rPr>
              <a:t>1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1076325" y="1657350"/>
            <a:ext cx="1085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3C342C"/>
                </a:solidFill>
                <a:latin typeface="Noto Serif SC"/>
                <a:ea typeface="Noto Serif SC"/>
              </a:rPr>
              <a:t>地基与承重墙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800100" y="2038350"/>
            <a:ext cx="3152775" cy="2667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050">
                <a:solidFill>
                  <a:srgbClr val="8F8376"/>
                </a:solidFill>
                <a:latin typeface="Noto Sans SC"/>
                <a:ea typeface="Noto Sans SC"/>
              </a:rPr>
              <a:t>三端骨架</a:t>
            </a:r>
            <a:r>
              <a:rPr lang="en-US" sz="1050">
                <a:solidFill>
                  <a:srgbClr val="8F8376"/>
                </a:solidFill>
                <a:latin typeface="Noto Sans SC"/>
                <a:ea typeface="Noto Sans SC"/>
              </a:rPr>
              <a:t> / </a:t>
            </a:r>
            <a:r>
              <a:rPr lang="zh-CN" sz="1050">
                <a:solidFill>
                  <a:srgbClr val="8F8376"/>
                </a:solidFill>
                <a:latin typeface="Noto Sans SC"/>
                <a:ea typeface="Noto Sans SC"/>
              </a:rPr>
              <a:t>数据库</a:t>
            </a:r>
            <a:r>
              <a:rPr lang="en-US" sz="1050">
                <a:solidFill>
                  <a:srgbClr val="8F8376"/>
                </a:solidFill>
                <a:latin typeface="Noto Sans SC"/>
                <a:ea typeface="Noto Sans SC"/>
              </a:rPr>
              <a:t> / </a:t>
            </a:r>
            <a:r>
              <a:rPr lang="zh-CN" sz="1050">
                <a:solidFill>
                  <a:srgbClr val="8F8376"/>
                </a:solidFill>
                <a:latin typeface="Noto Sans SC"/>
                <a:ea typeface="Noto Sans SC"/>
              </a:rPr>
              <a:t>接口契约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4333875" y="1381125"/>
            <a:ext cx="3524250" cy="1600200"/>
          </a:xfrm>
          <a:prstGeom prst="roundRect">
            <a:avLst>
              <a:gd name="adj" fmla="val 10714"/>
            </a:avLst>
          </a:prstGeom>
          <a:solidFill>
            <a:srgbClr val="FFFDF8"/>
          </a:solidFill>
          <a:ln w="25400">
            <a:solidFill>
              <a:srgbClr val="8EA47C"/>
            </a:solidFill>
            <a:prstDash val="solid"/>
          </a:ln>
          <a:effectLst>
            <a:outerShdw blurRad="228600" dist="95250" dir="5400000">
              <a:srgbClr val="6C7E58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4524375" y="1571625"/>
            <a:ext cx="1619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8EA47C"/>
                </a:solidFill>
                <a:latin typeface="Noto Serif SC"/>
                <a:ea typeface="Noto Serif SC"/>
              </a:rPr>
              <a:t>2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4800600" y="1657350"/>
            <a:ext cx="5429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3C342C"/>
                </a:solidFill>
                <a:latin typeface="Noto Serif SC"/>
                <a:ea typeface="Noto Serif SC"/>
              </a:rPr>
              <a:t>内容域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4524375" y="2038350"/>
            <a:ext cx="3143250" cy="2667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050">
                <a:solidFill>
                  <a:srgbClr val="8F8376"/>
                </a:solidFill>
                <a:latin typeface="Noto Sans SC"/>
                <a:ea typeface="Noto Sans SC"/>
              </a:rPr>
              <a:t>盲盒</a:t>
            </a:r>
            <a:r>
              <a:rPr lang="en-US" sz="1050">
                <a:solidFill>
                  <a:srgbClr val="8F8376"/>
                </a:solidFill>
                <a:latin typeface="Noto Sans SC"/>
                <a:ea typeface="Noto Sans SC"/>
              </a:rPr>
              <a:t> / </a:t>
            </a:r>
            <a:r>
              <a:rPr lang="zh-CN" sz="1050">
                <a:solidFill>
                  <a:srgbClr val="8F8376"/>
                </a:solidFill>
                <a:latin typeface="Noto Sans SC"/>
                <a:ea typeface="Noto Sans SC"/>
              </a:rPr>
              <a:t>线路</a:t>
            </a:r>
            <a:r>
              <a:rPr lang="en-US" sz="1050">
                <a:solidFill>
                  <a:srgbClr val="8F8376"/>
                </a:solidFill>
                <a:latin typeface="Noto Sans SC"/>
                <a:ea typeface="Noto Sans SC"/>
              </a:rPr>
              <a:t> / </a:t>
            </a:r>
            <a:r>
              <a:rPr lang="zh-CN" sz="1050">
                <a:solidFill>
                  <a:srgbClr val="8F8376"/>
                </a:solidFill>
                <a:latin typeface="Noto Sans SC"/>
                <a:ea typeface="Noto Sans SC"/>
              </a:rPr>
              <a:t>图鉴</a:t>
            </a:r>
            <a:r>
              <a:rPr lang="en-US" sz="1050">
                <a:solidFill>
                  <a:srgbClr val="8F8376"/>
                </a:solidFill>
                <a:latin typeface="Noto Sans SC"/>
                <a:ea typeface="Noto Sans SC"/>
              </a:rPr>
              <a:t> / Banner</a:t>
            </a:r>
            <a:endParaRPr/>
          </a:p>
        </p:txBody>
      </p:sp>
      <p:sp>
        <p:nvSpPr>
          <p:cNvPr id="216" name=""/>
          <p:cNvSpPr/>
          <p:nvPr/>
        </p:nvSpPr>
        <p:spPr>
          <a:xfrm rot="0" flipH="0" flipV="0">
            <a:off x="6962775" y="1257300"/>
            <a:ext cx="723900" cy="219075"/>
          </a:xfrm>
          <a:prstGeom prst="roundRect">
            <a:avLst>
              <a:gd name="adj" fmla="val 4343478"/>
            </a:avLst>
          </a:prstGeom>
          <a:solidFill>
            <a:srgbClr val="E8B4A2"/>
          </a:solidFill>
          <a:ln/>
        </p:spPr>
        <p:txBody>
          <a:bodyPr/>
          <a:p/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7096125" y="129540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3C342C"/>
                </a:solidFill>
                <a:latin typeface="Noto Sans SC"/>
                <a:ea typeface="Noto Sans SC"/>
              </a:rPr>
              <a:t>当前重点</a:t>
            </a:r>
            <a:endParaRPr/>
          </a:p>
        </p:txBody>
      </p:sp>
      <p:sp>
        <p:nvSpPr>
          <p:cNvPr id="218" name=""/>
          <p:cNvSpPr/>
          <p:nvPr/>
        </p:nvSpPr>
        <p:spPr>
          <a:xfrm rot="0" flipH="0" flipV="0">
            <a:off x="8048625" y="1381125"/>
            <a:ext cx="3533775" cy="1600200"/>
          </a:xfrm>
          <a:prstGeom prst="roundRect">
            <a:avLst>
              <a:gd name="adj" fmla="val 10714"/>
            </a:avLst>
          </a:prstGeom>
          <a:solidFill>
            <a:srgbClr val="FFFDF8"/>
          </a:solidFill>
          <a:ln w="25400">
            <a:solidFill>
              <a:srgbClr val="8EA47C"/>
            </a:solidFill>
            <a:prstDash val="solid"/>
          </a:ln>
          <a:effectLst>
            <a:outerShdw blurRad="228600" dist="95250" dir="5400000">
              <a:srgbClr val="6C7E58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8239125" y="1571625"/>
            <a:ext cx="1619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8EA47C"/>
                </a:solidFill>
                <a:latin typeface="Noto Serif SC"/>
                <a:ea typeface="Noto Serif SC"/>
              </a:rPr>
              <a:t>3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8515350" y="1657350"/>
            <a:ext cx="5429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3C342C"/>
                </a:solidFill>
                <a:latin typeface="Noto Serif SC"/>
                <a:ea typeface="Noto Serif SC"/>
              </a:rPr>
              <a:t>交易域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8239125" y="2038350"/>
            <a:ext cx="3152775" cy="2667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050">
                <a:solidFill>
                  <a:srgbClr val="8F8376"/>
                </a:solidFill>
                <a:latin typeface="Noto Sans SC"/>
                <a:ea typeface="Noto Sans SC"/>
              </a:rPr>
              <a:t>登录</a:t>
            </a:r>
            <a:r>
              <a:rPr lang="en-US" sz="1050">
                <a:solidFill>
                  <a:srgbClr val="8F8376"/>
                </a:solidFill>
                <a:latin typeface="Noto Sans SC"/>
                <a:ea typeface="Noto Sans SC"/>
              </a:rPr>
              <a:t> / </a:t>
            </a:r>
            <a:r>
              <a:rPr lang="zh-CN" sz="1050">
                <a:solidFill>
                  <a:srgbClr val="8F8376"/>
                </a:solidFill>
                <a:latin typeface="Noto Sans SC"/>
                <a:ea typeface="Noto Sans SC"/>
              </a:rPr>
              <a:t>支付</a:t>
            </a:r>
            <a:r>
              <a:rPr lang="en-US" sz="1050">
                <a:solidFill>
                  <a:srgbClr val="8F8376"/>
                </a:solidFill>
                <a:latin typeface="Noto Sans SC"/>
                <a:ea typeface="Noto Sans SC"/>
              </a:rPr>
              <a:t> / </a:t>
            </a:r>
            <a:r>
              <a:rPr lang="zh-CN" sz="1050">
                <a:solidFill>
                  <a:srgbClr val="8F8376"/>
                </a:solidFill>
                <a:latin typeface="Noto Sans SC"/>
                <a:ea typeface="Noto Sans SC"/>
              </a:rPr>
              <a:t>开盒</a:t>
            </a:r>
            <a:r>
              <a:rPr lang="en-US" sz="1050">
                <a:solidFill>
                  <a:srgbClr val="8F8376"/>
                </a:solidFill>
                <a:latin typeface="Noto Sans SC"/>
                <a:ea typeface="Noto Sans SC"/>
              </a:rPr>
              <a:t> / </a:t>
            </a:r>
            <a:r>
              <a:rPr lang="zh-CN" sz="1050">
                <a:solidFill>
                  <a:srgbClr val="8F8376"/>
                </a:solidFill>
                <a:latin typeface="Noto Sans SC"/>
                <a:ea typeface="Noto Sans SC"/>
              </a:rPr>
              <a:t>行程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10687050" y="1257300"/>
            <a:ext cx="723900" cy="219075"/>
          </a:xfrm>
          <a:prstGeom prst="roundRect">
            <a:avLst>
              <a:gd name="adj" fmla="val 4343478"/>
            </a:avLst>
          </a:prstGeom>
          <a:solidFill>
            <a:srgbClr val="E8B4A2"/>
          </a:solidFill>
          <a:ln/>
        </p:spPr>
        <p:txBody>
          <a:bodyPr/>
          <a:p/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10820400" y="129540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3C342C"/>
                </a:solidFill>
                <a:latin typeface="Noto Sans SC"/>
                <a:ea typeface="Noto Sans SC"/>
              </a:rPr>
              <a:t>当前重点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609600" y="6096000"/>
            <a:ext cx="10972800" cy="571500"/>
          </a:xfrm>
          <a:custGeom>
            <a:pathLst>
              <a:path w="1152" h="6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7DCCE"/>
          </a:solidFill>
          <a:ln/>
        </p:spPr>
        <p:txBody>
          <a:bodyPr/>
          <a:p/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609600" y="6315075"/>
            <a:ext cx="1095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途个惊喜</a:t>
            </a:r>
            <a:r>
              <a:rPr lang="en-US" sz="975">
                <a:solidFill>
                  <a:srgbClr val="8F8376"/>
                </a:solidFill>
                <a:latin typeface="Noto Sans SC"/>
                <a:ea typeface="Noto Sans SC"/>
              </a:rPr>
              <a:t> · </a:t>
            </a:r>
            <a:r>
              <a:rPr lang="zh-CN" sz="975">
                <a:solidFill>
                  <a:srgbClr val="8F8376"/>
                </a:solidFill>
                <a:latin typeface="Noto Sans SC"/>
                <a:ea typeface="Noto Sans SC"/>
              </a:rPr>
              <a:t>随盒出发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11201400" y="6315075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F8376"/>
                </a:solidFill>
                <a:latin typeface="Noto Sans SC"/>
                <a:ea typeface="Noto Sans SC"/>
              </a:rPr>
              <a:t>14 / 15</a:t>
            </a:r>
            <a:endParaRPr/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7" name="" descr="&lt;Slide style={{ width: 1280, height: 720, background: '#F6F1E6', padding: 0, position: 'relative', overflow: 'hidden' }}&gt;&#10;    {/* 底部全幅插画 */}&#10;    &lt;Box style={{ position: 'absolute', bottom: 0, left: 0, right: 0, height: 420 }}&gt;&#10;        &lt;Image src=&quot;assets/ending_dog_road.png&quot; style={{ width: '100%', height: '100%', objectFit: 'cover' }} /&gt;&#10;    &lt;/Box&gt;&#10;    {/* 顶部奶油渐变过渡 */}&#10;    &lt;Box style={{&#10;        position: 'absolute',&#10;        bottom: 300,&#10;        left: 0,&#10;        right: 0,&#10;        height: 140,&#10;        background: 'linear-gradient(180deg, #F6F1E6 0%, rgba(246,241,230,0) 100%)',&#10;    }} /&gt;&#10;&#10;    {/* 上部金句 */}&#10;    &lt;Box style={{ position: 'relative', zIndex: 1, alignItems: 'center', paddingTop: 96, gap: 0 }}&gt;&#10;        &lt;Text style={{ fontFamily: 'Caveat, cursive', fontSize: 26, fontWeight: 700, color: '#8EA47C', marginBottom: 18 }}&gt;&#10;            Open a New Route&#10;        &lt;/Text&gt;&#10;        &lt;Text style={{ fontFamily: 'Noto Serif SC, serif', fontSize: 50, fontWeight: 900, color: '#3C342C', letterSpacing: 3, lineHeight: 1.4 }}&gt;&#10;            把选择交给心情，&#10;        &lt;/Text&gt;&#10;        &lt;Text style={{ fontFamily: 'Noto Serif SC, serif', fontSize: 50, fontWeight: 900, color: '#6C7E58', letterSpacing: 3, lineHeight: 1.4 }}&gt;&#10;            把惊喜留给旅程。&#10;        &lt;/Text&gt;&#10;        &lt;Box style={{ width: 64, height: 6, borderRadius: 3, background: '#8EA47C', marginTop: 26, marginBottom: 20 }} /&gt;&#10;        &lt;Text style={{ fontFamily: 'Noto Sans SC, sans-serif', fontSize: 16, color: '#8F8376', letterSpacing: 1 }}&gt;&#10;            途个惊喜 · 一个面向年轻人的轻量化文旅创新项目&#10;        &lt;/Text&gt;&#10;        &lt;Text style={{ fontFamily: 'Caveat, cursive', fontSize: 30, fontWeight: 700, color: '#3C342C', marginTop: 14 }}&gt;&#10;            Thank You&#10;        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6F1E6"/>
          </a:solidFill>
          <a:ln/>
        </p:spPr>
        <p:txBody>
          <a:bodyPr/>
          <a:p/>
        </p:txBody>
      </p:sp>
      <p:pic>
        <p:nvPicPr>
          <p:cNvPr id="229" name=""/>
          <p:cNvPicPr>
            <a:picLocks noChangeAspect="1"/>
          </p:cNvPicPr>
          <p:nvPr/>
        </p:nvPicPr>
        <p:blipFill>
          <a:blip r:embed="rId1"/>
          <a:srcRect l="0" t="25648" r="0" b="25648"/>
          <a:stretch>
            <a:fillRect/>
          </a:stretch>
        </p:blipFill>
        <p:spPr>
          <a:xfrm rot="0" flipH="0" flipV="0">
            <a:off x="0" y="2857500"/>
            <a:ext cx="12192000" cy="4000500"/>
          </a:xfrm>
          <a:prstGeom prst="rect">
            <a:avLst/>
          </a:prstGeom>
          <a:ln/>
        </p:spPr>
      </p:pic>
      <p:sp>
        <p:nvSpPr>
          <p:cNvPr id="230" name=""/>
          <p:cNvSpPr/>
          <p:nvPr/>
        </p:nvSpPr>
        <p:spPr>
          <a:xfrm rot="0" flipH="0" flipV="0">
            <a:off x="0" y="2667000"/>
            <a:ext cx="12192000" cy="1333500"/>
          </a:xfrm>
          <a:prstGeom prst="rect">
            <a:avLst/>
          </a:prstGeom>
          <a:gradFill>
            <a:gsLst>
              <a:gs pos="0">
                <a:srgbClr val="F6F1E6"/>
              </a:gs>
              <a:gs pos="100000">
                <a:srgbClr val="F6F1E6">
                  <a:alpha val="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5000625" y="914400"/>
            <a:ext cx="21907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8EA47C"/>
                </a:solidFill>
                <a:latin typeface="Caveat"/>
                <a:ea typeface="Caveat"/>
              </a:rPr>
              <a:t>Open a New Route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4076700" y="1390650"/>
            <a:ext cx="4038600" cy="8001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3750" b="1" spc="225">
                <a:solidFill>
                  <a:srgbClr val="3C342C"/>
                </a:solidFill>
                <a:latin typeface="Noto Serif SC"/>
                <a:ea typeface="Noto Serif SC"/>
              </a:rPr>
              <a:t>把选择交给心情，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4076700" y="2190750"/>
            <a:ext cx="4038600" cy="8001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3750" b="1" spc="225">
                <a:solidFill>
                  <a:srgbClr val="6C7E58"/>
                </a:solidFill>
                <a:latin typeface="Noto Serif SC"/>
                <a:ea typeface="Noto Serif SC"/>
              </a:rPr>
              <a:t>把惊喜留给旅程。</a:t>
            </a:r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5791200" y="3238500"/>
            <a:ext cx="609600" cy="57150"/>
          </a:xfrm>
          <a:prstGeom prst="roundRect">
            <a:avLst>
              <a:gd name="adj" fmla="val 50000"/>
            </a:avLst>
          </a:prstGeom>
          <a:solidFill>
            <a:srgbClr val="8EA47C"/>
          </a:solidFill>
          <a:ln/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4314825" y="3486150"/>
            <a:ext cx="3562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8F8376"/>
                </a:solidFill>
                <a:latin typeface="Noto Sans SC"/>
                <a:ea typeface="Noto Sans SC"/>
              </a:rPr>
              <a:t>途个惊喜</a:t>
            </a:r>
            <a:r>
              <a:rPr lang="en-US" sz="1200" spc="75">
                <a:solidFill>
                  <a:srgbClr val="8F8376"/>
                </a:solidFill>
                <a:latin typeface="Noto Sans SC"/>
                <a:ea typeface="Noto Sans SC"/>
              </a:rPr>
              <a:t> · </a:t>
            </a:r>
            <a:r>
              <a:rPr lang="zh-CN" sz="1200" spc="75">
                <a:solidFill>
                  <a:srgbClr val="8F8376"/>
                </a:solidFill>
                <a:latin typeface="Noto Sans SC"/>
                <a:ea typeface="Noto Sans SC"/>
              </a:rPr>
              <a:t>一个面向年轻人的轻量化文旅创新项目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5372100" y="3810000"/>
            <a:ext cx="14478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3C342C"/>
                </a:solidFill>
                <a:latin typeface="Caveat"/>
                <a:ea typeface="Caveat"/>
              </a:rPr>
              <a:t>Thank You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2026-09-18T17:00:43Z</dcterms:created>
  <dcterms:modified xsi:type="dcterms:W3CDTF">2026-09-18T17:00:43Z</dcterms:modified>
</cp:coreProperties>
</file>